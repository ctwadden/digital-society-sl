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483c5bfaa4950" /><Relationship Type="http://schemas.openxmlformats.org/officeDocument/2006/relationships/extended-properties" Target="/docProps/app.xml" Id="Rc2cb96e4932d48c8" /><Relationship Type="http://schemas.openxmlformats.org/officeDocument/2006/relationships/officeDocument" Target="/ppt/presentation.xml" Id="Rd304766d9b10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1866ef06c4745"/>
  </p:sldMasterIdLst>
  <p:notesMasterIdLst>
    <p:notesMasterId xmlns:r="http://schemas.openxmlformats.org/officeDocument/2006/relationships" r:id="R472a35ad9aa14450"/>
  </p:notesMasterIdLst>
  <p:sldIdLst>
    <p:sldId xmlns:r="http://schemas.openxmlformats.org/officeDocument/2006/relationships" id="256" r:id="R65638fb2d747417e"/>
    <p:sldId xmlns:r="http://schemas.openxmlformats.org/officeDocument/2006/relationships" id="257" r:id="Rf8c18dbbfa864ee6"/>
    <p:sldId xmlns:r="http://schemas.openxmlformats.org/officeDocument/2006/relationships" id="258" r:id="R1c9933e5f7044aab"/>
    <p:sldId xmlns:r="http://schemas.openxmlformats.org/officeDocument/2006/relationships" id="259" r:id="R22f29abecec34ee4"/>
    <p:sldId xmlns:r="http://schemas.openxmlformats.org/officeDocument/2006/relationships" id="260" r:id="R43b46e46d5844e47"/>
    <p:sldId xmlns:r="http://schemas.openxmlformats.org/officeDocument/2006/relationships" id="261" r:id="R854cd95c1cdc4ba1"/>
    <p:sldId xmlns:r="http://schemas.openxmlformats.org/officeDocument/2006/relationships" id="262" r:id="R3877ec7850884833"/>
    <p:sldId xmlns:r="http://schemas.openxmlformats.org/officeDocument/2006/relationships" id="263" r:id="R8df6376be63b474d"/>
    <p:sldId xmlns:r="http://schemas.openxmlformats.org/officeDocument/2006/relationships" id="264" r:id="Re4b1e8cc80e643fb"/>
    <p:sldId xmlns:r="http://schemas.openxmlformats.org/officeDocument/2006/relationships" id="265" r:id="R834c68854f284ac7"/>
    <p:sldId xmlns:r="http://schemas.openxmlformats.org/officeDocument/2006/relationships" id="266" r:id="Rd53663f424e849e9"/>
    <p:sldId xmlns:r="http://schemas.openxmlformats.org/officeDocument/2006/relationships" id="267" r:id="R1836078b47614b79"/>
    <p:sldId xmlns:r="http://schemas.openxmlformats.org/officeDocument/2006/relationships" id="268" r:id="R3ba726a0959e4541"/>
    <p:sldId xmlns:r="http://schemas.openxmlformats.org/officeDocument/2006/relationships" id="269" r:id="Rec8ffd6359824059"/>
    <p:sldId xmlns:r="http://schemas.openxmlformats.org/officeDocument/2006/relationships" id="270" r:id="R2aa423f80140422e"/>
    <p:sldId xmlns:r="http://schemas.openxmlformats.org/officeDocument/2006/relationships" id="271" r:id="R1f9c43d94cc34cc0"/>
    <p:sldId xmlns:r="http://schemas.openxmlformats.org/officeDocument/2006/relationships" id="272" r:id="R17afcf028027466b"/>
    <p:sldId xmlns:r="http://schemas.openxmlformats.org/officeDocument/2006/relationships" id="273" r:id="R876160523b0d45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81b1bb3964297" /><Relationship Type="http://schemas.openxmlformats.org/officeDocument/2006/relationships/slideMaster" Target="/ppt/slideMasters/slideMaster1.xml" Id="R7091866ef06c4745" /><Relationship Type="http://schemas.openxmlformats.org/officeDocument/2006/relationships/notesMaster" Target="/ppt/notesMasters/notesMaster1.xml" Id="R472a35ad9aa14450" /><Relationship Type="http://schemas.openxmlformats.org/officeDocument/2006/relationships/presProps" Target="/ppt/presProps.xml" Id="R55d1d6570d55470b" /><Relationship Type="http://schemas.openxmlformats.org/officeDocument/2006/relationships/tableStyles" Target="/ppt/tableStyles.xml" Id="R62ceb500ebbd4095" /><Relationship Type="http://schemas.openxmlformats.org/officeDocument/2006/relationships/slide" Target="/ppt/slides/slide1.xml" Id="R65638fb2d747417e" /><Relationship Type="http://schemas.openxmlformats.org/officeDocument/2006/relationships/slide" Target="/ppt/slides/slide2.xml" Id="Rf8c18dbbfa864ee6" /><Relationship Type="http://schemas.openxmlformats.org/officeDocument/2006/relationships/slide" Target="/ppt/slides/slide3.xml" Id="R1c9933e5f7044aab" /><Relationship Type="http://schemas.openxmlformats.org/officeDocument/2006/relationships/slide" Target="/ppt/slides/slide4.xml" Id="R22f29abecec34ee4" /><Relationship Type="http://schemas.openxmlformats.org/officeDocument/2006/relationships/slide" Target="/ppt/slides/slide5.xml" Id="R43b46e46d5844e47" /><Relationship Type="http://schemas.openxmlformats.org/officeDocument/2006/relationships/slide" Target="/ppt/slides/slide6.xml" Id="R854cd95c1cdc4ba1" /><Relationship Type="http://schemas.openxmlformats.org/officeDocument/2006/relationships/slide" Target="/ppt/slides/slide7.xml" Id="R3877ec7850884833" /><Relationship Type="http://schemas.openxmlformats.org/officeDocument/2006/relationships/slide" Target="/ppt/slides/slide8.xml" Id="R8df6376be63b474d" /><Relationship Type="http://schemas.openxmlformats.org/officeDocument/2006/relationships/slide" Target="/ppt/slides/slide9.xml" Id="Re4b1e8cc80e643fb" /><Relationship Type="http://schemas.openxmlformats.org/officeDocument/2006/relationships/slide" Target="/ppt/slides/slide10.xml" Id="R834c68854f284ac7" /><Relationship Type="http://schemas.openxmlformats.org/officeDocument/2006/relationships/slide" Target="/ppt/slides/slide11.xml" Id="Rd53663f424e849e9" /><Relationship Type="http://schemas.openxmlformats.org/officeDocument/2006/relationships/slide" Target="/ppt/slides/slide12.xml" Id="R1836078b47614b79" /><Relationship Type="http://schemas.openxmlformats.org/officeDocument/2006/relationships/slide" Target="/ppt/slides/slide13.xml" Id="R3ba726a0959e4541" /><Relationship Type="http://schemas.openxmlformats.org/officeDocument/2006/relationships/slide" Target="/ppt/slides/slide14.xml" Id="Rec8ffd6359824059" /><Relationship Type="http://schemas.openxmlformats.org/officeDocument/2006/relationships/slide" Target="/ppt/slides/slide15.xml" Id="R2aa423f80140422e" /><Relationship Type="http://schemas.openxmlformats.org/officeDocument/2006/relationships/slide" Target="/ppt/slides/slide16.xml" Id="R1f9c43d94cc34cc0" /><Relationship Type="http://schemas.openxmlformats.org/officeDocument/2006/relationships/slide" Target="/ppt/slides/slide17.xml" Id="R17afcf028027466b" /><Relationship Type="http://schemas.openxmlformats.org/officeDocument/2006/relationships/slide" Target="/ppt/slides/slide18.xml" Id="R876160523b0d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a9a88c44e47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86b560bae4405f" /><Relationship Type="http://schemas.openxmlformats.org/officeDocument/2006/relationships/notesMaster" Target="/ppt/notesMasters/notesMaster1.xml" Id="R49fae2ea726d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7705bf2bf3494e" /><Relationship Type="http://schemas.openxmlformats.org/officeDocument/2006/relationships/notesMaster" Target="/ppt/notesMasters/notesMaster1.xml" Id="R18faa9e9929c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ae4471f1b451f" /><Relationship Type="http://schemas.openxmlformats.org/officeDocument/2006/relationships/notesMaster" Target="/ppt/notesMasters/notesMaster1.xml" Id="R89d6ac2b4c58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f9c0be5d5422f" /><Relationship Type="http://schemas.openxmlformats.org/officeDocument/2006/relationships/notesMaster" Target="/ppt/notesMasters/notesMaster1.xml" Id="Rd38fbffd47a146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c1175f90994252" /><Relationship Type="http://schemas.openxmlformats.org/officeDocument/2006/relationships/notesMaster" Target="/ppt/notesMasters/notesMaster1.xml" Id="R196b265ef45c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ff98abb693499a" /><Relationship Type="http://schemas.openxmlformats.org/officeDocument/2006/relationships/notesMaster" Target="/ppt/notesMasters/notesMaster1.xml" Id="R2b80362bfa11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7eedf8b8d24853" /><Relationship Type="http://schemas.openxmlformats.org/officeDocument/2006/relationships/notesMaster" Target="/ppt/notesMasters/notesMaster1.xml" Id="Rbb6302be0bb24a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cea2d13134128" /><Relationship Type="http://schemas.openxmlformats.org/officeDocument/2006/relationships/notesMaster" Target="/ppt/notesMasters/notesMaster1.xml" Id="R1e43dd0d4ed042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f46750f3f94748" /><Relationship Type="http://schemas.openxmlformats.org/officeDocument/2006/relationships/notesMaster" Target="/ppt/notesMasters/notesMaster1.xml" Id="Rc993e1e982cd44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01c96124a74096" /><Relationship Type="http://schemas.openxmlformats.org/officeDocument/2006/relationships/notesMaster" Target="/ppt/notesMasters/notesMaster1.xml" Id="Rdce8a5978f234d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33c42979794ee7" /><Relationship Type="http://schemas.openxmlformats.org/officeDocument/2006/relationships/notesMaster" Target="/ppt/notesMasters/notesMaster1.xml" Id="R0a7c1a71f3544a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58a1067ccf46f9" /><Relationship Type="http://schemas.openxmlformats.org/officeDocument/2006/relationships/notesMaster" Target="/ppt/notesMasters/notesMaster1.xml" Id="R5812074a79ce4c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b0560b675c4fff" /><Relationship Type="http://schemas.openxmlformats.org/officeDocument/2006/relationships/notesMaster" Target="/ppt/notesMasters/notesMaster1.xml" Id="R076002487b094f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3bdb6c02624273" /><Relationship Type="http://schemas.openxmlformats.org/officeDocument/2006/relationships/notesMaster" Target="/ppt/notesMasters/notesMaster1.xml" Id="R45caaa7353e141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b1ca3fad1d4657" /><Relationship Type="http://schemas.openxmlformats.org/officeDocument/2006/relationships/notesMaster" Target="/ppt/notesMasters/notesMaster1.xml" Id="Rf7f055aa88b046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e2b60f05274978" /><Relationship Type="http://schemas.openxmlformats.org/officeDocument/2006/relationships/notesMaster" Target="/ppt/notesMasters/notesMaster1.xml" Id="Rb088ce2b6e4b46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3b3a5e40784cb9" /><Relationship Type="http://schemas.openxmlformats.org/officeDocument/2006/relationships/notesMaster" Target="/ppt/notesMasters/notesMaster1.xml" Id="Rbc1dc341d48840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8a77d3b8cc4459" /><Relationship Type="http://schemas.openxmlformats.org/officeDocument/2006/relationships/notesMaster" Target="/ppt/notesMasters/notesMaster1.xml" Id="R151b81e7cbe748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create a decision problem before terminology.</a:t>
            </a:r>
          </a:p>
          <a:p xmlns:a="http://schemas.openxmlformats.org/drawingml/2006/main">
            <a:r>
              <a:t>Ask: Which type of growth sounds safest? Students must give one reason.</a:t>
            </a:r>
          </a:p>
          <a:p xmlns:a="http://schemas.openxmlformats.org/drawingml/2006/main">
            <a:r>
              <a:t>Watch for: choosing on the basis of familiar words rather than the relationship that changes.</a:t>
            </a:r>
          </a:p>
          <a:p xmlns:a="http://schemas.openxmlformats.org/drawingml/2006/main">
            <a:r>
              <a:t>Visual: AI-generated fictional conceptual illustration, not documentary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state the route students will follow.</a:t>
            </a:r>
          </a:p>
          <a:p xmlns:a="http://schemas.openxmlformats.org/drawingml/2006/main">
            <a:r>
              <a:t>Say: The strategy name comes after we can describe the structural change.</a:t>
            </a:r>
          </a:p>
          <a:p xmlns:a="http://schemas.openxmlformats.org/drawingml/2006/main">
            <a:r>
              <a:t>Later retrieval: use the same core question on the exit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digital mechanism before business growth.</a:t>
            </a:r>
          </a:p>
          <a:p xmlns:a="http://schemas.openxmlformats.org/drawingml/2006/main">
            <a:r>
              <a:t>Ask: Which data would a manager use to decide whether to add a product?</a:t>
            </a:r>
          </a:p>
          <a:p xmlns:a="http://schemas.openxmlformats.org/drawingml/2006/main">
            <a:r>
              <a:t>Watch for: economics reduced to money only.</a:t>
            </a:r>
          </a:p>
          <a:p xmlns:a="http://schemas.openxmlformats.org/drawingml/2006/main">
            <a:r>
              <a:t>Source: Bomfim et al. (2022), 4.2A pp. 213–214. Visual is AI-generated and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create a stable comparison model.</a:t>
            </a:r>
          </a:p>
          <a:p xmlns:a="http://schemas.openxmlformats.org/drawingml/2006/main">
            <a:r>
              <a:t>Ask: What does Northstar control now? What remains outside the company?</a:t>
            </a:r>
          </a:p>
          <a:p xmlns:a="http://schemas.openxmlformats.org/drawingml/2006/main">
            <a:r>
              <a:t>Watch for: treating a supplier or courier as already owned.</a:t>
            </a:r>
          </a:p>
          <a:p xmlns:a="http://schemas.openxmlformats.org/drawingml/2006/main">
            <a:r>
              <a:t>Northstar is a fictional teaching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model horizontal growth as a product change at the same stage and audience.</a:t>
            </a:r>
          </a:p>
          <a:p xmlns:a="http://schemas.openxmlformats.org/drawingml/2006/main">
            <a:r>
              <a:t>Say: The chain and audience stay mostly the same. The offer expands.</a:t>
            </a:r>
          </a:p>
          <a:p xmlns:a="http://schemas.openxmlformats.org/drawingml/2006/main">
            <a:r>
              <a:t>Ask: Which part of the baseline changed?</a:t>
            </a:r>
          </a:p>
          <a:p xmlns:a="http://schemas.openxmlformats.org/drawingml/2006/main">
            <a:r>
              <a:t>Watch for: calling any new product conglomerate growth.</a:t>
            </a:r>
          </a:p>
          <a:p xmlns:a="http://schemas.openxmlformats.org/drawingml/2006/main">
            <a:r>
              <a:t>Source: Bomfim et al. (2022), 4.2A pp. 214–215. Northstar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ownership and responsibility moving across a supply-chain boundary.</a:t>
            </a:r>
          </a:p>
          <a:p xmlns:a="http://schemas.openxmlformats.org/drawingml/2006/main">
            <a:r>
              <a:t>Say: Northstar does not merely choose a different courier. It takes delivery inside the business.</a:t>
            </a:r>
          </a:p>
          <a:p xmlns:a="http://schemas.openxmlformats.org/drawingml/2006/main">
            <a:r>
              <a:t>Ask: Which responsibility crossed the company boundary?</a:t>
            </a:r>
          </a:p>
          <a:p xmlns:a="http://schemas.openxmlformats.org/drawingml/2006/main">
            <a:r>
              <a:t>Watch for: confusing outsourcing with vertical growth.</a:t>
            </a:r>
          </a:p>
          <a:p xmlns:a="http://schemas.openxmlformats.org/drawingml/2006/main">
            <a:r>
              <a:t>Source: Bomfim et al. (2022), 4.2A pp. 214–215. Northstar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distinguish capability reuse plus audience extension.</a:t>
            </a:r>
          </a:p>
          <a:p xmlns:a="http://schemas.openxmlformats.org/drawingml/2006/main">
            <a:r>
              <a:t>Ask: What stays familiar? What changes?</a:t>
            </a:r>
          </a:p>
          <a:p xmlns:a="http://schemas.openxmlformats.org/drawingml/2006/main">
            <a:r>
              <a:t>Watch for: classifying solely by the product name. The chapter uses the audience-extension interpretation of concentric growth.</a:t>
            </a:r>
          </a:p>
          <a:p xmlns:a="http://schemas.openxmlformats.org/drawingml/2006/main">
            <a:r>
              <a:t>Source: Bomfim et al. (2022), 4.2A pp. 214–215. Northstar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why unrelated industry entry requires a new capability set.</a:t>
            </a:r>
          </a:p>
          <a:p xmlns:a="http://schemas.openxmlformats.org/drawingml/2006/main">
            <a:r>
              <a:t>Ask: Which knowledge transfers from stationery? Which knowledge does not?</a:t>
            </a:r>
          </a:p>
          <a:p xmlns:a="http://schemas.openxmlformats.org/drawingml/2006/main">
            <a:r>
              <a:t>Watch for: saying diversification always reduces risk. It can add coordination cost and new exposure.</a:t>
            </a:r>
          </a:p>
          <a:p xmlns:a="http://schemas.openxmlformats.org/drawingml/2006/main">
            <a:r>
              <a:t>Source: Bomfim et al. (2022), 4.2A pp. 214–215. Northstar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consolidate the four mechanisms without reducing them to one-word cues.</a:t>
            </a:r>
          </a:p>
          <a:p xmlns:a="http://schemas.openxmlformats.org/drawingml/2006/main">
            <a:r>
              <a:t>Ask: Which column provides the strongest evidence for classification?</a:t>
            </a:r>
          </a:p>
          <a:p xmlns:a="http://schemas.openxmlformats.org/drawingml/2006/main">
            <a:r>
              <a:t>Practice feedback: the changed relationship, not company size or success, decides the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catch whole-company classification.</a:t>
            </a:r>
          </a:p>
          <a:p xmlns:a="http://schemas.openxmlformats.org/drawingml/2006/main">
            <a:r>
              <a:t>Practice feedback: Student B is more precise because it classifies the specified move. A company can use several strategies at once.</a:t>
            </a:r>
          </a:p>
          <a:p xmlns:a="http://schemas.openxmlformats.org/drawingml/2006/main">
            <a:r>
              <a:t>Secure: ask students to classify the other two moves. Partial: point to the action verb in each clause. Unclear: return to the baseline and identify one changed relationship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individual check after instruction.</a:t>
            </a:r>
          </a:p>
          <a:p xmlns:a="http://schemas.openxmlformats.org/drawingml/2006/main">
            <a:r>
              <a:t>Practice feedback: A is vertical because the supplier stage moves inside. B is conglomerate because the bakery enters an unrelated industry and needs repair expertise.</a:t>
            </a:r>
          </a:p>
          <a:p xmlns:a="http://schemas.openxmlformats.org/drawingml/2006/main">
            <a:r>
              <a:t>Secure: change one variable and reclassify. Partial: identify offer, chain, audience or industry. Unclear: remodel Case A with a simple ownership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model the reasoning expected in Digital Society.</a:t>
            </a:r>
          </a:p>
          <a:p xmlns:a="http://schemas.openxmlformats.org/drawingml/2006/main">
            <a:r>
              <a:t>Ask: Who gains control? Who carries new risk?</a:t>
            </a:r>
          </a:p>
          <a:p xmlns:a="http://schemas.openxmlformats.org/drawingml/2006/main">
            <a:r>
              <a:t>Watch for: one global list of pros and cons with no stakeholder attached.</a:t>
            </a:r>
          </a:p>
          <a:p xmlns:a="http://schemas.openxmlformats.org/drawingml/2006/main">
            <a:r>
              <a:t>Connection: students will use the same frame in the Northstar lab and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supported application after the worked examples.</a:t>
            </a:r>
          </a:p>
          <a:p xmlns:a="http://schemas.openxmlformats.org/drawingml/2006/main">
            <a:r>
              <a:t>Directions: pairs run one trial for 6 minutes. Each learner records a prediction, result, bottleneck and limitation.</a:t>
            </a:r>
          </a:p>
          <a:p xmlns:a="http://schemas.openxmlformats.org/drawingml/2006/main">
            <a:r>
              <a:t>Success: explanation names the strategy, changed variable, result, stakeholder consequence and model limitation.</a:t>
            </a:r>
          </a:p>
          <a:p xmlns:a="http://schemas.openxmlformats.org/drawingml/2006/main">
            <a:r>
              <a:t>Northstar values are synthetic. Students should write: In this model, under these assumptions…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model interpretation and limitation.</a:t>
            </a:r>
          </a:p>
          <a:p xmlns:a="http://schemas.openxmlformats.org/drawingml/2006/main">
            <a:r>
              <a:t>Static synthetic trial: 100 orders, $180 operating surplus, -$1,020 first-round cash after setup.</a:t>
            </a:r>
          </a:p>
          <a:p xmlns:a="http://schemas.openxmlformats.org/drawingml/2006/main">
            <a:r>
              <a:t>Ask: How can operating surplus be positive while cash is negative?</a:t>
            </a:r>
          </a:p>
          <a:p xmlns:a="http://schemas.openxmlformats.org/drawingml/2006/main">
            <a:r>
              <a:t>Practice feedback: setup spending affects first-round cash; the model does not establish long-term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connect economic growth and automation to Digital Society stakeholder analysis.</a:t>
            </a:r>
          </a:p>
          <a:p xmlns:a="http://schemas.openxmlformats.org/drawingml/2006/main">
            <a:r>
              <a:t>Ask students to separate what each source can establish.</a:t>
            </a:r>
          </a:p>
          <a:p xmlns:a="http://schemas.openxmlformats.org/drawingml/2006/main">
            <a:r>
              <a:t>Amazon, 18 Oct 2023, Sequoia announcement: incoming inventory can be identified and stored up to 75% faster. Company claim.</a:t>
            </a:r>
          </a:p>
          <a:p xmlns:a="http://schemas.openxmlformats.org/drawingml/2006/main">
            <a:r>
              <a:t>US Department of Labor, 19 Dec 2024, corporate ergonomic settlement: https://content.govdelivery.com/accounts/USDOL/bulletins/3c851a6</a:t>
            </a:r>
          </a:p>
          <a:p xmlns:a="http://schemas.openxmlformats.org/drawingml/2006/main">
            <a:r>
              <a:t>Visual is conceptual and not documentary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independent transfer on a different case.</a:t>
            </a:r>
          </a:p>
          <a:p xmlns:a="http://schemas.openxmlformats.org/drawingml/2006/main">
            <a:r>
              <a:t>Do not reveal the answer during the attempt.</a:t>
            </a:r>
          </a:p>
          <a:p xmlns:a="http://schemas.openxmlformats.org/drawingml/2006/main">
            <a:r>
              <a:t>Private key locator: teacher brief, slide 16. Expected classification depends on the defined chain boundary; accept vertical when students explain ticket delivery as a stage brought inside. Require a justified interpretation if they argue otherwise.</a:t>
            </a:r>
          </a:p>
          <a:p xmlns:a="http://schemas.openxmlformats.org/drawingml/2006/main">
            <a:r>
              <a:t>Secure: add a regulation constraint. Partial: underline the ownership change. Unclear: redraw before/after boundaries, then retry.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launch the assignment after students have seen the full reasoning process.</a:t>
            </a:r>
          </a:p>
          <a:p xmlns:a="http://schemas.openxmlformats.org/drawingml/2006/main">
            <a:r>
              <a:t>Directions: students choose one manageable physical or digital route. They must trace one consequential decision rather than describe an entire corporation.</a:t>
            </a:r>
          </a:p>
          <a:p xmlns:a="http://schemas.openxmlformats.org/drawingml/2006/main">
            <a:r>
              <a:t>Success criteria: bounded route, accurate mechanism, named stakeholder, supported trade-off, limitation.</a:t>
            </a:r>
          </a:p>
          <a:p xmlns:a="http://schemas.openxmlformats.org/drawingml/2006/main">
            <a:r>
              <a:t>The existing Google Doc remains the student assignment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with retrieval and prepare delayed practice.</a:t>
            </a:r>
          </a:p>
          <a:p xmlns:a="http://schemas.openxmlformats.org/drawingml/2006/main">
            <a:r>
              <a:t>Collect the independent transfer response before students reopen notes.</a:t>
            </a:r>
          </a:p>
          <a:p xmlns:a="http://schemas.openxmlformats.org/drawingml/2006/main">
            <a:r>
              <a:t>Next lesson: use a grocery platform that acquires a farm supplier; students classify and explain the boundary change.</a:t>
            </a:r>
          </a:p>
          <a:p xmlns:a="http://schemas.openxmlformats.org/drawingml/2006/main">
            <a:r>
              <a:t>Later return: embed one changed-case classification in the existing chapter practice route. No new assessment identity created.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0d098f0df4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097edc76b4b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87ee59cff4c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3dd7900dd45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e6db1469e4e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ac5d8627b49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A206FB-D1DA-4062-B154-E67F6AF30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222B31-F087-4BA6-87A4-B3B3C62767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A7D76A-AB22-42E3-9D93-546F07039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8AC537-3B81-4B4A-A16B-EDEC3E949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8D0E50-C8A3-42B4-8927-5A14F17EE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5A7F5C-B53C-4D8E-9395-F4DE3B309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E25019-3B32-4A18-A107-AA192D659E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906751-B9B7-43F3-9290-1D2D6D742F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EABFBF-5D0D-4337-96C7-420FDFCDE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AC97C9-4B15-4B4D-A53C-630EEC7ED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b2e34e1b854c3a" /><Relationship Type="http://schemas.openxmlformats.org/officeDocument/2006/relationships/slideLayout" Target="/ppt/slideLayouts/slideLayout1.xml" Id="Rdf8b256be4c64fe7" /><Relationship Type="http://schemas.openxmlformats.org/officeDocument/2006/relationships/slideLayout" Target="/ppt/slideLayouts/slideLayout2.xml" Id="Rd2ab0917e6724ab2" /><Relationship Type="http://schemas.openxmlformats.org/officeDocument/2006/relationships/slideLayout" Target="/ppt/slideLayouts/slideLayout3.xml" Id="R02d1f47bc3aa49d5" /><Relationship Type="http://schemas.openxmlformats.org/officeDocument/2006/relationships/slideLayout" Target="/ppt/slideLayouts/slideLayout4.xml" Id="R71f58ab6fc894a6e" /><Relationship Type="http://schemas.openxmlformats.org/officeDocument/2006/relationships/slideLayout" Target="/ppt/slideLayouts/slideLayout5.xml" Id="R078859b1a14c4851" /><Relationship Type="http://schemas.openxmlformats.org/officeDocument/2006/relationships/slideLayout" Target="/ppt/slideLayouts/slideLayout6.xml" Id="Rd246a22d99d844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b256be4c64fe7"/>
    <p:sldLayoutId xmlns:r="http://schemas.openxmlformats.org/officeDocument/2006/relationships" id="2147483650" r:id="Rd2ab0917e6724ab2"/>
    <p:sldLayoutId xmlns:r="http://schemas.openxmlformats.org/officeDocument/2006/relationships" id="2147483651" r:id="R02d1f47bc3aa49d5"/>
    <p:sldLayoutId xmlns:r="http://schemas.openxmlformats.org/officeDocument/2006/relationships" id="2147483652" r:id="R71f58ab6fc894a6e"/>
    <p:sldLayoutId xmlns:r="http://schemas.openxmlformats.org/officeDocument/2006/relationships" id="2147483653" r:id="R078859b1a14c4851"/>
    <p:sldLayoutId xmlns:r="http://schemas.openxmlformats.org/officeDocument/2006/relationships" id="2147483654" r:id="Rd246a22d99d844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c29093b794a3f" /><Relationship Type="http://schemas.openxmlformats.org/officeDocument/2006/relationships/image" Target="/ppt/media/image.png" Id="R248b219cb4334cc3" /><Relationship Type="http://schemas.openxmlformats.org/officeDocument/2006/relationships/notesSlide" Target="/ppt/notesSlides/notesSlide1.xml" Id="Rdaeee0c98ced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aec5eae724674" /><Relationship Type="http://schemas.openxmlformats.org/officeDocument/2006/relationships/notesSlide" Target="/ppt/notesSlides/notesSlide2.xml" Id="R75625395d42649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8f85b0f754479" /><Relationship Type="http://schemas.openxmlformats.org/officeDocument/2006/relationships/image" Target="/ppt/media/image2.png" Id="R7c180e90854a40de" /><Relationship Type="http://schemas.openxmlformats.org/officeDocument/2006/relationships/notesSlide" Target="/ppt/notesSlides/notesSlide3.xml" Id="R13ac82e8a6e640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334a4132344f6" /><Relationship Type="http://schemas.openxmlformats.org/officeDocument/2006/relationships/notesSlide" Target="/ppt/notesSlides/notesSlide4.xml" Id="R55f4bdaed2a54a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3ae2bf9d54dca" /><Relationship Type="http://schemas.openxmlformats.org/officeDocument/2006/relationships/notesSlide" Target="/ppt/notesSlides/notesSlide5.xml" Id="Ra77414e583d543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e249d84474249" /><Relationship Type="http://schemas.openxmlformats.org/officeDocument/2006/relationships/notesSlide" Target="/ppt/notesSlides/notesSlide6.xml" Id="R2f37d6fce768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3c7cbc71d4127" /><Relationship Type="http://schemas.openxmlformats.org/officeDocument/2006/relationships/notesSlide" Target="/ppt/notesSlides/notesSlide7.xml" Id="R0fd5e001699c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6cba6dd184be3" /><Relationship Type="http://schemas.openxmlformats.org/officeDocument/2006/relationships/notesSlide" Target="/ppt/notesSlides/notesSlide8.xml" Id="R73c2ba39d0f14d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431adf09e44b1" /><Relationship Type="http://schemas.openxmlformats.org/officeDocument/2006/relationships/notesSlide" Target="/ppt/notesSlides/notesSlide9.xml" Id="R8fb1195c6988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98f0782c7440e" /><Relationship Type="http://schemas.openxmlformats.org/officeDocument/2006/relationships/notesSlide" Target="/ppt/notesSlides/notesSlide10.xml" Id="R36def879c3db4d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a82fde77845bc" /><Relationship Type="http://schemas.openxmlformats.org/officeDocument/2006/relationships/notesSlide" Target="/ppt/notesSlides/notesSlide11.xml" Id="Rd89147031a604e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a979850494d9e" /><Relationship Type="http://schemas.openxmlformats.org/officeDocument/2006/relationships/notesSlide" Target="/ppt/notesSlides/notesSlide12.xml" Id="Rca239325ea6543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3e6d811034a5d" /><Relationship Type="http://schemas.openxmlformats.org/officeDocument/2006/relationships/image" Target="/ppt/media/image3.png" Id="R3c4ae397548d4ea6" /><Relationship Type="http://schemas.openxmlformats.org/officeDocument/2006/relationships/notesSlide" Target="/ppt/notesSlides/notesSlide13.xml" Id="Re872264f0db34a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0e803b81142c7" /><Relationship Type="http://schemas.openxmlformats.org/officeDocument/2006/relationships/notesSlide" Target="/ppt/notesSlides/notesSlide14.xml" Id="Rfe91c233a01446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f4e617b2c4613" /><Relationship Type="http://schemas.openxmlformats.org/officeDocument/2006/relationships/image" Target="/ppt/media/image4.png" Id="Rc4bcd5152e324830" /><Relationship Type="http://schemas.openxmlformats.org/officeDocument/2006/relationships/notesSlide" Target="/ppt/notesSlides/notesSlide15.xml" Id="R5f7966775bf842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3204a477249c6" /><Relationship Type="http://schemas.openxmlformats.org/officeDocument/2006/relationships/notesSlide" Target="/ppt/notesSlides/notesSlide16.xml" Id="R390c17e1f2ee4b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94148d35c496d" /><Relationship Type="http://schemas.openxmlformats.org/officeDocument/2006/relationships/image" Target="/ppt/media/image5.png" Id="R6cb74d72b49a4992" /><Relationship Type="http://schemas.openxmlformats.org/officeDocument/2006/relationships/notesSlide" Target="/ppt/notesSlides/notesSlide17.xml" Id="R7e9c8c09240642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907f6d40d4640" /><Relationship Type="http://schemas.openxmlformats.org/officeDocument/2006/relationships/notesSlide" Target="/ppt/notesSlides/notesSlide18.xml" Id="R50634a647d49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BD985-AE63-42BB-A97B-6584207E1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b219cb4334cc3"/>
          <a:srcRect xmlns:a="http://schemas.openxmlformats.org/drawingml/2006/main" l="22095" t="0" r="220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0"/>
            <a:ext cx="6800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14D3E-376E-4B20-89DB-1C8D2FA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E23EE-1CDA-46CC-924B-B48F7AEC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IB DIGITAL SOCIETY · ECONOMIC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7B394-8D8E-4B9E-92F1-A3C9603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953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900" b="1" i="0">
                <a:solidFill>
                  <a:srgbClr val="F4F1E9"/>
                </a:solidFill>
              </a:defRPr>
            </a:pPr>
            <a:r>
              <a:rPr sz="3900" b="1" i="0">
                <a:solidFill>
                  <a:srgbClr val="F4F1E9"/>
                </a:solidFill>
              </a:rPr>
              <a:t>One click. Four growth choices. Different consequences.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4B1AF-97BA-4C04-BE09-9F370F8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B9C8CC"/>
                </a:solidFill>
              </a:defRPr>
            </a:pPr>
            <a:r>
              <a:rPr sz="1725" b="0" i="0">
                <a:solidFill>
                  <a:srgbClr val="B9C8CC"/>
                </a:solidFill>
              </a:rPr>
              <a:t>Northstar Stationery wants to grow. Your job is to identify what changes and judge who carries the new cost or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733E1-8BD3-48E5-8BAD-E07D28F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00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4F276-D937-4575-9FAE-B1D08E6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74D3C6"/>
                </a:solidFill>
              </a:defRPr>
            </a:pPr>
            <a:r>
              <a:rPr sz="1350" b="1" i="0">
                <a:solidFill>
                  <a:srgbClr val="74D3C6"/>
                </a:solidFill>
              </a:rPr>
              <a:t>PREDICT: Which choice adds the most control?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B398-81A7-4AA8-901A-43A97D60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Fictional case · chapter-aligned teaching lesson</a:t>
            </a:r>
          </a:p>
        </p:txBody>
      </p:sp>
    </p:spTree>
    <p:extLst>
      <p:ext uri="{BB962C8B-B14F-4D97-AF65-F5344CB8AC3E}">
        <p14:creationId xmlns:p14="http://schemas.microsoft.com/office/powerpoint/2010/main" val="420443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A1A7A-A01F-46E9-B4AA-41E0913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LEARNING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86944-4AEE-46B0-8A64-EC163C42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26D97-ACA6-4598-8A97-16D76A0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4F1E9"/>
                </a:solidFill>
              </a:defRPr>
            </a:pPr>
            <a:r>
              <a:rPr sz="3375" b="1" i="0">
                <a:solidFill>
                  <a:srgbClr val="F4F1E9"/>
                </a:solidFill>
              </a:rPr>
              <a:t>By the end, you can explain and judge a growth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4240A-5926-42FD-A512-13999F1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EFBB65"/>
                </a:solidFill>
              </a:defRPr>
            </a:pPr>
            <a:r>
              <a:rPr sz="2700" b="1" i="0">
                <a:solidFill>
                  <a:srgbClr val="EFBB6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8C119-0810-426E-91AC-A094785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REMEMBER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9352-AD7F-494F-9369-2C07C7F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Four growth strategies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06E36-CEE4-4510-8475-75D9C60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9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B9C8CC"/>
                </a:solidFill>
              </a:defRPr>
            </a:pPr>
            <a:r>
              <a:rPr sz="2100" b="1" i="0">
                <a:solidFill>
                  <a:srgbClr val="B9C8C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25271-C718-4000-9A49-E7CD460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74D3C6"/>
                </a:solidFill>
              </a:defRPr>
            </a:pPr>
            <a:r>
              <a:rPr sz="2700" b="1" i="0">
                <a:solidFill>
                  <a:srgbClr val="74D3C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945CE-C718-46C1-834C-7802499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4D3C6"/>
                </a:solidFill>
              </a:defRPr>
            </a:pPr>
            <a:r>
              <a:rPr sz="1050" b="1" i="0">
                <a:solidFill>
                  <a:srgbClr val="74D3C6"/>
                </a:solidFill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F8842-136F-47C2-8AB2-3E369F7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What changes in the 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DD108-6295-45B0-96CD-7461E4D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9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B9C8CC"/>
                </a:solidFill>
              </a:defRPr>
            </a:pPr>
            <a:r>
              <a:rPr sz="2100" b="1" i="0">
                <a:solidFill>
                  <a:srgbClr val="B9C8C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BB200-DA9B-4591-B1B3-178D1D05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A9E88"/>
                </a:solidFill>
              </a:defRPr>
            </a:pPr>
            <a:r>
              <a:rPr sz="2700" b="1" i="0">
                <a:solidFill>
                  <a:srgbClr val="FA9E8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2BF25-633B-4371-BDC4-CC1E188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FA9E88"/>
                </a:solidFill>
              </a:defRPr>
            </a:pPr>
            <a:r>
              <a:rPr sz="1050" b="1" i="0">
                <a:solidFill>
                  <a:srgbClr val="FA9E88"/>
                </a:solidFill>
              </a:rPr>
              <a:t>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1382B-A7AA-41C0-BE66-FB3C4755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Classify a new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A303B-DD31-4598-8586-1AE45AB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B9C8CC"/>
                </a:solidFill>
              </a:defRPr>
            </a:pPr>
            <a:r>
              <a:rPr sz="2100" b="1" i="0">
                <a:solidFill>
                  <a:srgbClr val="B9C8C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E3F01-345B-4AFB-A0DF-867F588C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 i="0">
                <a:solidFill>
                  <a:srgbClr val="D5C2F0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D5C2F0"/>
                </a:solidFill>
              </a:defRPr>
            </a:pPr>
            <a:r>
              <a:rPr sz="2700" b="1" i="0">
                <a:solidFill>
                  <a:srgbClr val="D5C2F0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6B884-F691-4D48-ADCF-D1C31FC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09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D5C2F0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5C2F0"/>
                </a:solidFill>
              </a:defRPr>
            </a:pPr>
            <a:r>
              <a:rPr sz="1050" b="1" i="0">
                <a:solidFill>
                  <a:srgbClr val="D5C2F0"/>
                </a:solidFill>
              </a:rPr>
              <a:t>JUDGE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E58CD-660D-4832-9EB3-068F8F7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Benefit, cost, stakeholder,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6A806-3AA6-4080-A28D-0CB0EF3E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50646-8DF7-4C78-A69C-A34A929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The core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F0F6E-ACCF-4000-B7C4-C8DB871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4F1E9"/>
                </a:solidFill>
              </a:defRPr>
            </a:pPr>
            <a:r>
              <a:rPr sz="2100" b="1" i="0">
                <a:solidFill>
                  <a:srgbClr val="F4F1E9"/>
                </a:solidFill>
              </a:rPr>
              <a:t>What relationship changed, and what new responsibility came with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3EFC2-6F33-446E-966E-CA0151F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74D3C6"/>
                </a:solidFill>
              </a:defRPr>
            </a:pPr>
            <a:r>
              <a:rPr sz="1650" b="1" i="0">
                <a:solidFill>
                  <a:srgbClr val="74D3C6"/>
                </a:solidFill>
              </a:rPr>
              <a:t>We will use that question on every example.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203D0-9804-4C41-B80B-9C70949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Remember · understand · apply · judge</a:t>
            </a:r>
          </a:p>
        </p:txBody>
      </p:sp>
    </p:spTree>
    <p:extLst>
      <p:ext uri="{BB962C8B-B14F-4D97-AF65-F5344CB8AC3E}">
        <p14:creationId xmlns:p14="http://schemas.microsoft.com/office/powerpoint/2010/main" val="774552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9E533-9911-41D5-A1F7-FC686605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FOUNDATION · A DIGITAL SALE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42BA9-6F83-4133-A412-CEC8E647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47F1-127B-44E0-8D0F-C5982EC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4F1E9"/>
                </a:solidFill>
              </a:defRPr>
            </a:pPr>
            <a:r>
              <a:rPr sz="3375" b="1" i="0">
                <a:solidFill>
                  <a:srgbClr val="F4F1E9"/>
                </a:solidFill>
              </a:rPr>
              <a:t>A digital sale moves goods, money, data and control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18865-4453-46CF-8620-46B2E6F5E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80e90854a40de"/>
          <a:srcRect xmlns:a="http://schemas.openxmlformats.org/drawingml/2006/main" l="13522" t="0" r="135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1752600"/>
            <a:ext cx="4667250" cy="360045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F7ED5-0312-4D04-90C8-1F876CDA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56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ED74F-1600-40C5-83D1-228649ED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3FE3C-CB53-4907-9923-5030D7D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3357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item, quantity,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52A0-3C18-4D9B-8BEF-5D52DB8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56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E5C65-4CDD-4270-98FB-8D3F177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1A2F-8E99-4929-911F-7032A545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289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payment and stock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40BFB-2F3A-4F81-934D-09439793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56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D25B8-FC97-464C-B445-7384125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408A9-3860-4D1B-8712-9632EB7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2427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order, receipt, fulfilment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ABD97-A464-4D39-B618-2C51654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56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DB154-BF4A-4647-81E2-F1A7A86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969A1-CB58-4D6A-95DB-55AC98F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962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reorder and demand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BA28E-731A-43EB-B641-B88847F0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74D3C6"/>
                </a:solidFill>
              </a:defRPr>
            </a:pPr>
            <a:r>
              <a:rPr sz="1725" b="1" i="0">
                <a:solidFill>
                  <a:srgbClr val="74D3C6"/>
                </a:solidFill>
              </a:rPr>
              <a:t>Control sits with whoever can change the rules or access the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4AD39-7018-4705-807B-3BC61C0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Mechanism: input · processing · output · feedback</a:t>
            </a:r>
          </a:p>
        </p:txBody>
      </p:sp>
    </p:spTree>
    <p:extLst>
      <p:ext uri="{BB962C8B-B14F-4D97-AF65-F5344CB8AC3E}">
        <p14:creationId xmlns:p14="http://schemas.microsoft.com/office/powerpoint/2010/main" val="1120022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96829-44B0-4930-85A2-FE7DD63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BASELINE · NORTHSTAR BEFORE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9A33-427B-4D54-9F1B-0B0D08A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F0828-9C19-4A3B-BD80-EE9E43B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32D38"/>
                </a:solidFill>
              </a:defRPr>
            </a:pPr>
            <a:r>
              <a:rPr sz="3300" b="1" i="0">
                <a:solidFill>
                  <a:srgbClr val="132D38"/>
                </a:solidFill>
              </a:rPr>
              <a:t>Northstar sells notebooks through one simple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E4E94-2986-42E5-B8BA-569F7545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BAA7-D3BF-4100-92BD-CEE9D84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Paper supplier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4B1AF-2D25-4DE1-BDCF-CCF6CB9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69412-3CF5-4FDC-AF12-364BA34E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71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D595D-9EA2-4DE6-93C5-92DB1C69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B205E-B16A-48A4-9755-6CB023BB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86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2CB99-7C8A-49B7-9A5C-5287725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98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notebooks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37E2C-2A51-49FA-8F62-6736B174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71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DE5D9-E1BC-46AD-8526-E391BA93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431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F2F74-52DB-416A-9824-DAFBFFD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86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Courier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ED55E-F998-409C-BACA-33D1A1B7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3BE87-6DAD-4818-AB89-DD2FC75B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71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B87A7-DB19-451C-BFF2-A809C73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B017-475C-4D70-AA83-C92F0F2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86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Online customer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C78A4-4ED2-4A1E-B3F5-2DCFA34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one audience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5F225-B5FB-433E-9F1A-22DBEC92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9867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F0B13-8E3B-441E-A0C5-07C2D43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Northstar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EAC34-3EB1-474B-988C-5BEFE8C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4F1E9"/>
                </a:solidFill>
              </a:defRPr>
            </a:pPr>
            <a:r>
              <a:rPr sz="1725" b="1" i="0">
                <a:solidFill>
                  <a:srgbClr val="F4F1E9"/>
                </a:solidFill>
              </a:rPr>
              <a:t>product design, price, inventory and the customer relationship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23851-E145-445A-A2B7-B68F5B4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9A443C"/>
                </a:solidFill>
              </a:defRPr>
            </a:pPr>
            <a:r>
              <a:rPr sz="1125" b="1" i="0">
                <a:solidFill>
                  <a:srgbClr val="9A443C"/>
                </a:solidFill>
              </a:rPr>
              <a:t>Northstar depends 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2110D-3888-47F6-8A95-7D8811EB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6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32D38"/>
                </a:solidFill>
              </a:defRPr>
            </a:pPr>
            <a:r>
              <a:rPr sz="1650" b="1" i="0">
                <a:solidFill>
                  <a:srgbClr val="132D38"/>
                </a:solidFill>
              </a:rPr>
              <a:t>the supplier and courier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9961C-DF3F-4E3A-9BBC-AE743A17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Keep this baseline in view. Every strategy changes one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877110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146E2-FBDF-4390-A73D-887E276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WORKED EXAMPLE · HORIZONTAL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24A24-7835-42AD-9E45-34587FA3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4AD9-B0E1-4530-BEF5-727AF98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225" b="1" i="0">
                <a:solidFill>
                  <a:srgbClr val="132D38"/>
                </a:solidFill>
              </a:defRPr>
            </a:pPr>
            <a:r>
              <a:rPr sz="3225" b="1" i="0">
                <a:solidFill>
                  <a:srgbClr val="132D38"/>
                </a:solidFill>
              </a:rPr>
              <a:t>Horizontal growth adds a related offer for the same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5F92B-47AC-4B7F-874A-6F46EAF1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75612"/>
                </a:solidFill>
              </a:defRPr>
            </a:pPr>
            <a:r>
              <a:rPr sz="1125" b="1" i="0">
                <a:solidFill>
                  <a:srgbClr val="875612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EF31C-23A1-4AB9-85C3-94D01135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6906E-FBAC-4555-B852-3C0D386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4DB9-0B0F-487B-B8CE-9EEC8603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9FD07-5C8E-4EDE-9AEF-D3A2CD3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notebooks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C9F0-FB32-47C7-A10F-F4B310A7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DD21E-1220-4446-8E79-FC33F0DC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20A42-72C5-4542-B752-E620809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Online 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92433-983F-49C0-889D-E8DCF50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buys notebooks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64099-23F8-4C9E-A9CF-28881DFF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BBD34-1FCD-477E-A141-E677C99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BE8E9-3BE2-4330-BB6F-225B9CA3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notebooks + pens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416E9-968E-4E1E-8AB2-9D4FEE3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78B87-828F-4C5A-8540-4CDFF43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67BE5-451E-484B-A7D3-DD7FFD74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Same 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92EEF-2873-41EC-92BD-03B244F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larger basket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DEF6C-E379-4E5C-958D-A15024BC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95E5C"/>
                </a:solidFill>
              </a:defRPr>
            </a:pPr>
            <a:r>
              <a:rPr sz="1500" b="1" i="0">
                <a:solidFill>
                  <a:srgbClr val="195E5C"/>
                </a:solidFill>
              </a:rPr>
              <a:t>Benefit: more revenue from the existing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837AE-83FE-4072-93F3-5B479969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9A443C"/>
                </a:solidFill>
              </a:defRPr>
            </a:pPr>
            <a:r>
              <a:rPr sz="1500" b="1" i="0">
                <a:solidFill>
                  <a:srgbClr val="9A443C"/>
                </a:solidFill>
              </a:rPr>
              <a:t>New responsibility: forecast and hold more kinds of stock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FEA02-4D14-4FB6-96D7-82E5263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Explain the changed relationship before naming the strategy</a:t>
            </a:r>
          </a:p>
        </p:txBody>
      </p:sp>
    </p:spTree>
    <p:extLst>
      <p:ext uri="{BB962C8B-B14F-4D97-AF65-F5344CB8AC3E}">
        <p14:creationId xmlns:p14="http://schemas.microsoft.com/office/powerpoint/2010/main" val="973843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3947E-5C8D-458B-A269-DF2475E8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WORKED EXAMPLE · VERTICAL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CC54C-1CA2-4703-85C1-F6CBB8D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E78AB-D340-41CA-AEE7-F3D6B377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225" b="1" i="0">
                <a:solidFill>
                  <a:srgbClr val="132D38"/>
                </a:solidFill>
              </a:defRPr>
            </a:pPr>
            <a:r>
              <a:rPr sz="3225" b="1" i="0">
                <a:solidFill>
                  <a:srgbClr val="132D38"/>
                </a:solidFill>
              </a:rPr>
              <a:t>Vertical growth brings another stage of the chain inside the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36921-216C-4119-A808-2B87F2EB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75612"/>
                </a:solidFill>
              </a:defRPr>
            </a:pPr>
            <a:r>
              <a:rPr sz="1125" b="1" i="0">
                <a:solidFill>
                  <a:srgbClr val="875612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DD4E8-3025-4FC4-9739-85A8233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DE9BD-0B72-49E1-A8F5-E28E822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0369A-49A8-41DE-BF82-39EB5BD3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EF9C8-D66D-4A3E-AA4C-842CFE6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packs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606DC-6D64-4384-8AD9-BF35E2B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F146D-36C5-4A61-9CBB-F22FDED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74BB2-E986-48D2-94C1-178D5EFF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Courier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4656B-4E2A-4528-B268-A3330BC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owns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B81E9-4D42-4D17-A177-34C1DF1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A5E7D-A061-4F83-8E96-A59F47FA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66289-7EFF-4031-8A72-D55A6F1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Customer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9D7AB-749E-4BE9-83E2-EBF8181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receives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8C31F-9E77-47E0-9B5B-CAC6264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0CF54-EE1F-4F8F-8F35-6AAC825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15E95-38F9-4BA7-A882-EBF0409C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packs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34867-96B4-4837-BC0E-2A871406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ADC77-02C0-402A-96DD-BAED1A2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7B39C-BA44-415E-AA9D-A673B9C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BE216-EFA5-496B-860D-B94CC20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vehicles + drivers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07435-BCAE-4B78-81E5-A67E5B5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0EA55-4484-4222-934D-CB91F39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956E5-19A4-4759-8269-B11383D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7A4CA-725D-45A7-BC06-DBF173A5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receives order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09454-8147-41FA-89EF-FC3DEE93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95E5C"/>
                </a:solidFill>
              </a:defRPr>
            </a:pPr>
            <a:r>
              <a:rPr sz="1500" b="1" i="0">
                <a:solidFill>
                  <a:srgbClr val="195E5C"/>
                </a:solidFill>
              </a:rPr>
              <a:t>Benefit: greater control over timing and 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98833-C43E-4C7A-8F52-017D6800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9A443C"/>
                </a:solidFill>
              </a:defRPr>
            </a:pPr>
            <a:r>
              <a:rPr sz="1500" b="1" i="0">
                <a:solidFill>
                  <a:srgbClr val="9A443C"/>
                </a:solidFill>
              </a:rPr>
              <a:t>New responsibility: vehicles, drivers, safety and fixed costs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5FFB24-0309-45D1-B0E9-D1C6CD6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Explain the changed relationship before naming the strategy</a:t>
            </a:r>
          </a:p>
        </p:txBody>
      </p:sp>
    </p:spTree>
    <p:extLst>
      <p:ext uri="{BB962C8B-B14F-4D97-AF65-F5344CB8AC3E}">
        <p14:creationId xmlns:p14="http://schemas.microsoft.com/office/powerpoint/2010/main" val="849223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1DE9A-A897-4C71-9F7C-44F9F6E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WORKED EXAMPLE · CONCENTRIC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71DE-BF01-42CE-AF0E-A0E3743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CF785-A84B-45D0-8902-39345365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225" b="1" i="0">
                <a:solidFill>
                  <a:srgbClr val="132D38"/>
                </a:solidFill>
              </a:defRPr>
            </a:pPr>
            <a:r>
              <a:rPr sz="3225" b="1" i="0">
                <a:solidFill>
                  <a:srgbClr val="132D38"/>
                </a:solidFill>
              </a:rPr>
              <a:t>Concentric growth reuses expertise for a related new 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734F-EF1E-42D5-BF72-B268BD01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75612"/>
                </a:solidFill>
              </a:defRPr>
            </a:pPr>
            <a:r>
              <a:rPr sz="1125" b="1" i="0">
                <a:solidFill>
                  <a:srgbClr val="875612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79C39-42B5-4D38-91E9-B511570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2B035-6A3C-48D7-9DFC-8510CD8E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9082A-C059-46AB-9C63-91C883D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 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4F126-F771-4A22-9991-FEFC604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stationery + packing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0FAA9-611B-44AE-8452-16762D24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F5F0C-C30D-4401-9CC9-1652F50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156B7-86F8-46B5-A615-F5939B68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Online shoppers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BA113-0D02-4D00-8B78-2AE81B65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individual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FEFD0-AA22-432C-922F-81C30834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76203-C783-4B22-A0D3-ABBD673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Same expertise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2F240-8397-4281-84EF-E27C04D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bulk school kits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F38EA-D76A-43BC-B5E4-28FF1D8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5E219-9F1F-4B91-88A0-7DCFD3B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D404B-CA62-4FD5-BB3B-947700E1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School buyers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5C568-E071-4814-9C00-A16F3334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seasonal contracts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5E701-5CCD-4435-9019-07E96AA0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95E5C"/>
                </a:solidFill>
              </a:defRPr>
            </a:pPr>
            <a:r>
              <a:rPr sz="1500" b="1" i="0">
                <a:solidFill>
                  <a:srgbClr val="195E5C"/>
                </a:solidFill>
              </a:rPr>
              <a:t>Benefit: a new market using familiar capabilities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9B1FB-1F28-4845-81A7-1836385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9A443C"/>
                </a:solidFill>
              </a:defRPr>
            </a:pPr>
            <a:r>
              <a:rPr sz="1500" b="1" i="0">
                <a:solidFill>
                  <a:srgbClr val="9A443C"/>
                </a:solidFill>
              </a:rPr>
              <a:t>New responsibility: tenders, bulk scheduling and school budgets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F477E-A484-4A8A-B98B-B2F72B18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Explain the changed relationship before naming the strategy</a:t>
            </a:r>
          </a:p>
        </p:txBody>
      </p:sp>
    </p:spTree>
    <p:extLst>
      <p:ext uri="{BB962C8B-B14F-4D97-AF65-F5344CB8AC3E}">
        <p14:creationId xmlns:p14="http://schemas.microsoft.com/office/powerpoint/2010/main" val="1170353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6F276-82C6-4C5D-BCF6-4646DA94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WORKED EXAMPLE · CONGLOMERATE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E0CE6-A8FD-4C91-80A7-D749B91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532C0-A760-4677-9769-21084E78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225" b="1" i="0">
                <a:solidFill>
                  <a:srgbClr val="132D38"/>
                </a:solidFill>
              </a:defRPr>
            </a:pPr>
            <a:r>
              <a:rPr sz="3225" b="1" i="0">
                <a:solidFill>
                  <a:srgbClr val="132D38"/>
                </a:solidFill>
              </a:rPr>
              <a:t>Conglomerate growth enters an unrelated industry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B5AD4-0A5D-4859-BBB4-E87C79C1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75612"/>
                </a:solidFill>
              </a:defRPr>
            </a:pPr>
            <a:r>
              <a:rPr sz="1125" b="1" i="0">
                <a:solidFill>
                  <a:srgbClr val="875612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3CD1-F089-46DA-96A5-435484F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3CD7C-3256-46C4-849D-7192E5D2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1CBA9-57EF-49E0-8CDC-42C7CCA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3BF84-6B7C-4075-80A2-CB9E64A6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stationery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9988C-C8C7-4F58-8DBF-66FF3D30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875612"/>
                </a:solidFill>
              </a:defRPr>
            </a:pPr>
            <a:r>
              <a:rPr sz="2100" b="1" i="0">
                <a:solidFill>
                  <a:srgbClr val="87561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D2AC5-CE29-4D3A-8865-F04FE727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6FF86-F92A-4D06-A94C-34ECB54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09B0E-1ECB-4FEE-929D-1515A00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buy stationery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6E512-1ABE-4F7A-9663-EA278B2B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C11CC-EE2D-46FC-A10C-D498E25E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Northstar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EBC73-3D39-4AFD-80B6-C4F3FF8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stationery + bike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82FFE-0F45-4C1F-97E2-83B275A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C36E5-9F12-421B-8F90-F666A35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5BCBC-1CFC-4320-9AAF-8B486ED4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Two markets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CDEF8-D72D-4697-873F-7BBB8025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different needs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EC28A-5F94-45D1-97B0-90E62C9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19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95E5C"/>
                </a:solidFill>
              </a:defRPr>
            </a:pPr>
            <a:r>
              <a:rPr sz="1500" b="1" i="0">
                <a:solidFill>
                  <a:srgbClr val="195E5C"/>
                </a:solidFill>
              </a:rPr>
              <a:t>Benefit: revenue is less dependent on one industry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13CFA-2425-47B5-8AD4-5AE69B0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9A443C"/>
                </a:solidFill>
              </a:defRPr>
            </a:pPr>
            <a:r>
              <a:rPr sz="1500" b="1" i="0">
                <a:solidFill>
                  <a:srgbClr val="9A443C"/>
                </a:solidFill>
              </a:rPr>
              <a:t>New responsibility: new expertise, equipment and coordination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CEB75-8DA1-432B-BD33-FB96045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Explain the changed relationship before naming the strategy</a:t>
            </a:r>
          </a:p>
        </p:txBody>
      </p:sp>
    </p:spTree>
    <p:extLst>
      <p:ext uri="{BB962C8B-B14F-4D97-AF65-F5344CB8AC3E}">
        <p14:creationId xmlns:p14="http://schemas.microsoft.com/office/powerpoint/2010/main" val="494934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E53A0-5925-4292-9251-E8EE47DB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COMPARISON · LOCATE THE STRUCTURAL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C1662-D3F5-4D6D-A445-17E2BE34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440DD-ED18-43DD-B727-ABDEBDA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9"/>
                </a:solidFill>
              </a:defRPr>
            </a:pPr>
            <a:r>
              <a:rPr sz="3300" b="1" i="0">
                <a:solidFill>
                  <a:srgbClr val="F4F1E9"/>
                </a:solidFill>
              </a:rPr>
              <a:t>Four strategies answer four different growth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E62D2-9403-4824-A8AF-902E984C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D1D0-EE62-49B2-9BD8-75880FB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050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DECISION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B10D0-6C5A-47E2-B07B-49BF055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0BBA-97CF-4AA5-9009-214DB00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NEW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7239E-61FF-496F-AEEA-ACD0BDE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092CE-E249-42AB-95F1-2B01281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4F1E9"/>
                </a:solidFill>
              </a:defRPr>
            </a:pPr>
            <a:r>
              <a:rPr sz="1275" b="1" i="0">
                <a:solidFill>
                  <a:srgbClr val="F4F1E9"/>
                </a:solidFill>
              </a:rPr>
              <a:t>HORIZONTAL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B74F3-5372-4463-8499-484D276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4F1E9"/>
                </a:solidFill>
              </a:defRPr>
            </a:pPr>
            <a:r>
              <a:rPr sz="1425" b="0" i="0">
                <a:solidFill>
                  <a:srgbClr val="F4F1E9"/>
                </a:solidFill>
              </a:rPr>
              <a:t>What else can we sell to this audience?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CAEF9-4E5F-421C-96C3-0277EDE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74D3C6"/>
                </a:solidFill>
              </a:defRPr>
            </a:pPr>
            <a:r>
              <a:rPr sz="1275" b="1" i="0">
                <a:solidFill>
                  <a:srgbClr val="74D3C6"/>
                </a:solidFill>
              </a:rPr>
              <a:t>offer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DFD37-9D74-43B6-8773-C014BAB8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9C8CC"/>
                </a:solidFill>
              </a:defRPr>
            </a:pPr>
            <a:r>
              <a:rPr sz="1275" b="0" i="0">
                <a:solidFill>
                  <a:srgbClr val="B9C8CC"/>
                </a:solidFill>
              </a:rPr>
              <a:t>stock complexity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C31BC-ED8F-4519-B403-BED20D7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74D3C6"/>
                </a:solidFill>
              </a:defRPr>
            </a:pPr>
            <a:r>
              <a:rPr sz="1275" b="1" i="0">
                <a:solidFill>
                  <a:srgbClr val="74D3C6"/>
                </a:solidFill>
              </a:rPr>
              <a:t>VERTICAL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BDE31-136A-44B6-A834-16146A6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4F1E9"/>
                </a:solidFill>
              </a:defRPr>
            </a:pPr>
            <a:r>
              <a:rPr sz="1425" b="0" i="0">
                <a:solidFill>
                  <a:srgbClr val="F4F1E9"/>
                </a:solidFill>
              </a:rPr>
              <a:t>Which stage can we bring inside?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71E24-8E05-473F-A1C5-55FF6C4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74D3C6"/>
                </a:solidFill>
              </a:defRPr>
            </a:pPr>
            <a:r>
              <a:rPr sz="1275" b="1" i="0">
                <a:solidFill>
                  <a:srgbClr val="74D3C6"/>
                </a:solidFill>
              </a:rPr>
              <a:t>chain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E11EC-2678-4656-9366-0FBC244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9C8CC"/>
                </a:solidFill>
              </a:defRPr>
            </a:pPr>
            <a:r>
              <a:rPr sz="1275" b="0" i="0">
                <a:solidFill>
                  <a:srgbClr val="B9C8CC"/>
                </a:solidFill>
              </a:rPr>
              <a:t>fixed cost +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5BFBC-CE88-46A5-BCB3-9E231D0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104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40DB2-9C69-4B71-8861-9AA9DAFA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4F1E9"/>
                </a:solidFill>
              </a:defRPr>
            </a:pPr>
            <a:r>
              <a:rPr sz="1275" b="1" i="0">
                <a:solidFill>
                  <a:srgbClr val="F4F1E9"/>
                </a:solidFill>
              </a:rPr>
              <a:t>CONCENTRIC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6F2D2-1AE8-4DF9-8045-6275544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4F1E9"/>
                </a:solidFill>
              </a:defRPr>
            </a:pPr>
            <a:r>
              <a:rPr sz="1425" b="0" i="0">
                <a:solidFill>
                  <a:srgbClr val="F4F1E9"/>
                </a:solidFill>
              </a:rPr>
              <a:t>Where else can we use this expertise?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F3FB0-37CD-40F5-9BC5-C4E56CE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74D3C6"/>
                </a:solidFill>
              </a:defRPr>
            </a:pPr>
            <a:r>
              <a:rPr sz="1275" b="1" i="0">
                <a:solidFill>
                  <a:srgbClr val="74D3C6"/>
                </a:solidFill>
              </a:rPr>
              <a:t>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8FC15-2CA1-4593-A9A5-8008EC14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9C8CC"/>
                </a:solidFill>
              </a:defRPr>
            </a:pPr>
            <a:r>
              <a:rPr sz="1275" b="0" i="0">
                <a:solidFill>
                  <a:srgbClr val="B9C8CC"/>
                </a:solidFill>
              </a:rPr>
              <a:t>new buyer requirements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CFF92-6DA9-46A1-9FDB-3BE48D9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4F1E9"/>
                </a:solidFill>
              </a:defRPr>
            </a:pPr>
            <a:r>
              <a:rPr sz="1275" b="1" i="0">
                <a:solidFill>
                  <a:srgbClr val="F4F1E9"/>
                </a:solidFill>
              </a:rPr>
              <a:t>CONGLOMERATE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1DC78-3641-4097-A78A-EA23FE3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720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4F1E9"/>
                </a:solidFill>
              </a:defRPr>
            </a:pPr>
            <a:r>
              <a:rPr sz="1425" b="0" i="0">
                <a:solidFill>
                  <a:srgbClr val="F4F1E9"/>
                </a:solidFill>
              </a:rPr>
              <a:t>Which unrelated industry can we enter?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81591-02E2-4832-A1D1-C7DB77A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74D3C6"/>
                </a:solidFill>
              </a:defRPr>
            </a:pPr>
            <a:r>
              <a:rPr sz="1275" b="1" i="0">
                <a:solidFill>
                  <a:srgbClr val="74D3C6"/>
                </a:solidFill>
              </a:rPr>
              <a:t>industry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2CAE7-EF3D-4326-8061-66F2B85B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B9C8CC"/>
                </a:solidFill>
              </a:defRPr>
            </a:pPr>
            <a:r>
              <a:rPr sz="1275" b="0" i="0">
                <a:solidFill>
                  <a:srgbClr val="B9C8CC"/>
                </a:solidFill>
              </a:rPr>
              <a:t>new capabilities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1AD2A-0615-4567-B5FA-5A31F58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74D3C6"/>
                </a:solidFill>
              </a:defRPr>
            </a:pPr>
            <a:r>
              <a:rPr sz="1650" b="1" i="0">
                <a:solidFill>
                  <a:srgbClr val="74D3C6"/>
                </a:solidFill>
              </a:rPr>
              <a:t>Classify the move named in the case, even when the company uses several strategies.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DB107-CE1E-4F78-9BF1-88D969A6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Comparison matrix · use the changed relationship as evidence</a:t>
            </a:r>
          </a:p>
        </p:txBody>
      </p:sp>
    </p:spTree>
    <p:extLst>
      <p:ext uri="{BB962C8B-B14F-4D97-AF65-F5344CB8AC3E}">
        <p14:creationId xmlns:p14="http://schemas.microsoft.com/office/powerpoint/2010/main" val="2141399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694A6-4555-481D-B6F7-39C60FA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MISCONCEPTION CHECK · DIAGNOSE THE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F998C-AF6E-4E5D-9295-B0FFBD8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84C73-3A1D-4DF9-BD4B-AFF65C6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32D38"/>
                </a:solidFill>
              </a:defRPr>
            </a:pPr>
            <a:r>
              <a:rPr sz="3300" b="1" i="0">
                <a:solidFill>
                  <a:srgbClr val="132D38"/>
                </a:solidFill>
              </a:rPr>
              <a:t>A company can use more than one growth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E078E-FCD8-411D-8175-41BFF24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A146D-B9C5-4688-AB41-02B11A03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32D38"/>
                </a:solidFill>
              </a:defRPr>
            </a:pPr>
            <a:r>
              <a:rPr sz="2100" b="1" i="0">
                <a:solidFill>
                  <a:srgbClr val="132D38"/>
                </a:solidFill>
              </a:rPr>
              <a:t>Northstar adds pens, buys a courier, then opens a bike shop.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4704-F006-489C-B86D-E78ED057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75612"/>
                </a:solidFill>
              </a:defRPr>
            </a:pPr>
            <a:r>
              <a:rPr sz="1125" b="1" i="0">
                <a:solidFill>
                  <a:srgbClr val="875612"/>
                </a:solidFill>
              </a:rPr>
              <a:t>Student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3EC86-A5D8-4100-825F-BC342425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099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32D38"/>
                </a:solidFill>
              </a:defRPr>
            </a:pPr>
            <a:r>
              <a:rPr sz="1725" b="1" i="0">
                <a:solidFill>
                  <a:srgbClr val="132D38"/>
                </a:solidFill>
              </a:rPr>
              <a:t>“Northstar uses conglomerate growth.”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FFC1A-C8FC-4E1B-8C1B-E838B872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Student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8A6FC-501F-42DB-B0CF-DA13590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386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32D38"/>
                </a:solidFill>
              </a:defRPr>
            </a:pPr>
            <a:r>
              <a:rPr sz="1725" b="1" i="0">
                <a:solidFill>
                  <a:srgbClr val="132D38"/>
                </a:solidFill>
              </a:rPr>
              <a:t>“The bike-shop move is conglomerate growth.”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59488-4799-4F74-AC3C-3153A3E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1E6E8-04DE-441C-B1F9-1C3E15EF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95E5C"/>
                </a:solidFill>
              </a:defRPr>
            </a:pPr>
            <a:r>
              <a:rPr sz="1800" b="1" i="0">
                <a:solidFill>
                  <a:srgbClr val="195E5C"/>
                </a:solidFill>
              </a:rPr>
              <a:t>Which answer is more precise? Underline the words that make it stronger.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3C32-5793-42E8-9914-18238C01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Individual answer · 45 seconds · revise with one reason</a:t>
            </a:r>
          </a:p>
        </p:txBody>
      </p:sp>
    </p:spTree>
    <p:extLst>
      <p:ext uri="{BB962C8B-B14F-4D97-AF65-F5344CB8AC3E}">
        <p14:creationId xmlns:p14="http://schemas.microsoft.com/office/powerpoint/2010/main" val="582263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6AA72-5B84-47BC-AB71-4DAEE8B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HINGE CHECK · CLASSIFY, EXPLAIN, RETRY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B58-D9D3-442F-8ADD-A041D5B6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F3837-ED2A-456B-A200-C74DEC95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9"/>
                </a:solidFill>
              </a:defRPr>
            </a:pPr>
            <a:r>
              <a:rPr sz="3300" b="1" i="0">
                <a:solidFill>
                  <a:srgbClr val="F4F1E9"/>
                </a:solidFill>
              </a:rPr>
              <a:t>Two bakeries make different growth moves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11A60-C56C-470A-91BB-B4338092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DD853-B226-4618-BEC0-7E1E746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CASE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A3CD-C2C0-4A8D-A3B4-6C68E15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4F1E9"/>
                </a:solidFill>
              </a:defRPr>
            </a:pPr>
            <a:r>
              <a:rPr sz="2175" b="1" i="0">
                <a:solidFill>
                  <a:srgbClr val="F4F1E9"/>
                </a:solidFill>
              </a:rPr>
              <a:t>A bakery buys its flour supplier.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F368F-4D4A-41F0-8B3B-9AF1303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74D3C6"/>
                </a:solidFill>
              </a:defRPr>
            </a:pPr>
            <a:r>
              <a:rPr sz="1425" b="1" i="0">
                <a:solidFill>
                  <a:srgbClr val="74D3C6"/>
                </a:solidFill>
              </a:rPr>
              <a:t>Name the strategy. Explain which boundary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2979-B5FF-4380-B53E-22A7082C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4953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C6935-ED86-439F-84A2-C5FEA1D0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CASE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3028F-E168-4B0D-9097-384DF66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4F1E9"/>
                </a:solidFill>
              </a:defRPr>
            </a:pPr>
            <a:r>
              <a:rPr sz="2175" b="1" i="0">
                <a:solidFill>
                  <a:srgbClr val="F4F1E9"/>
                </a:solidFill>
              </a:rPr>
              <a:t>A bakery opens a phone-repair shop.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28C1-2387-41AE-93BD-78D9C5D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74D3C6"/>
                </a:solidFill>
              </a:defRPr>
            </a:pPr>
            <a:r>
              <a:rPr sz="1425" b="1" i="0">
                <a:solidFill>
                  <a:srgbClr val="74D3C6"/>
                </a:solidFill>
              </a:rPr>
              <a:t>Name the strategy. Explain which capability must be added.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E8AC7-B9F2-4EAA-A927-FF8F5EB9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FBB65"/>
                </a:solidFill>
              </a:defRPr>
            </a:pPr>
            <a:r>
              <a:rPr sz="1725" b="1" i="0">
                <a:solidFill>
                  <a:srgbClr val="EFBB65"/>
                </a:solidFill>
              </a:rPr>
              <a:t>Success requires the label and the structural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BE037-30E5-498E-8C48-4F52ED54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4F1E9"/>
                </a:solidFill>
              </a:defRPr>
            </a:pPr>
            <a:r>
              <a:rPr sz="1575" b="0" i="0">
                <a:solidFill>
                  <a:srgbClr val="F4F1E9"/>
                </a:solidFill>
              </a:rPr>
              <a:t>If you change your answer, write what evidence changed your mind.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E94F-1275-4278-AAE6-95F79186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Individual first · compare second · correction stays visible</a:t>
            </a:r>
          </a:p>
        </p:txBody>
      </p:sp>
    </p:spTree>
    <p:extLst>
      <p:ext uri="{BB962C8B-B14F-4D97-AF65-F5344CB8AC3E}">
        <p14:creationId xmlns:p14="http://schemas.microsoft.com/office/powerpoint/2010/main" val="1750823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3FB7E-F6DC-49B7-BD13-FD4F2010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JUDGEMENT FRAME · BENEFITS AND OBLIGATIONS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40EEC-9230-428A-9889-24D8CAB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68E56-1F6D-42DC-BBBD-24AF129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32D38"/>
                </a:solidFill>
              </a:defRPr>
            </a:pPr>
            <a:r>
              <a:rPr sz="3300" b="1" i="0">
                <a:solidFill>
                  <a:srgbClr val="132D38"/>
                </a:solidFill>
              </a:rPr>
              <a:t>A growth strategy transfers benefits, costs and power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7FE64-A043-4A85-9A2F-FDCF1D4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38F52-5B46-414A-B06D-85D1A9E4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14A82-6060-41C5-A08D-894621CB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own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360D-E6E9-4718-B96C-F92AE8E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533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45C18-AA10-4512-9F5D-8325BE8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7E8D9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5D83F-8901-4CA8-9FF1-23B430C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16859-FE52-4B73-A80B-23D4ACA3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timing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CCC59-4E5A-4DA8-B1A8-148C7BF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533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195E5C"/>
                </a:solidFill>
              </a:defRPr>
            </a:pPr>
            <a:r>
              <a:rPr sz="2100" b="1" i="0">
                <a:solidFill>
                  <a:srgbClr val="195E5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67B4A-0ADE-42D3-9042-8062A3B1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11D52-CED0-4F1A-8AF8-766F8B9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9CE75-ED8A-4727-82A3-AD6078D3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71775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vehicles + wages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0B00C-B848-4502-BCD3-9CFB73E8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33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9A443C"/>
                </a:solidFill>
              </a:defRPr>
            </a:pPr>
            <a:r>
              <a:rPr sz="2100" b="1" i="0">
                <a:solidFill>
                  <a:srgbClr val="9A443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7E8B-F59A-497D-9F1D-E9B7956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9525">
            <a:solidFill>
              <a:srgbClr val="A7B5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917D8-1C6E-40B2-939F-EF4CF581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47925"/>
            <a:ext cx="2066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32D38"/>
                </a:solidFill>
              </a:defRPr>
            </a:pPr>
            <a:r>
              <a:rPr sz="1425" b="1" i="0">
                <a:solidFill>
                  <a:srgbClr val="132D38"/>
                </a:solidFill>
              </a:rPr>
              <a:t>Stakeholder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0C218-3837-40AA-8EFF-E69928C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496169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96169"/>
                </a:solidFill>
              </a:defRPr>
            </a:pPr>
            <a:r>
              <a:rPr sz="1050" b="0" i="0">
                <a:solidFill>
                  <a:srgbClr val="496169"/>
                </a:solidFill>
              </a:rPr>
              <a:t>drivers +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21215-1EF4-4D1A-8E33-01F8B26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96488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F4A54-F5A3-4D10-96EC-777AD26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Strong judgement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7364A-6663-4D64-991C-26672C1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Under these assumptions, owning delivery improves control for Northstar, but shifts safety, employment and fixed-cost responsibilities inside the company.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93930-D242-4363-8854-25A5F3BD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9A443C"/>
                </a:solidFill>
              </a:defRPr>
            </a:pPr>
            <a:r>
              <a:rPr sz="1125" b="1" i="0">
                <a:solidFill>
                  <a:srgbClr val="9A443C"/>
                </a:solidFill>
              </a:rPr>
              <a:t>Evidence still needed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12FD7-3CFA-42ED-A2AE-7995A21C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29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32D38"/>
                </a:solidFill>
              </a:defRPr>
            </a:pPr>
            <a:r>
              <a:rPr sz="1575" b="1" i="0">
                <a:solidFill>
                  <a:srgbClr val="132D38"/>
                </a:solidFill>
              </a:rPr>
              <a:t>actual delivery cost, worker conditions and customer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DB8A0-9266-4B8B-A896-082C4B0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Conditional claim + stakeholder + limitation</a:t>
            </a:r>
          </a:p>
        </p:txBody>
      </p:sp>
    </p:spTree>
    <p:extLst>
      <p:ext uri="{BB962C8B-B14F-4D97-AF65-F5344CB8AC3E}">
        <p14:creationId xmlns:p14="http://schemas.microsoft.com/office/powerpoint/2010/main" val="2101276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6927D-07DF-42EE-B814-251CDCD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SUPPORTED APPLICATION · NORTHSTAR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778CC-CB13-4475-A999-9580EA3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692CD-F962-4919-9D69-78D4D73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9"/>
                </a:solidFill>
              </a:defRPr>
            </a:pPr>
            <a:r>
              <a:rPr sz="3300" b="1" i="0">
                <a:solidFill>
                  <a:srgbClr val="F4F1E9"/>
                </a:solidFill>
              </a:rPr>
              <a:t>Test one decision, then explain the bottleneck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8713A-E77A-464B-86A6-5DA5D5324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ae397548d4ea6"/>
          <a:srcRect xmlns:a="http://schemas.openxmlformats.org/drawingml/2006/main" l="11581" t="0" r="11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52600"/>
            <a:ext cx="4343400" cy="3181350"/>
          </a:xfrm>
          <a:prstGeom xmlns:a="http://schemas.openxmlformats.org/drawingml/2006/main" prst="roundRect">
            <a:avLst>
              <a:gd name="adj" fmla="val 35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A492D-4C69-45C4-9533-C9761278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FBB65"/>
                </a:solidFill>
              </a:defRPr>
            </a:pPr>
            <a:r>
              <a:rPr sz="2100" b="1" i="0">
                <a:solidFill>
                  <a:srgbClr val="EFBB6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7D3CB-668A-4609-89C4-84F7F63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0E965-0F57-49B7-8D4A-87F4547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4F1E9"/>
                </a:solidFill>
              </a:defRPr>
            </a:pPr>
            <a:r>
              <a:rPr sz="1650" b="1" i="0">
                <a:solidFill>
                  <a:srgbClr val="F4F1E9"/>
                </a:solidFill>
              </a:rPr>
              <a:t>Which result will improve?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F43-F355-4C21-8382-5526F33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96B9B-3CFB-421E-885B-B6C0EFF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FBB65"/>
                </a:solidFill>
              </a:defRPr>
            </a:pPr>
            <a:r>
              <a:rPr sz="2100" b="1" i="0">
                <a:solidFill>
                  <a:srgbClr val="EFBB6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E6CCE-151D-4046-B7AA-04665D06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9CB6D-3575-42F1-9D08-827F8CE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4F1E9"/>
                </a:solidFill>
              </a:defRPr>
            </a:pPr>
            <a:r>
              <a:rPr sz="1650" b="1" i="0">
                <a:solidFill>
                  <a:srgbClr val="F4F1E9"/>
                </a:solidFill>
              </a:rPr>
              <a:t>one growth strategy or staffing choice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A5B28-07AB-47BE-9C46-238C5281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D2128-42AD-4121-96F2-FE558EEA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FBB65"/>
                </a:solidFill>
              </a:defRPr>
            </a:pPr>
            <a:r>
              <a:rPr sz="2100" b="1" i="0">
                <a:solidFill>
                  <a:srgbClr val="EFBB6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D576C-D013-47C2-8048-B3E6D60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1E6C1-409E-4C1C-802E-8131665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4F1E9"/>
                </a:solidFill>
              </a:defRPr>
            </a:pPr>
            <a:r>
              <a:rPr sz="1650" b="1" i="0">
                <a:solidFill>
                  <a:srgbClr val="F4F1E9"/>
                </a:solidFill>
              </a:rPr>
              <a:t>orders, surplus and first-round 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0E04E-9989-44DE-B7CE-14010EB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75AF6-B163-4D83-9293-33393E74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A9E88"/>
                </a:solidFill>
              </a:defRPr>
            </a:pPr>
            <a:r>
              <a:rPr sz="2100" b="1" i="0">
                <a:solidFill>
                  <a:srgbClr val="FA9E88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6DD39-0BE9-4894-8576-2560978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1BE36-C5BF-4B01-8787-C118C8B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4F1E9"/>
                </a:solidFill>
              </a:defRPr>
            </a:pPr>
            <a:r>
              <a:rPr sz="1650" b="1" i="0">
                <a:solidFill>
                  <a:srgbClr val="F4F1E9"/>
                </a:solidFill>
              </a:rPr>
              <a:t>result, bottleneck and 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01247-C883-44B2-8D3E-40DE93AA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343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D73DD-F311-4BA2-A8FB-75E2C02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911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4F1E9"/>
                </a:solidFill>
              </a:defRPr>
            </a:pPr>
            <a:r>
              <a:rPr sz="1350" b="1" i="0">
                <a:solidFill>
                  <a:srgbClr val="F4F1E9"/>
                </a:solidFill>
              </a:rPr>
              <a:t>Submit one individual explanation after the pair trial.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9A77C-F57E-4668-9057-59EE0813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Published lesson page · synthetic model values</a:t>
            </a:r>
          </a:p>
        </p:txBody>
      </p:sp>
    </p:spTree>
    <p:extLst>
      <p:ext uri="{BB962C8B-B14F-4D97-AF65-F5344CB8AC3E}">
        <p14:creationId xmlns:p14="http://schemas.microsoft.com/office/powerpoint/2010/main" val="17348149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2081D-2747-45D8-8159-C050765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WORKED INTERPRETATION · 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A1E1A-3DDB-46F2-B6E4-2680D7D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BA9B3-4352-4844-84F6-699EFEB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9"/>
                </a:solidFill>
              </a:defRPr>
            </a:pPr>
            <a:r>
              <a:rPr sz="3300" b="1" i="0">
                <a:solidFill>
                  <a:srgbClr val="F4F1E9"/>
                </a:solidFill>
              </a:rPr>
              <a:t>More demand can exceed capacity and reduce cash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98AFC-D5D8-4150-9CAD-048ECF4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EFBB65"/>
                </a:solidFill>
              </a:defRPr>
            </a:pPr>
            <a:r>
              <a:rPr sz="3600" b="1" i="0">
                <a:solidFill>
                  <a:srgbClr val="EFBB65"/>
                </a:solidFill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2BC8D-F7B0-44DE-B6EA-DBE10C1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4F1E9"/>
                </a:solidFill>
              </a:defRPr>
            </a:pPr>
            <a:r>
              <a:rPr sz="1275" b="0" i="0">
                <a:solidFill>
                  <a:srgbClr val="F4F1E9"/>
                </a:solidFill>
              </a:rPr>
              <a:t>orders 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AB436-AE8C-41F8-9CC0-0A1197A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74D3C6"/>
                </a:solidFill>
              </a:defRPr>
            </a:pPr>
            <a:r>
              <a:rPr sz="3600" b="1" i="0">
                <a:solidFill>
                  <a:srgbClr val="74D3C6"/>
                </a:solidFill>
              </a:rPr>
              <a:t>$180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95793-D426-464D-A7A0-0AB3AA8C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4F1E9"/>
                </a:solidFill>
              </a:defRPr>
            </a:pPr>
            <a:r>
              <a:rPr sz="1275" b="0" i="0">
                <a:solidFill>
                  <a:srgbClr val="F4F1E9"/>
                </a:solidFill>
              </a:rPr>
              <a:t>operating surplus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C9A10-758A-45C4-97DA-66BDE6AE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A9E88"/>
                </a:solidFill>
              </a:defRPr>
            </a:pPr>
            <a:r>
              <a:rPr sz="3600" b="1" i="0">
                <a:solidFill>
                  <a:srgbClr val="FA9E88"/>
                </a:solidFill>
              </a:rPr>
              <a:t>−$1,020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71A5-328B-4735-AD30-3942AA89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4F1E9"/>
                </a:solidFill>
              </a:defRPr>
            </a:pPr>
            <a:r>
              <a:rPr sz="1275" b="0" i="0">
                <a:solidFill>
                  <a:srgbClr val="F4F1E9"/>
                </a:solidFill>
              </a:rPr>
              <a:t>first-round cash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EC3C4-E988-4EB6-8862-A3165FED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23554-86CA-4CF2-B592-59189F4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FBB65"/>
                </a:solidFill>
              </a:defRPr>
            </a:pPr>
            <a:r>
              <a:rPr sz="1125" b="1" i="0">
                <a:solidFill>
                  <a:srgbClr val="EFBB65"/>
                </a:solidFill>
              </a:rPr>
              <a:t>What the model shows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56100-2190-450A-B733-8C1E57C0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4F1E9"/>
                </a:solidFill>
              </a:defRPr>
            </a:pPr>
            <a:r>
              <a:rPr sz="1725" b="1" i="0">
                <a:solidFill>
                  <a:srgbClr val="F4F1E9"/>
                </a:solidFill>
              </a:rPr>
              <a:t>capacity, variable costs and setup costs interact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0858D-508C-48D5-992B-C3274EA6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A9E88"/>
                </a:solidFill>
              </a:defRPr>
            </a:pPr>
            <a:r>
              <a:rPr sz="1125" b="1" i="0">
                <a:solidFill>
                  <a:srgbClr val="FA9E88"/>
                </a:solidFill>
              </a:rPr>
              <a:t>What it omits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CA714-6323-487C-B8F6-C2A7F58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F4F1E9"/>
                </a:solidFill>
              </a:defRPr>
            </a:pPr>
            <a:r>
              <a:rPr sz="1575" b="1" i="0">
                <a:solidFill>
                  <a:srgbClr val="F4F1E9"/>
                </a:solidFill>
              </a:rPr>
              <a:t>well-being, fairness, injury, loyalty and long-term productivity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18440-89B2-47F2-983F-FD4F83A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74D3C6"/>
                </a:solidFill>
              </a:defRPr>
            </a:pPr>
            <a:r>
              <a:rPr sz="1650" b="1" i="0">
                <a:solidFill>
                  <a:srgbClr val="74D3C6"/>
                </a:solidFill>
              </a:rPr>
              <a:t>Correction prompt: rewrite any claim that treats a model result as a real-world fact.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E1EA2-6A45-44A2-95E7-D665E01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Synthetic vertical-growth trial · observation before judgement</a:t>
            </a:r>
          </a:p>
        </p:txBody>
      </p:sp>
    </p:spTree>
    <p:extLst>
      <p:ext uri="{BB962C8B-B14F-4D97-AF65-F5344CB8AC3E}">
        <p14:creationId xmlns:p14="http://schemas.microsoft.com/office/powerpoint/2010/main" val="1834122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372CB-306A-4A9E-924D-3B6F468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REAL-WORLD ISSUE · AUTOMATION AND WORKERS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292FA-B9FF-4E07-A774-7F16D837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18FF7-6C46-4848-A77E-0F844195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F4F1E9"/>
                </a:solidFill>
              </a:defRPr>
            </a:pPr>
            <a:r>
              <a:rPr sz="3300" b="1" i="0">
                <a:solidFill>
                  <a:srgbClr val="F4F1E9"/>
                </a:solidFill>
              </a:rPr>
              <a:t>Performance claims and worker outcomes require different evidence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31595-496D-49C9-940D-3111D7D96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cd5152e324830"/>
          <a:srcRect xmlns:a="http://schemas.openxmlformats.org/drawingml/2006/main" l="8996" t="0" r="89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7526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9C5B-711C-4D3B-8704-5058C2D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EFBB65"/>
                </a:solidFill>
              </a:defRPr>
            </a:pPr>
            <a:r>
              <a:rPr sz="1050" b="1" i="0">
                <a:solidFill>
                  <a:srgbClr val="EFBB65"/>
                </a:solidFill>
              </a:rPr>
              <a:t>COMPANY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923D3-0DE2-48E8-B48E-7280398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4F1E9"/>
                </a:solidFill>
              </a:defRPr>
            </a:pPr>
            <a:r>
              <a:rPr sz="1875" b="1" i="0">
                <a:solidFill>
                  <a:srgbClr val="F4F1E9"/>
                </a:solidFill>
              </a:rPr>
              <a:t>Amazon says Sequoia can identify and store incoming inventory faster.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9C8F7-E715-4717-AA9D-3757AF7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FA9E88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FA9E88"/>
                </a:solidFill>
              </a:defRPr>
            </a:pPr>
            <a:r>
              <a:rPr sz="1050" b="1" i="0">
                <a:solidFill>
                  <a:srgbClr val="FA9E88"/>
                </a:solidFill>
              </a:rPr>
              <a:t>REGULATORY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3DD57-A2AC-4ED0-AC7C-D54FEFD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4F1E9"/>
                </a:solidFill>
              </a:defRPr>
            </a:pPr>
            <a:r>
              <a:rPr sz="1875" b="1" i="0">
                <a:solidFill>
                  <a:srgbClr val="F4F1E9"/>
                </a:solidFill>
              </a:rPr>
              <a:t>The US Department of Labor settlement requires corporate ergonomic measures.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5EEBE-F726-4B57-84A0-76C8DDE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4F18E-A667-4ACD-B480-2B7D549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4F1E9"/>
                </a:solidFill>
              </a:defRPr>
            </a:pPr>
            <a:r>
              <a:rPr sz="1500" b="1" i="0">
                <a:solidFill>
                  <a:srgbClr val="F4F1E9"/>
                </a:solidFill>
              </a:rPr>
              <a:t>Question: Who controls the system, who carries the risk, and what evidence would show improvement?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45F17-9FEA-43D0-9C67-08E73D95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Historical primary sources · checked 15 Oct 2026</a:t>
            </a:r>
          </a:p>
        </p:txBody>
      </p:sp>
    </p:spTree>
    <p:extLst>
      <p:ext uri="{BB962C8B-B14F-4D97-AF65-F5344CB8AC3E}">
        <p14:creationId xmlns:p14="http://schemas.microsoft.com/office/powerpoint/2010/main" val="1090180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6A63D-F3CB-4650-897C-38D63AF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INDEPENDENT TRANSFER · CHANGED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936D0-34A3-481C-8A71-5241E228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F0A27-DF09-48FA-8D30-A8A31C7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32D38"/>
                </a:solidFill>
              </a:defRPr>
            </a:pPr>
            <a:r>
              <a:rPr sz="3300" b="1" i="0">
                <a:solidFill>
                  <a:srgbClr val="132D38"/>
                </a:solidFill>
              </a:rPr>
              <a:t>A music service buys a ticket-delivery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B55CE-5813-42BB-835C-FBC7DEA1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2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09D56-D49F-416D-9E45-1B2283BF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32D38"/>
                </a:solidFill>
              </a:defRPr>
            </a:pPr>
            <a:r>
              <a:rPr sz="1800" b="1" i="0">
                <a:solidFill>
                  <a:srgbClr val="132D38"/>
                </a:solidFill>
              </a:rPr>
              <a:t>The music service already sells subscriptions. It now owns the digital system that issues and delivers event tickets.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3AED1-E57B-4C1C-9859-1FCE554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195E5C"/>
                </a:solidFill>
              </a:defRPr>
            </a:pPr>
            <a:r>
              <a:rPr sz="2250" b="1" i="0">
                <a:solidFill>
                  <a:srgbClr val="195E5C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B0314-0950-40F3-809A-EF398250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875612"/>
                </a:solidFill>
              </a:defRPr>
            </a:pPr>
            <a:r>
              <a:rPr sz="1200" b="1" i="0">
                <a:solidFill>
                  <a:srgbClr val="875612"/>
                </a:solidFill>
              </a:rPr>
              <a:t>Classify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6B66E-4EB4-4BFB-9D77-846AEE6A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00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32D38"/>
                </a:solidFill>
              </a:defRPr>
            </a:pPr>
            <a:r>
              <a:rPr sz="1500" b="1" i="0">
                <a:solidFill>
                  <a:srgbClr val="132D38"/>
                </a:solidFill>
              </a:rPr>
              <a:t>the growth move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EB6E6-C839-4AB4-A5B5-804C480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195E5C"/>
                </a:solidFill>
              </a:defRPr>
            </a:pPr>
            <a:r>
              <a:rPr sz="2250" b="1" i="0">
                <a:solidFill>
                  <a:srgbClr val="195E5C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F31E-5452-46A6-B63C-0DD0693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875612"/>
                </a:solidFill>
              </a:defRPr>
            </a:pPr>
            <a:r>
              <a:rPr sz="1200" b="1" i="0">
                <a:solidFill>
                  <a:srgbClr val="875612"/>
                </a:solidFill>
              </a:rPr>
              <a:t>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816AF-9EFC-46DF-87E3-A29BA0E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00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32D38"/>
                </a:solidFill>
              </a:defRPr>
            </a:pPr>
            <a:r>
              <a:rPr sz="1500" b="1" i="0">
                <a:solidFill>
                  <a:srgbClr val="132D38"/>
                </a:solidFill>
              </a:rPr>
              <a:t>the changed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37998-248F-4399-BAF9-48AE022C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195E5C"/>
                </a:solidFill>
              </a:defRPr>
            </a:pPr>
            <a:r>
              <a:rPr sz="2250" b="1" i="0">
                <a:solidFill>
                  <a:srgbClr val="195E5C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C9E15-BF05-44C5-A804-141445A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875612"/>
                </a:solidFill>
              </a:defRPr>
            </a:pPr>
            <a:r>
              <a:rPr sz="1200" b="1" i="0">
                <a:solidFill>
                  <a:srgbClr val="875612"/>
                </a:solidFill>
              </a:rPr>
              <a:t>Analyse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39C5B-58FF-4F95-8D69-A33C2D2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32D38"/>
                </a:solidFill>
              </a:defRPr>
            </a:pPr>
            <a:r>
              <a:rPr sz="1500" b="1" i="0">
                <a:solidFill>
                  <a:srgbClr val="132D38"/>
                </a:solidFill>
              </a:rPr>
              <a:t>one stakeholder trade-off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D7AF8-90E9-4E4D-86DB-7A0C18F3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195E5C"/>
                </a:solidFill>
              </a:defRPr>
            </a:pPr>
            <a:r>
              <a:rPr sz="2250" b="1" i="0">
                <a:solidFill>
                  <a:srgbClr val="195E5C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46C6B-B3A3-48F0-A9FF-357CEF1F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875612"/>
                </a:solidFill>
              </a:defRPr>
            </a:pPr>
            <a:r>
              <a:rPr sz="1200" b="1" i="0">
                <a:solidFill>
                  <a:srgbClr val="875612"/>
                </a:solidFill>
              </a:rPr>
              <a:t>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42873-DC7D-4A2D-8CAD-5066D0F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0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32D38"/>
                </a:solidFill>
              </a:defRPr>
            </a:pPr>
            <a:r>
              <a:rPr sz="1500" b="1" i="0">
                <a:solidFill>
                  <a:srgbClr val="132D38"/>
                </a:solidFill>
              </a:rPr>
              <a:t>the judgement with missing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0D9A4-8911-4C1A-A035-D836336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C9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BD1E0-DF4E-4704-8E0B-5568506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95E5C"/>
                </a:solidFill>
              </a:defRPr>
            </a:pPr>
            <a:r>
              <a:rPr sz="1725" b="1" i="0">
                <a:solidFill>
                  <a:srgbClr val="195E5C"/>
                </a:solidFill>
              </a:rPr>
              <a:t>Success: strategy + structural evidence + stakeholder + fact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8112-D1A0-409E-A889-F2B8D69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No notes · 4 minutes · individual response</a:t>
            </a:r>
          </a:p>
        </p:txBody>
      </p:sp>
    </p:spTree>
    <p:extLst>
      <p:ext uri="{BB962C8B-B14F-4D97-AF65-F5344CB8AC3E}">
        <p14:creationId xmlns:p14="http://schemas.microsoft.com/office/powerpoint/2010/main" val="1625720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69B11-072D-4632-B44A-C45BE29D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FBB65"/>
                </a:solidFill>
              </a:defRPr>
            </a:pPr>
            <a:r>
              <a:rPr sz="975" b="1" i="0">
                <a:solidFill>
                  <a:srgbClr val="EFBB65"/>
                </a:solidFill>
              </a:rPr>
              <a:t>ASSIGNMENT LAUNCH · SUPPLY CHAIN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27BF5-4639-48DB-93A6-8D23A43B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B9C8CC"/>
                </a:solidFill>
              </a:defRPr>
            </a:pPr>
            <a:r>
              <a:rPr sz="900" b="1" i="0">
                <a:solidFill>
                  <a:srgbClr val="B9C8CC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7C98-48ED-433F-92B5-5110718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5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3525" b="1" i="0">
                <a:solidFill>
                  <a:srgbClr val="F4F1E9"/>
                </a:solidFill>
              </a:defRPr>
            </a:pPr>
            <a:r>
              <a:rPr sz="3525" b="1" i="0">
                <a:solidFill>
                  <a:srgbClr val="F4F1E9"/>
                </a:solidFill>
              </a:rPr>
              <a:t>Follow one order beyond the screen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D3F5E-08BA-4392-89B8-7F6B96FB9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74d72b49a4992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DB1FF-9BD9-4A1F-8265-622B6930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EFBB65"/>
                </a:solidFill>
              </a:defRPr>
            </a:pPr>
            <a:r>
              <a:rPr sz="1875" b="1" i="0">
                <a:solidFill>
                  <a:srgbClr val="EFBB6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BA78-C538-4310-BEC5-9FF5C57A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BOUND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B51E7-C650-420C-9709-23D180B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4F1E9"/>
                </a:solidFill>
              </a:defRPr>
            </a:pPr>
            <a:r>
              <a:rPr sz="1425" b="1" i="0">
                <a:solidFill>
                  <a:srgbClr val="F4F1E9"/>
                </a:solidFill>
              </a:rPr>
              <a:t>one product or digital 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CE19-8AF3-45D1-ADCF-FFA9FFE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EFBB65"/>
                </a:solidFill>
              </a:defRPr>
            </a:pPr>
            <a:r>
              <a:rPr sz="1875" b="1" i="0">
                <a:solidFill>
                  <a:srgbClr val="EFBB6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77582-138F-4820-B6AE-4BE7CC1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D8EA0-7AC8-41FD-877F-3A88477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4F1E9"/>
                </a:solidFill>
              </a:defRPr>
            </a:pPr>
            <a:r>
              <a:rPr sz="1425" b="1" i="0">
                <a:solidFill>
                  <a:srgbClr val="F4F1E9"/>
                </a:solidFill>
              </a:rPr>
              <a:t>goods or service, money, data,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2C483-D5AE-4F7D-9B1A-60198BF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EFBB65"/>
                </a:solidFill>
              </a:defRPr>
            </a:pPr>
            <a:r>
              <a:rPr sz="1875" b="1" i="0">
                <a:solidFill>
                  <a:srgbClr val="EFBB6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72459-85AB-46FC-A21A-A262C85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24212-37D5-4792-8066-400A74C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4F1E9"/>
                </a:solidFill>
              </a:defRPr>
            </a:pPr>
            <a:r>
              <a:rPr sz="1425" b="1" i="0">
                <a:solidFill>
                  <a:srgbClr val="F4F1E9"/>
                </a:solidFill>
              </a:rPr>
              <a:t>one consequential digital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C31BE-0E6A-4C85-8FF9-A1710BC2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EFBB65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EFBB65"/>
                </a:solidFill>
              </a:defRPr>
            </a:pPr>
            <a:r>
              <a:rPr sz="1875" b="1" i="0">
                <a:solidFill>
                  <a:srgbClr val="EFBB6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658F9-CD45-42A1-A1D9-1740878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74D3C6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4D3C6"/>
                </a:solidFill>
              </a:defRPr>
            </a:pPr>
            <a:r>
              <a:rPr sz="1125" b="1" i="0">
                <a:solidFill>
                  <a:srgbClr val="74D3C6"/>
                </a:solidFill>
              </a:rPr>
              <a:t>JUDGE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F0141-992B-440E-A87E-B00F470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4F1E9"/>
                </a:solidFill>
              </a:defRPr>
            </a:pPr>
            <a:r>
              <a:rPr sz="1425" b="1" i="0">
                <a:solidFill>
                  <a:srgbClr val="F4F1E9"/>
                </a:solidFill>
              </a:rPr>
              <a:t>cost, benefit and stakeholder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A09F5-BEB5-4CB0-A6ED-3D7D6F9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53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4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FDBB6-48D7-4F8F-9923-B7B2F3E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417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4F1E9"/>
                </a:solidFill>
              </a:defRPr>
            </a:pPr>
            <a:r>
              <a:rPr sz="1275" b="1" i="0">
                <a:solidFill>
                  <a:srgbClr val="F4F1E9"/>
                </a:solidFill>
              </a:rPr>
              <a:t>Use verified sources. Label any inference.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61DCF-8336-4A07-AC7D-FE107AB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B9C8CC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B9C8CC"/>
                </a:solidFill>
              </a:defRPr>
            </a:pPr>
            <a:r>
              <a:rPr sz="750" b="0" i="0">
                <a:solidFill>
                  <a:srgbClr val="B9C8CC"/>
                </a:solidFill>
              </a:rPr>
              <a:t>Assignment handout supplies planning frame and evidence checklist</a:t>
            </a:r>
          </a:p>
        </p:txBody>
      </p:sp>
    </p:spTree>
    <p:extLst>
      <p:ext uri="{BB962C8B-B14F-4D97-AF65-F5344CB8AC3E}">
        <p14:creationId xmlns:p14="http://schemas.microsoft.com/office/powerpoint/2010/main" val="4282319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170BB-8DFE-4922-9786-8D895CB1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875612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75612"/>
                </a:solidFill>
              </a:defRPr>
            </a:pPr>
            <a:r>
              <a:rPr sz="975" b="1" i="0">
                <a:solidFill>
                  <a:srgbClr val="875612"/>
                </a:solidFill>
              </a:rPr>
              <a:t>EXIT · RETRIEVE AND CONNECT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CC381-98AE-4B89-9467-31AC003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0747A"/>
                </a:solidFill>
              </a:defRPr>
            </a:pPr>
            <a:r>
              <a:rPr sz="900" b="1" i="0">
                <a:solidFill>
                  <a:srgbClr val="60747A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497E-3023-4728-ACDF-EFD0EDA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32D38"/>
                </a:solidFill>
              </a:defRPr>
            </a:pPr>
            <a:r>
              <a:rPr sz="3300" b="1" i="0">
                <a:solidFill>
                  <a:srgbClr val="132D38"/>
                </a:solidFill>
              </a:rPr>
              <a:t>What changed, who gained control, and who gained responsibility?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859EB-5E4A-464D-A46C-B725ED0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DA442-012C-4DC3-996E-AFB39B9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32D38"/>
                </a:solidFill>
              </a:defRPr>
            </a:pPr>
            <a:r>
              <a:rPr sz="1800" b="1" i="0">
                <a:solidFill>
                  <a:srgbClr val="132D38"/>
                </a:solidFill>
              </a:rPr>
              <a:t>Name the four strategies without notes.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AFAD9-A3FF-4E56-A2BD-5309D62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A0A68-75CE-4663-BD17-FA0C128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195E5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95E5C"/>
                </a:solidFill>
              </a:defRPr>
            </a:pPr>
            <a:r>
              <a:rPr sz="1125" b="1" i="0">
                <a:solidFill>
                  <a:srgbClr val="195E5C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CD3C6-14C2-4CDB-A7B2-EC77B37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95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32D38"/>
                </a:solidFill>
              </a:defRPr>
            </a:pPr>
            <a:r>
              <a:rPr sz="1800" b="1" i="0">
                <a:solidFill>
                  <a:srgbClr val="132D38"/>
                </a:solidFill>
              </a:rPr>
              <a:t>Choose one. Describe the before and after relationship.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17461-E9CB-4108-A92E-016451C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6B448-32CC-4C25-A838-B2932836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9A443C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9A443C"/>
                </a:solidFill>
              </a:defRPr>
            </a:pPr>
            <a:r>
              <a:rPr sz="1125" b="1" i="0">
                <a:solidFill>
                  <a:srgbClr val="9A443C"/>
                </a:solidFill>
              </a:rPr>
              <a:t>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CB495-3D7A-455F-AACD-111865E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624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32D38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32D38"/>
                </a:solidFill>
              </a:defRPr>
            </a:pPr>
            <a:r>
              <a:rPr sz="1800" b="1" i="0">
                <a:solidFill>
                  <a:srgbClr val="132D38"/>
                </a:solidFill>
              </a:rPr>
              <a:t>Name one stakeholder benefit and one new obligation.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7F620-304F-40D0-9C86-2DF0862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3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A4385-E569-44C6-86B9-7B6B4D4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4F1E9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4F1E9"/>
                </a:solidFill>
              </a:defRPr>
            </a:pPr>
            <a:r>
              <a:rPr sz="1425" b="1" i="0">
                <a:solidFill>
                  <a:srgbClr val="F4F1E9"/>
                </a:solidFill>
              </a:rPr>
              <a:t>Next lesson: classify a changed case before reopening notes, then correct with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E82BE-F50B-4242-878A-6D4C351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60747A"/>
                </a:solidFill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60747A"/>
                </a:solidFill>
              </a:defRPr>
            </a:pPr>
            <a:r>
              <a:rPr sz="750" b="0" i="0">
                <a:solidFill>
                  <a:srgbClr val="60747A"/>
                </a:solidFill>
              </a:rPr>
              <a:t>Published lesson: ctwadden.github.io/digital-society-sl/lessons/economics-business-growth/</a:t>
            </a:r>
          </a:p>
        </p:txBody>
      </p:sp>
    </p:spTree>
    <p:extLst>
      <p:ext uri="{BB962C8B-B14F-4D97-AF65-F5344CB8AC3E}">
        <p14:creationId xmlns:p14="http://schemas.microsoft.com/office/powerpoint/2010/main" val="191042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2026-10-16T01:00:25.2370000Z</dcterms:created>
  <dcterms:modified xsi:type="dcterms:W3CDTF">2026-10-16T01:00:25.2370000Z</dcterms:modified>
</coreProperties>
</file>