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f8e8dc3f894e46" /><Relationship Type="http://schemas.openxmlformats.org/officeDocument/2006/relationships/extended-properties" Target="/docProps/app.xml" Id="R324c48b5ac8e435a" /><Relationship Type="http://schemas.openxmlformats.org/officeDocument/2006/relationships/officeDocument" Target="/ppt/presentation.xml" Id="R4d9673d8733f4b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bf1fdc8ed5486b"/>
  </p:sldMasterIdLst>
  <p:notesMasterIdLst>
    <p:notesMasterId xmlns:r="http://schemas.openxmlformats.org/officeDocument/2006/relationships" r:id="Raa3f60299104493e"/>
  </p:notesMasterIdLst>
  <p:sldIdLst>
    <p:sldId xmlns:r="http://schemas.openxmlformats.org/officeDocument/2006/relationships" id="256" r:id="R98ce6ad5bd78482b"/>
    <p:sldId xmlns:r="http://schemas.openxmlformats.org/officeDocument/2006/relationships" id="257" r:id="R486a39711cb64a54"/>
    <p:sldId xmlns:r="http://schemas.openxmlformats.org/officeDocument/2006/relationships" id="258" r:id="Rfdecb6c83a9a429c"/>
    <p:sldId xmlns:r="http://schemas.openxmlformats.org/officeDocument/2006/relationships" id="259" r:id="R478b06d50708497e"/>
    <p:sldId xmlns:r="http://schemas.openxmlformats.org/officeDocument/2006/relationships" id="260" r:id="R87d891127219450b"/>
    <p:sldId xmlns:r="http://schemas.openxmlformats.org/officeDocument/2006/relationships" id="261" r:id="R929b0ea0f9a14d56"/>
    <p:sldId xmlns:r="http://schemas.openxmlformats.org/officeDocument/2006/relationships" id="262" r:id="R9bd0c8f1925e4430"/>
    <p:sldId xmlns:r="http://schemas.openxmlformats.org/officeDocument/2006/relationships" id="263" r:id="R97e0827abbe7474e"/>
    <p:sldId xmlns:r="http://schemas.openxmlformats.org/officeDocument/2006/relationships" id="264" r:id="R4ff1a076ae8f4766"/>
    <p:sldId xmlns:r="http://schemas.openxmlformats.org/officeDocument/2006/relationships" id="265" r:id="R9d4261b2348c440b"/>
    <p:sldId xmlns:r="http://schemas.openxmlformats.org/officeDocument/2006/relationships" id="266" r:id="R0c6c2b14dc7b4dd1"/>
    <p:sldId xmlns:r="http://schemas.openxmlformats.org/officeDocument/2006/relationships" id="267" r:id="R4836c1f1e1b648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d825d430df4125" /><Relationship Type="http://schemas.openxmlformats.org/officeDocument/2006/relationships/slideMaster" Target="/ppt/slideMasters/slideMaster1.xml" Id="R0cbf1fdc8ed5486b" /><Relationship Type="http://schemas.openxmlformats.org/officeDocument/2006/relationships/notesMaster" Target="/ppt/notesMasters/notesMaster1.xml" Id="Raa3f60299104493e" /><Relationship Type="http://schemas.openxmlformats.org/officeDocument/2006/relationships/presProps" Target="/ppt/presProps.xml" Id="Rcc11e45f05944f74" /><Relationship Type="http://schemas.openxmlformats.org/officeDocument/2006/relationships/tableStyles" Target="/ppt/tableStyles.xml" Id="Re963d88582bb4302" /><Relationship Type="http://schemas.openxmlformats.org/officeDocument/2006/relationships/slide" Target="/ppt/slides/slide1.xml" Id="R98ce6ad5bd78482b" /><Relationship Type="http://schemas.openxmlformats.org/officeDocument/2006/relationships/slide" Target="/ppt/slides/slide2.xml" Id="R486a39711cb64a54" /><Relationship Type="http://schemas.openxmlformats.org/officeDocument/2006/relationships/slide" Target="/ppt/slides/slide3.xml" Id="Rfdecb6c83a9a429c" /><Relationship Type="http://schemas.openxmlformats.org/officeDocument/2006/relationships/slide" Target="/ppt/slides/slide4.xml" Id="R478b06d50708497e" /><Relationship Type="http://schemas.openxmlformats.org/officeDocument/2006/relationships/slide" Target="/ppt/slides/slide5.xml" Id="R87d891127219450b" /><Relationship Type="http://schemas.openxmlformats.org/officeDocument/2006/relationships/slide" Target="/ppt/slides/slide6.xml" Id="R929b0ea0f9a14d56" /><Relationship Type="http://schemas.openxmlformats.org/officeDocument/2006/relationships/slide" Target="/ppt/slides/slide7.xml" Id="R9bd0c8f1925e4430" /><Relationship Type="http://schemas.openxmlformats.org/officeDocument/2006/relationships/slide" Target="/ppt/slides/slide8.xml" Id="R97e0827abbe7474e" /><Relationship Type="http://schemas.openxmlformats.org/officeDocument/2006/relationships/slide" Target="/ppt/slides/slide9.xml" Id="R4ff1a076ae8f4766" /><Relationship Type="http://schemas.openxmlformats.org/officeDocument/2006/relationships/slide" Target="/ppt/slides/slide10.xml" Id="R9d4261b2348c440b" /><Relationship Type="http://schemas.openxmlformats.org/officeDocument/2006/relationships/slide" Target="/ppt/slides/slide11.xml" Id="R0c6c2b14dc7b4dd1" /><Relationship Type="http://schemas.openxmlformats.org/officeDocument/2006/relationships/slide" Target="/ppt/slides/slide12.xml" Id="R4836c1f1e1b648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a3cebb212c4c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aec63a01cf497e" /><Relationship Type="http://schemas.openxmlformats.org/officeDocument/2006/relationships/notesMaster" Target="/ppt/notesMasters/notesMaster1.xml" Id="R4bf3bfee6f6f49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45fe16ea0740f9" /><Relationship Type="http://schemas.openxmlformats.org/officeDocument/2006/relationships/notesMaster" Target="/ppt/notesMasters/notesMaster1.xml" Id="R650f4f5c978d45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c23684e52245fc" /><Relationship Type="http://schemas.openxmlformats.org/officeDocument/2006/relationships/notesMaster" Target="/ppt/notesMasters/notesMaster1.xml" Id="R9da9ca420b7a43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85c7529a404071" /><Relationship Type="http://schemas.openxmlformats.org/officeDocument/2006/relationships/notesMaster" Target="/ppt/notesMasters/notesMaster1.xml" Id="R98b2dc45f60d4b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cbafd3fe3c4c2d" /><Relationship Type="http://schemas.openxmlformats.org/officeDocument/2006/relationships/notesMaster" Target="/ppt/notesMasters/notesMaster1.xml" Id="Rcc249f84126a43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09e9993aa245b3" /><Relationship Type="http://schemas.openxmlformats.org/officeDocument/2006/relationships/notesMaster" Target="/ppt/notesMasters/notesMaster1.xml" Id="R22514e01bfb84a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6c120de5cb461b" /><Relationship Type="http://schemas.openxmlformats.org/officeDocument/2006/relationships/notesMaster" Target="/ppt/notesMasters/notesMaster1.xml" Id="Rfc436f1101b546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e60ce2d9c142e8" /><Relationship Type="http://schemas.openxmlformats.org/officeDocument/2006/relationships/notesMaster" Target="/ppt/notesMasters/notesMaster1.xml" Id="R80e08ad2a0804b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11a5375f2e4c80" /><Relationship Type="http://schemas.openxmlformats.org/officeDocument/2006/relationships/notesMaster" Target="/ppt/notesMasters/notesMaster1.xml" Id="R933bbeac463c49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54eedbdcc84dde" /><Relationship Type="http://schemas.openxmlformats.org/officeDocument/2006/relationships/notesMaster" Target="/ppt/notesMasters/notesMaster1.xml" Id="R906faf7555b047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6340b738884ac5" /><Relationship Type="http://schemas.openxmlformats.org/officeDocument/2006/relationships/notesMaster" Target="/ppt/notesMasters/notesMaster1.xml" Id="R151806ef21a642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66962d53d3432d" /><Relationship Type="http://schemas.openxmlformats.org/officeDocument/2006/relationships/notesMaster" Target="/ppt/notesMasters/notesMaster1.xml" Id="R7635050de6b54d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question: When a one-click order feels effortless, which people and systems made that convenience possible?</a:t>
            </a:r>
          </a:p>
          <a:p xmlns:a="http://schemas.openxmlformats.org/drawingml/2006/main">
            <a:r>
              <a:t>Visual is an AI-generated fictional conceptual illustration, not documentary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lesson's recurring map. Do not treat economics as money alone; data and control explain how decisions are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Chapter anchor: Bomfim et al., Digital Society for the IB Diploma (2022), 4.2A pp. 213–214. Visual is AI-generated and fictional.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Chapter anchor: Bomfim et al. (2022), 4.2A pp. 214–215. Prompt students to distinguish diversification from workforce diversity.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Expected: buying the supplier is vertical growth; opening an unrelated phone-repair shop is conglomerate growth. Accept a different answer only if a student identifies a genuinely ambiguous scenario assumption.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Push students to name the stakeholder each cost or benefit belongs to. The same item should not be treated as universally positive or negative.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Northstar is fictional; all values are synthetic teaching assumptions. Students should state results as: In this model, under these assumptions…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comparison from the classroom model: vertical completes 100 orders, operating surplus $180, first-round cash -$1,020 after setup. Values are synthetic.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Amazon, 18 Oct 2023: Sequoia announcement. Company claim says incoming inventory can be identified and stored up to 75% faster.</a:t>
            </a:r>
          </a:p>
          <a:p xmlns:a="http://schemas.openxmlformats.org/drawingml/2006/main">
            <a:r>
              <a:t>US Department of Labor, 19 Dec 2024: corporate-wide ergonomic settlement. https://content.govdelivery.com/accounts/USDOL/bulletins/3c851a6</a:t>
            </a:r>
          </a:p>
          <a:p xmlns:a="http://schemas.openxmlformats.org/drawingml/2006/main">
            <a:r>
              <a:t>Visual is conceptual, not a photograph of either cited event.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accept a vocabulary cloud. Every arrow needs a reason, and every asserted real-world relationship needs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choose one manageable route and one question about efficiency, power or resilience. The route may be a physical product order or a bounded digital service chain.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Collect this response before students reopen notes. It is the transfer check for growth classification, dependency and evidence awareness.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a2b2450284e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cdac2321dc4d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29e1e6b26645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5965cce65e4b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4fc6bcb644404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f59f907f649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CE105E3-CC74-4F21-BA16-810BC7008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C952022-8238-49EC-89A1-59FE4A93EE6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72B795-577C-40A5-8797-0E43E7373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643CF8-13AD-4159-B435-2566230A08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681308-6C40-4933-864F-F73CBB9236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C8D510-B1A9-4CD9-8EFD-6FC84AB2AC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E8C2017-0867-4614-9D29-881547CD33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F06ADA0-29F8-4DAD-B2D9-D81F210FB2C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3F9CD5-E20E-422D-ACBF-CB05DF6EA1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7FC6BC-C389-4A4B-A690-120C0EF0B9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8287d9646541a1" /><Relationship Type="http://schemas.openxmlformats.org/officeDocument/2006/relationships/slideLayout" Target="/ppt/slideLayouts/slideLayout1.xml" Id="Rb23825bfe3c14e4c" /><Relationship Type="http://schemas.openxmlformats.org/officeDocument/2006/relationships/slideLayout" Target="/ppt/slideLayouts/slideLayout2.xml" Id="Re1a06573a3884fad" /><Relationship Type="http://schemas.openxmlformats.org/officeDocument/2006/relationships/slideLayout" Target="/ppt/slideLayouts/slideLayout3.xml" Id="R795a78bc1f06403a" /><Relationship Type="http://schemas.openxmlformats.org/officeDocument/2006/relationships/slideLayout" Target="/ppt/slideLayouts/slideLayout4.xml" Id="R55d82500a09e4cb5" /><Relationship Type="http://schemas.openxmlformats.org/officeDocument/2006/relationships/slideLayout" Target="/ppt/slideLayouts/slideLayout5.xml" Id="R236c589e65904234" /><Relationship Type="http://schemas.openxmlformats.org/officeDocument/2006/relationships/slideLayout" Target="/ppt/slideLayouts/slideLayout6.xml" Id="R866bb8dd628f4c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3825bfe3c14e4c"/>
    <p:sldLayoutId xmlns:r="http://schemas.openxmlformats.org/officeDocument/2006/relationships" id="2147483650" r:id="Re1a06573a3884fad"/>
    <p:sldLayoutId xmlns:r="http://schemas.openxmlformats.org/officeDocument/2006/relationships" id="2147483651" r:id="R795a78bc1f06403a"/>
    <p:sldLayoutId xmlns:r="http://schemas.openxmlformats.org/officeDocument/2006/relationships" id="2147483652" r:id="R55d82500a09e4cb5"/>
    <p:sldLayoutId xmlns:r="http://schemas.openxmlformats.org/officeDocument/2006/relationships" id="2147483653" r:id="R236c589e65904234"/>
    <p:sldLayoutId xmlns:r="http://schemas.openxmlformats.org/officeDocument/2006/relationships" id="2147483654" r:id="R866bb8dd628f4c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dd4941ec274c98" /><Relationship Type="http://schemas.openxmlformats.org/officeDocument/2006/relationships/image" Target="/ppt/media/image.png" Id="Rc362e22af2a849b9" /><Relationship Type="http://schemas.openxmlformats.org/officeDocument/2006/relationships/notesSlide" Target="/ppt/notesSlides/notesSlide1.xml" Id="R6f9fc628e2ba4d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6511e623db4733" /><Relationship Type="http://schemas.openxmlformats.org/officeDocument/2006/relationships/notesSlide" Target="/ppt/notesSlides/notesSlide2.xml" Id="R56fce7d5d27b4c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4bb22059b44c4e" /><Relationship Type="http://schemas.openxmlformats.org/officeDocument/2006/relationships/image" Target="/ppt/media/image2.png" Id="Rd4553b8300ff4e1b" /><Relationship Type="http://schemas.openxmlformats.org/officeDocument/2006/relationships/notesSlide" Target="/ppt/notesSlides/notesSlide3.xml" Id="R8c2943ba409a41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a3916f36fb4ef7" /><Relationship Type="http://schemas.openxmlformats.org/officeDocument/2006/relationships/image" Target="/ppt/media/image3.png" Id="Reac1423cde594706" /><Relationship Type="http://schemas.openxmlformats.org/officeDocument/2006/relationships/notesSlide" Target="/ppt/notesSlides/notesSlide4.xml" Id="Rbbb035fa9bf342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91f138cd364f02" /><Relationship Type="http://schemas.openxmlformats.org/officeDocument/2006/relationships/notesSlide" Target="/ppt/notesSlides/notesSlide5.xml" Id="R8e233ee526d34b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3681a935404fca" /><Relationship Type="http://schemas.openxmlformats.org/officeDocument/2006/relationships/notesSlide" Target="/ppt/notesSlides/notesSlide6.xml" Id="R8ed2c6db070b49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38f24bcb164243" /><Relationship Type="http://schemas.openxmlformats.org/officeDocument/2006/relationships/image" Target="/ppt/media/image4.png" Id="R69dc15cb753641a5" /><Relationship Type="http://schemas.openxmlformats.org/officeDocument/2006/relationships/notesSlide" Target="/ppt/notesSlides/notesSlide7.xml" Id="R0c013a28eb4845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376d40640c4cd6" /><Relationship Type="http://schemas.openxmlformats.org/officeDocument/2006/relationships/notesSlide" Target="/ppt/notesSlides/notesSlide8.xml" Id="R30cdef55576249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363de7db1f403c" /><Relationship Type="http://schemas.openxmlformats.org/officeDocument/2006/relationships/image" Target="/ppt/media/image5.png" Id="Rd64a86af85b44536" /><Relationship Type="http://schemas.openxmlformats.org/officeDocument/2006/relationships/notesSlide" Target="/ppt/notesSlides/notesSlide9.xml" Id="Rcc922476bece4a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81a2c8fcc646c4" /><Relationship Type="http://schemas.openxmlformats.org/officeDocument/2006/relationships/notesSlide" Target="/ppt/notesSlides/notesSlide10.xml" Id="Rfaddc231d11e47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5594ce644748e5" /><Relationship Type="http://schemas.openxmlformats.org/officeDocument/2006/relationships/image" Target="/ppt/media/image6.png" Id="R010f6c5a8cff495e" /><Relationship Type="http://schemas.openxmlformats.org/officeDocument/2006/relationships/notesSlide" Target="/ppt/notesSlides/notesSlide11.xml" Id="Rfc9dcb2e1beb4c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dfc5f699404ad1" /><Relationship Type="http://schemas.openxmlformats.org/officeDocument/2006/relationships/notesSlide" Target="/ppt/notesSlides/notesSlide12.xml" Id="R0b84fd543c4449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CE5B0-95B6-4A5D-AD42-EEAB3CEBF6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62e22af2a849b9"/>
          <a:srcRect xmlns:a="http://schemas.openxmlformats.org/drawingml/2006/main" l="20297" t="0" r="20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0"/>
            <a:ext cx="7239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6517E-D607-478B-A18B-1371C565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F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C54E9-CD50-45BE-BBD9-B7736BD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IB DIGITAL SOCIETY · ECONOMIC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57EF6-D904-4122-982C-9C8EE58E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4857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12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4125" b="1" i="0">
                <a:solidFill>
                  <a:srgbClr val="F4F1E9"/>
                </a:solidFill>
              </a:defRPr>
            </a:pPr>
            <a:r>
              <a:rPr sz="4125" b="1" i="0">
                <a:solidFill>
                  <a:srgbClr val="F4F1E9"/>
                </a:solidFill>
              </a:rPr>
              <a:t>When a business grows, who gains?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303B2-0948-4C16-8A7C-BAB574F1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4381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1800" b="0" i="0">
                <a:solidFill>
                  <a:srgbClr val="B9C8CC"/>
                </a:solidFill>
              </a:defRPr>
            </a:pPr>
            <a:r>
              <a:rPr sz="1800" b="0" i="0">
                <a:solidFill>
                  <a:srgbClr val="B9C8CC"/>
                </a:solidFill>
              </a:rPr>
              <a:t>From a single click to the systems, workers and rules behind business growth.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7A138-9C1B-44D6-B494-448A1E29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39433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1B78A-BF80-4C59-A5E5-FA28CC9F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721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74D3C6"/>
                </a:solidFill>
              </a:defRPr>
            </a:pPr>
            <a:r>
              <a:rPr sz="1350" b="1" i="0">
                <a:solidFill>
                  <a:srgbClr val="74D3C6"/>
                </a:solidFill>
              </a:rPr>
              <a:t>SEE IT  →  TEST IT  →  JUDGE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817D73-15C7-489D-9C44-874844D7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Operation 7 · Lesson + Northstar decision lab</a:t>
            </a:r>
          </a:p>
        </p:txBody>
      </p:sp>
    </p:spTree>
    <p:extLst>
      <p:ext uri="{BB962C8B-B14F-4D97-AF65-F5344CB8AC3E}">
        <p14:creationId xmlns:p14="http://schemas.microsoft.com/office/powerpoint/2010/main" val="11112342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963956-320C-406F-AD2F-01890D3C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START HERE · THE TOPIC IN ONE 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5DEDE-8A64-47AC-B5C4-21E79697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E6951-B24E-498A-8009-166610C9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600" b="1" i="0">
                <a:solidFill>
                  <a:srgbClr val="F4F1E9"/>
                </a:solidFill>
              </a:defRPr>
            </a:pPr>
            <a:r>
              <a:rPr sz="3600" b="1" i="0">
                <a:solidFill>
                  <a:srgbClr val="F4F1E9"/>
                </a:solidFill>
              </a:rPr>
              <a:t>Economics asks how digital systems move value—and power.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315B3-1EF8-4D0A-8968-14E762EF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514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F9072-BE8B-45D5-8FBD-14F4B5A2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EFBB65"/>
                </a:solidFill>
              </a:defRPr>
            </a:pPr>
            <a:r>
              <a:rPr sz="1575" b="1" i="0">
                <a:solidFill>
                  <a:srgbClr val="EFBB65"/>
                </a:solidFill>
              </a:rPr>
              <a:t>GOODS / SERVICE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50898-DDE1-4316-A56A-E774C9D2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What reaches the user?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79559-73B6-4D9D-A930-704E160D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2514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7E0611-3208-48D2-B8FB-AD766F70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860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EFBB65"/>
                </a:solidFill>
              </a:defRPr>
            </a:pPr>
            <a:r>
              <a:rPr sz="1575" b="1" i="0">
                <a:solidFill>
                  <a:srgbClr val="EFBB65"/>
                </a:solidFill>
              </a:rPr>
              <a:t>MONEY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81897-9C74-419B-89CC-F4A95F3D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385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Who pays whom?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5A49E4-F8B0-4D8E-B170-C7EA074B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57450"/>
            <a:ext cx="2514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88C010-1431-496E-A605-4E407768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EFBB65"/>
                </a:solidFill>
              </a:defRPr>
            </a:pPr>
            <a:r>
              <a:rPr sz="1575" b="1" i="0">
                <a:solidFill>
                  <a:srgbClr val="EFBB65"/>
                </a:solidFill>
              </a:rPr>
              <a:t>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CBD90-04DD-42D6-9A59-CC4F08E5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What coordinates the decision?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6EF546-DC4D-46FC-9103-A52A50A6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57450"/>
            <a:ext cx="25146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84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BDFC8-81AE-414E-98FB-CE463AF5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860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EFBB65"/>
                </a:solidFill>
              </a:defRPr>
            </a:pPr>
            <a:r>
              <a:rPr sz="1575" b="1" i="0">
                <a:solidFill>
                  <a:srgbClr val="EFBB65"/>
                </a:solidFill>
              </a:rPr>
              <a:t>CONTROL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2093-8664-4CD0-8609-AA4AF1BD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385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Who can change the rule?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F6340A-7B41-461D-A175-9DD8C0E1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885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74D3C6"/>
                </a:solidFill>
              </a:defRPr>
            </a:pPr>
            <a:r>
              <a:rPr sz="2100" b="1" i="0">
                <a:solidFill>
                  <a:srgbClr val="74D3C6"/>
                </a:solidFill>
              </a:rPr>
              <a:t>The same system can create convenience for one stakeholder and a new dependency for another.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CB3ACE-8D7B-4EBC-A0D3-429F787D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F4F1E9"/>
                </a:solidFill>
              </a:defRPr>
            </a:pPr>
            <a:r>
              <a:rPr sz="1575" b="0" i="0">
                <a:solidFill>
                  <a:srgbClr val="F4F1E9"/>
                </a:solidFill>
              </a:rPr>
              <a:t>Ask throughout: useful to whom, costly to whom, and under what conditions?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DAF303-673C-46A4-8B99-A18BDB80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IBDS lens: systems · power · stakeholders · impacts and implications</a:t>
            </a:r>
          </a:p>
        </p:txBody>
      </p:sp>
    </p:spTree>
    <p:extLst>
      <p:ext uri="{BB962C8B-B14F-4D97-AF65-F5344CB8AC3E}">
        <p14:creationId xmlns:p14="http://schemas.microsoft.com/office/powerpoint/2010/main" val="5018336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7137D8-0B38-4757-8CDE-70EA0F60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MECHANISM · TRANSACTION PROCESSING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7ED96E-5788-4AD8-BD23-00713686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52795-140D-484E-B04F-6A00F47C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5619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675" b="1" i="0">
                <a:solidFill>
                  <a:srgbClr val="F4F1E9"/>
                </a:solidFill>
              </a:defRPr>
            </a:pPr>
            <a:r>
              <a:rPr sz="3675" b="1" i="0">
                <a:solidFill>
                  <a:srgbClr val="F4F1E9"/>
                </a:solidFill>
              </a:rPr>
              <a:t>A sale becomes data—and then a decision.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78DA8-41CA-4A0A-9AEF-396185B7E1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53b8300ff4e1b"/>
          <a:srcRect xmlns:a="http://schemas.openxmlformats.org/drawingml/2006/main" l="20748" t="0" r="2074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609600"/>
            <a:ext cx="5010150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DFE9C-A8FA-417D-91B6-8A07B567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519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38374-EFD1-498E-A938-41147483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908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EFBB65"/>
                </a:solidFill>
              </a:defRPr>
            </a:pPr>
            <a:r>
              <a:rPr sz="1650" b="1" i="0">
                <a:solidFill>
                  <a:srgbClr val="EFBB65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283BF-CAF3-49BC-B7AC-A558E09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71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74D3C6"/>
                </a:solidFill>
              </a:defRPr>
            </a:pPr>
            <a:r>
              <a:rPr sz="1500" b="1" i="0">
                <a:solidFill>
                  <a:srgbClr val="74D3C6"/>
                </a:solidFill>
              </a:rPr>
              <a:t>SCAN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21134-988A-41C8-BAF3-9DCB8774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09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425" b="0" i="0">
                <a:solidFill>
                  <a:srgbClr val="F4F1E9"/>
                </a:solidFill>
              </a:defRPr>
            </a:pPr>
            <a:r>
              <a:rPr sz="1425" b="0" i="0">
                <a:solidFill>
                  <a:srgbClr val="F4F1E9"/>
                </a:solidFill>
              </a:rPr>
              <a:t>item + quantity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54A8CA-735A-4C87-9BD6-FCCAA834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9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08696-9FA0-4897-9FA8-D9107A4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7187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EFBB65"/>
                </a:solidFill>
              </a:defRPr>
            </a:pPr>
            <a:r>
              <a:rPr sz="1650" b="1" i="0">
                <a:solidFill>
                  <a:srgbClr val="EFBB6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1D46B2-54DB-4018-BF2C-9D4FE449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528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74D3C6"/>
                </a:solidFill>
              </a:defRPr>
            </a:pPr>
            <a:r>
              <a:rPr sz="1500" b="1" i="0">
                <a:solidFill>
                  <a:srgbClr val="74D3C6"/>
                </a:solidFill>
              </a:rPr>
              <a:t>RECORD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11647-6367-401C-BE87-64C7D208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62350"/>
            <a:ext cx="309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425" b="0" i="0">
                <a:solidFill>
                  <a:srgbClr val="F4F1E9"/>
                </a:solidFill>
              </a:defRPr>
            </a:pPr>
            <a:r>
              <a:rPr sz="1425" b="0" i="0">
                <a:solidFill>
                  <a:srgbClr val="F4F1E9"/>
                </a:solidFill>
              </a:rPr>
              <a:t>sale + 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A2EAF2-49EF-43A3-ACA9-B72DC6EE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19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71D21-E938-45FC-B3A2-50CE012B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292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EFBB65"/>
                </a:solidFill>
              </a:defRPr>
            </a:pPr>
            <a:r>
              <a:rPr sz="1650" b="1" i="0">
                <a:solidFill>
                  <a:srgbClr val="EFBB6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4173E8-0116-43CF-90EB-40AA91FF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74D3C6"/>
                </a:solidFill>
              </a:defRPr>
            </a:pPr>
            <a:r>
              <a:rPr sz="1500" b="1" i="0">
                <a:solidFill>
                  <a:srgbClr val="74D3C6"/>
                </a:solidFill>
              </a:rPr>
              <a:t>CHECK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1B5CB7-C4CC-4DA7-BC79-EEC98C48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43400"/>
            <a:ext cx="309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425" b="0" i="0">
                <a:solidFill>
                  <a:srgbClr val="F4F1E9"/>
                </a:solidFill>
              </a:defRPr>
            </a:pPr>
            <a:r>
              <a:rPr sz="1425" b="0" i="0">
                <a:solidFill>
                  <a:srgbClr val="F4F1E9"/>
                </a:solidFill>
              </a:rPr>
              <a:t>stock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13D2FD-6DA2-429F-B9E7-54A2AF0E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51911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84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1E560-365F-42E6-8240-37AD4159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33975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EFBB65"/>
                </a:solidFill>
              </a:defRPr>
            </a:pPr>
            <a:r>
              <a:rPr sz="1650" b="1" i="0">
                <a:solidFill>
                  <a:srgbClr val="EFBB65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275503-F98E-4515-BB16-5EA1BF81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149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74D3C6"/>
                </a:solidFill>
              </a:defRPr>
            </a:pPr>
            <a:r>
              <a:rPr sz="1500" b="1" i="0">
                <a:solidFill>
                  <a:srgbClr val="74D3C6"/>
                </a:solidFill>
              </a:rPr>
              <a:t>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FD60E-D8C9-4C11-9464-954D7B53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24450"/>
            <a:ext cx="309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425" b="0" i="0">
                <a:solidFill>
                  <a:srgbClr val="F4F1E9"/>
                </a:solidFill>
              </a:defRPr>
            </a:pPr>
            <a:r>
              <a:rPr sz="1425" b="0" i="0">
                <a:solidFill>
                  <a:srgbClr val="F4F1E9"/>
                </a:solidFill>
              </a:rPr>
              <a:t>reorder / deliver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E8A134-F40B-4AA5-8146-EA59C7CA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EFBB65"/>
                </a:solidFill>
              </a:defRPr>
            </a:pPr>
            <a:r>
              <a:rPr sz="1800" b="1" i="0">
                <a:solidFill>
                  <a:srgbClr val="EFBB65"/>
                </a:solidFill>
              </a:rPr>
              <a:t>Purpose is not proof of impact.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590FA-AEC3-4CC7-91A6-6A867E08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Conceptual illustration · trace input → processing → output → purpose</a:t>
            </a:r>
          </a:p>
        </p:txBody>
      </p:sp>
    </p:spTree>
    <p:extLst>
      <p:ext uri="{BB962C8B-B14F-4D97-AF65-F5344CB8AC3E}">
        <p14:creationId xmlns:p14="http://schemas.microsoft.com/office/powerpoint/2010/main" val="12953613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82CDDC-FCFF-4CE6-A0A5-99CE9F94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FRAMEWORK · FOUR DIRECTIONS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7C80EB-3980-4C04-A875-A16371B6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8A8A0E-00C9-4C8F-81CC-314A7D98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5810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52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525" b="1" i="0">
                <a:solidFill>
                  <a:srgbClr val="F4F1E9"/>
                </a:solidFill>
              </a:defRPr>
            </a:pPr>
            <a:r>
              <a:rPr sz="3525" b="1" i="0">
                <a:solidFill>
                  <a:srgbClr val="F4F1E9"/>
                </a:solidFill>
              </a:rPr>
              <a:t>Growth changes the offer, chain, audience or industry.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061C5-B8D3-4C2D-8500-59AE1B3029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1423cde594706"/>
          <a:srcRect xmlns:a="http://schemas.openxmlformats.org/drawingml/2006/main" l="25378" t="0" r="2537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A94F44-1621-4DFF-B724-16B89186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0D61B-F4AF-4673-9B73-32123CB8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OFFER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57C57C-4A01-4CFF-B304-6387D2CE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90825"/>
            <a:ext cx="2047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74D3C6"/>
                </a:solidFill>
              </a:defRPr>
            </a:pPr>
            <a:r>
              <a:rPr sz="1575" b="1" i="0">
                <a:solidFill>
                  <a:srgbClr val="74D3C6"/>
                </a:solidFill>
              </a:rPr>
              <a:t>Horizontal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4EDE8-2524-46BD-A1D2-4D23E20A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2047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4F1E9"/>
                </a:solidFill>
              </a:defRPr>
            </a:pPr>
            <a:r>
              <a:rPr sz="1200" b="0" i="0">
                <a:solidFill>
                  <a:srgbClr val="F4F1E9"/>
                </a:solidFill>
              </a:rPr>
              <a:t>add pens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2CC2C8-8F7B-47C8-87FA-BEC220BE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812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38A23C-1579-4F0E-BAB8-259B721D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146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CHAIN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F8154-95A6-494A-81AD-8F53DA78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90825"/>
            <a:ext cx="2047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74D3C6"/>
                </a:solidFill>
              </a:defRPr>
            </a:pPr>
            <a:r>
              <a:rPr sz="1575" b="1" i="0">
                <a:solidFill>
                  <a:srgbClr val="74D3C6"/>
                </a:solidFill>
              </a:rPr>
              <a:t>Vertical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1E7518-F596-4300-B21A-476B1051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62300"/>
            <a:ext cx="2047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4F1E9"/>
                </a:solidFill>
              </a:defRPr>
            </a:pPr>
            <a:r>
              <a:rPr sz="1200" b="0" i="0">
                <a:solidFill>
                  <a:srgbClr val="F4F1E9"/>
                </a:solidFill>
              </a:rPr>
              <a:t>own delivery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FA2BFD-CE13-4C20-8137-DF931B44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EBF19-77D6-4546-8823-0A19C3DD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243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AUDIENCE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A008D-A33C-4969-B453-668C123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00525"/>
            <a:ext cx="2047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74D3C6"/>
                </a:solidFill>
              </a:defRPr>
            </a:pPr>
            <a:r>
              <a:rPr sz="1575" b="1" i="0">
                <a:solidFill>
                  <a:srgbClr val="74D3C6"/>
                </a:solidFill>
              </a:rPr>
              <a:t>Concentric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3260E1-10A2-46E4-B45B-D96C380C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2047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4F1E9"/>
                </a:solidFill>
              </a:defRPr>
            </a:pPr>
            <a:r>
              <a:rPr sz="1200" b="0" i="0">
                <a:solidFill>
                  <a:srgbClr val="F4F1E9"/>
                </a:solidFill>
              </a:rPr>
              <a:t>school kits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F5803-1867-4F66-81F0-584B7361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909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8B175E-41B2-4E1C-8122-3841D78A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9243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INDUSTRY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00202F-2C20-4A3E-8FF0-AE334F56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00525"/>
            <a:ext cx="2047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74D3C6"/>
                </a:solidFill>
              </a:defRPr>
            </a:pPr>
            <a:r>
              <a:rPr sz="1575" b="1" i="0">
                <a:solidFill>
                  <a:srgbClr val="74D3C6"/>
                </a:solidFill>
              </a:rPr>
              <a:t>Conglomerate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F2768F-6196-4709-A2E7-EF796F24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572000"/>
            <a:ext cx="2047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00" b="0" i="0">
                <a:solidFill>
                  <a:srgbClr val="F4F1E9"/>
                </a:solidFill>
              </a:defRPr>
            </a:pPr>
            <a:r>
              <a:rPr sz="1200" b="0" i="0">
                <a:solidFill>
                  <a:srgbClr val="F4F1E9"/>
                </a:solidFill>
              </a:rPr>
              <a:t>bike repair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D5B20A-7EF7-4038-98D9-40877A17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F4F1E9"/>
                </a:solidFill>
              </a:defRPr>
            </a:pPr>
            <a:r>
              <a:rPr sz="1725" b="1" i="0">
                <a:solidFill>
                  <a:srgbClr val="F4F1E9"/>
                </a:solidFill>
              </a:rPr>
              <a:t>Classify the specified move—not the whole company.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848A33-C08E-4A61-938E-208A369B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Northstar is fictional · the framework is chapter-aligned</a:t>
            </a:r>
          </a:p>
        </p:txBody>
      </p:sp>
    </p:spTree>
    <p:extLst>
      <p:ext uri="{BB962C8B-B14F-4D97-AF65-F5344CB8AC3E}">
        <p14:creationId xmlns:p14="http://schemas.microsoft.com/office/powerpoint/2010/main" val="1400910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504D37-0043-4ED7-BDDC-D604123A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875612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875612"/>
                </a:solidFill>
              </a:defRPr>
            </a:pPr>
            <a:r>
              <a:rPr sz="975" b="1" i="0">
                <a:solidFill>
                  <a:srgbClr val="875612"/>
                </a:solidFill>
              </a:rPr>
              <a:t>HINGE CHECK · CLASSIFY AND DEFEND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EFC26E-8FF5-4FDA-A844-0660CE0A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60747A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60747A"/>
                </a:solidFill>
              </a:defRPr>
            </a:pPr>
            <a:r>
              <a:rPr sz="900" b="1" i="0">
                <a:solidFill>
                  <a:srgbClr val="60747A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C7A38-D4DF-46BF-878D-FF9469EF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38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450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3450" b="1" i="0">
                <a:solidFill>
                  <a:srgbClr val="132D38"/>
                </a:solidFill>
              </a:defRPr>
            </a:pPr>
            <a:r>
              <a:rPr sz="3450" b="1" i="0">
                <a:solidFill>
                  <a:srgbClr val="132D38"/>
                </a:solidFill>
              </a:rPr>
              <a:t>What changed—and what new responsibility appeared?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88AD2F-BADE-435E-9020-AB59E2FF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1435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DC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0AC5BF-410E-4153-94DF-5C555CEC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2175" b="1" i="0">
                <a:solidFill>
                  <a:srgbClr val="132D38"/>
                </a:solidFill>
              </a:defRPr>
            </a:pPr>
            <a:r>
              <a:rPr sz="2175" b="1" i="0">
                <a:solidFill>
                  <a:srgbClr val="132D38"/>
                </a:solidFill>
              </a:rPr>
              <a:t>A bakery buys its flour supplier.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061F5-C4C0-49E1-BF1B-730199C9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9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195E5C"/>
                </a:solidFill>
              </a:defRPr>
            </a:pPr>
            <a:r>
              <a:rPr sz="1125" b="1" i="0">
                <a:solidFill>
                  <a:srgbClr val="195E5C"/>
                </a:solidFill>
              </a:rPr>
              <a:t>Your classification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D696D-4459-4B33-8DF7-1EACC0F5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0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650" b="0" i="0">
                <a:solidFill>
                  <a:srgbClr val="132D38"/>
                </a:solidFill>
              </a:defRPr>
            </a:pPr>
            <a:r>
              <a:rPr sz="1650" b="0" i="0">
                <a:solidFill>
                  <a:srgbClr val="132D38"/>
                </a:solidFill>
              </a:rPr>
              <a:t>________________________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948D0F-39DB-4583-AACE-287E05B5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195E5C"/>
                </a:solidFill>
              </a:defRPr>
            </a:pPr>
            <a:r>
              <a:rPr sz="1125" b="1" i="0">
                <a:solidFill>
                  <a:srgbClr val="195E5C"/>
                </a:solidFill>
              </a:rPr>
              <a:t>New responsibility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D0FFB-1E73-4A61-82EB-162FC874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51435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E8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32BEB-F188-45DF-A9BE-AED3E914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2175" b="1" i="0">
                <a:solidFill>
                  <a:srgbClr val="132D38"/>
                </a:solidFill>
              </a:defRPr>
            </a:pPr>
            <a:r>
              <a:rPr sz="2175" b="1" i="0">
                <a:solidFill>
                  <a:srgbClr val="132D38"/>
                </a:solidFill>
              </a:rPr>
              <a:t>A bakery opens a phone-repair shop.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6C617D-9256-463D-8086-3702CE47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099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875612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875612"/>
                </a:solidFill>
              </a:defRPr>
            </a:pPr>
            <a:r>
              <a:rPr sz="1125" b="1" i="0">
                <a:solidFill>
                  <a:srgbClr val="875612"/>
                </a:solidFill>
              </a:rPr>
              <a:t>Your classification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12484-41EB-43B8-A27C-D1A8AD45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0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650" b="0" i="0">
                <a:solidFill>
                  <a:srgbClr val="132D38"/>
                </a:solidFill>
              </a:defRPr>
            </a:pPr>
            <a:r>
              <a:rPr sz="1650" b="0" i="0">
                <a:solidFill>
                  <a:srgbClr val="132D38"/>
                </a:solidFill>
              </a:rPr>
              <a:t>________________________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C95E1-F680-4DC3-81D7-90DFEAF3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48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875612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875612"/>
                </a:solidFill>
              </a:defRPr>
            </a:pPr>
            <a:r>
              <a:rPr sz="1125" b="1" i="0">
                <a:solidFill>
                  <a:srgbClr val="875612"/>
                </a:solidFill>
              </a:rPr>
              <a:t>New responsibility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52114-0A86-4741-96BA-9D1E62C0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38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195E5C"/>
                </a:solidFill>
              </a:defRPr>
            </a:pPr>
            <a:r>
              <a:rPr sz="1725" b="1" i="0">
                <a:solidFill>
                  <a:srgbClr val="195E5C"/>
                </a:solidFill>
              </a:rPr>
              <a:t>If two answers differ, identify the scenario detail that would settle the boundary.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400DDE-09AC-4BC9-A02D-16F8A50D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60747A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60747A"/>
                </a:solidFill>
              </a:defRPr>
            </a:pPr>
            <a:r>
              <a:rPr sz="750" b="0" i="0">
                <a:solidFill>
                  <a:srgbClr val="60747A"/>
                </a:solidFill>
              </a:rPr>
              <a:t>Individual first · compare second · revise only with a reason</a:t>
            </a:r>
          </a:p>
        </p:txBody>
      </p:sp>
    </p:spTree>
    <p:extLst>
      <p:ext uri="{BB962C8B-B14F-4D97-AF65-F5344CB8AC3E}">
        <p14:creationId xmlns:p14="http://schemas.microsoft.com/office/powerpoint/2010/main" val="1255468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51AA84-D194-4842-A350-983787A7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DECISION LENS · NO SINGLE GOOD/BAD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7D844-35C7-4B31-AA7B-E3B18342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94F15F-D090-43F8-A887-7B60472F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96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600" b="1" i="0">
                <a:solidFill>
                  <a:srgbClr val="F4F1E9"/>
                </a:solidFill>
              </a:defRPr>
            </a:pPr>
            <a:r>
              <a:rPr sz="3600" b="1" i="0">
                <a:solidFill>
                  <a:srgbClr val="F4F1E9"/>
                </a:solidFill>
              </a:rPr>
              <a:t>Every growth move creates a package of trade-offs.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C672B-1A46-4759-90FA-12820919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429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84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3CF79-B0CE-451F-83BD-53298448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384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EFBB65"/>
                </a:solidFill>
              </a:defRPr>
            </a:pPr>
            <a:r>
              <a:rPr sz="1275" b="1" i="0">
                <a:solidFill>
                  <a:srgbClr val="EFBB65"/>
                </a:solidFill>
              </a:rPr>
              <a:t>BENEFIT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B5902-1A18-466F-B4B5-14C1B225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2175" b="1" i="0">
                <a:solidFill>
                  <a:srgbClr val="F4F1E9"/>
                </a:solidFill>
              </a:defRPr>
            </a:pPr>
            <a:r>
              <a:rPr sz="2175" b="1" i="0">
                <a:solidFill>
                  <a:srgbClr val="F4F1E9"/>
                </a:solidFill>
              </a:rPr>
              <a:t>What improves?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300E0-F132-4723-BC6D-91C31EFE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00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1500" b="0" i="0">
                <a:solidFill>
                  <a:srgbClr val="B9C8CC"/>
                </a:solidFill>
              </a:defRPr>
            </a:pPr>
            <a:r>
              <a:rPr sz="1500" b="0" i="0">
                <a:solidFill>
                  <a:srgbClr val="B9C8CC"/>
                </a:solidFill>
              </a:rPr>
              <a:t>reach · speed · control · revenue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6432F-7C72-4231-80EE-7039A8AF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90750"/>
            <a:ext cx="3429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3D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7A0301-B8DC-4A2D-A5C3-EA885DB5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384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A9E88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A9E88"/>
                </a:solidFill>
              </a:defRPr>
            </a:pPr>
            <a:r>
              <a:rPr sz="1275" b="1" i="0">
                <a:solidFill>
                  <a:srgbClr val="FA9E88"/>
                </a:solidFill>
              </a:rPr>
              <a:t>COST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F19BE-56F8-4FCB-9596-8A1C29C9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908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2175" b="1" i="0">
                <a:solidFill>
                  <a:srgbClr val="F4F1E9"/>
                </a:solidFill>
              </a:defRPr>
            </a:pPr>
            <a:r>
              <a:rPr sz="2175" b="1" i="0">
                <a:solidFill>
                  <a:srgbClr val="F4F1E9"/>
                </a:solidFill>
              </a:rPr>
              <a:t>What must be paid?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8826D-8E1E-4AC4-85A4-409E35F8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100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1500" b="0" i="0">
                <a:solidFill>
                  <a:srgbClr val="B9C8CC"/>
                </a:solidFill>
              </a:defRPr>
            </a:pPr>
            <a:r>
              <a:rPr sz="1500" b="0" i="0">
                <a:solidFill>
                  <a:srgbClr val="B9C8CC"/>
                </a:solidFill>
              </a:rPr>
              <a:t>setup · labour · systems · coordination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5EBE4-C157-45F6-AFE0-5D399D51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34BB11-3775-4678-9C02-C58AA3E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384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EFBB65"/>
                </a:solidFill>
              </a:defRPr>
            </a:pPr>
            <a:r>
              <a:rPr sz="1275" b="1" i="0">
                <a:solidFill>
                  <a:srgbClr val="EFBB65"/>
                </a:solidFill>
              </a:rPr>
              <a:t>DEPENDENCY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933EA-9D29-4FB0-8E56-ABA86895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7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2175" b="1" i="0">
                <a:solidFill>
                  <a:srgbClr val="F4F1E9"/>
                </a:solidFill>
              </a:defRPr>
            </a:pPr>
            <a:r>
              <a:rPr sz="2175" b="1" i="0">
                <a:solidFill>
                  <a:srgbClr val="F4F1E9"/>
                </a:solidFill>
              </a:rPr>
              <a:t>What could constrain it?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1295C-C365-417B-924A-9977CEF6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00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1500" b="0" i="0">
                <a:solidFill>
                  <a:srgbClr val="B9C8CC"/>
                </a:solidFill>
              </a:defRPr>
            </a:pPr>
            <a:r>
              <a:rPr sz="1500" b="0" i="0">
                <a:solidFill>
                  <a:srgbClr val="B9C8CC"/>
                </a:solidFill>
              </a:rPr>
              <a:t>capacity · suppliers · rules · demand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ECEF1-7A4C-4322-AD5D-1554CF63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74D3C6"/>
                </a:solidFill>
              </a:defRPr>
            </a:pPr>
            <a:r>
              <a:rPr sz="1875" b="1" i="0">
                <a:solidFill>
                  <a:srgbClr val="74D3C6"/>
                </a:solidFill>
              </a:rPr>
              <a:t>Then ask: which stakeholder receives each benefit, cost or risk?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0073B4-2593-4372-9167-F2486C0B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A plausible claim is conditional: under these assumptions…</a:t>
            </a:r>
          </a:p>
        </p:txBody>
      </p:sp>
    </p:spTree>
    <p:extLst>
      <p:ext uri="{BB962C8B-B14F-4D97-AF65-F5344CB8AC3E}">
        <p14:creationId xmlns:p14="http://schemas.microsoft.com/office/powerpoint/2010/main" val="4130922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AFE3AC-DCF3-4D47-9C21-B6FF9BBB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875612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875612"/>
                </a:solidFill>
              </a:defRPr>
            </a:pPr>
            <a:r>
              <a:rPr sz="975" b="1" i="0">
                <a:solidFill>
                  <a:srgbClr val="875612"/>
                </a:solidFill>
              </a:rPr>
              <a:t>NORTHSTAR LAB · PAIRS, INDIVIDUAL EXPLANATION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C3603-40E5-48EB-9CAB-2E13F24F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60747A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60747A"/>
                </a:solidFill>
              </a:defRPr>
            </a:pPr>
            <a:r>
              <a:rPr sz="900" b="1" i="0">
                <a:solidFill>
                  <a:srgbClr val="60747A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1CE6ED-7798-4521-89BE-101B2EB6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"/>
            <a:ext cx="70961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450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3450" b="1" i="0">
                <a:solidFill>
                  <a:srgbClr val="132D38"/>
                </a:solidFill>
              </a:defRPr>
            </a:pPr>
            <a:r>
              <a:rPr sz="3450" b="1" i="0">
                <a:solidFill>
                  <a:srgbClr val="132D38"/>
                </a:solidFill>
              </a:rPr>
              <a:t>Make one decision. Change one variable. Explain one result.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16231-2043-442F-BDFC-FD6B78C43E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c15cb753641a5"/>
          <a:srcRect xmlns:a="http://schemas.openxmlformats.org/drawingml/2006/main" l="12668" t="0" r="126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91450" y="609600"/>
            <a:ext cx="379095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FDCE0-92D7-40AA-A734-121A8CA1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6477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C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CD6CC-E79F-49CC-82B3-BD8A6CE7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195E5C"/>
                </a:solidFill>
              </a:defRPr>
            </a:pPr>
            <a:r>
              <a:rPr sz="1125" b="1" i="0">
                <a:solidFill>
                  <a:srgbClr val="195E5C"/>
                </a:solidFill>
              </a:rPr>
              <a:t>ROUND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F912F-31CF-4FA4-8506-F60C4177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41935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132D38"/>
                </a:solidFill>
              </a:defRPr>
            </a:pPr>
            <a:r>
              <a:rPr sz="1725" b="1" i="0">
                <a:solidFill>
                  <a:srgbClr val="132D38"/>
                </a:solidFill>
              </a:rPr>
              <a:t>Change the growth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F3712-2BDA-4170-AAF9-D05B3C69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6477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C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5093E-D456-48BB-B782-CD88C7F2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195E5C"/>
                </a:solidFill>
              </a:defRPr>
            </a:pPr>
            <a:r>
              <a:rPr sz="1125" b="1" i="0">
                <a:solidFill>
                  <a:srgbClr val="195E5C"/>
                </a:solidFill>
              </a:rPr>
              <a:t>ROUND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34F460-95FF-4822-93FA-3B0F58F3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40995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132D38"/>
                </a:solidFill>
              </a:defRPr>
            </a:pPr>
            <a:r>
              <a:rPr sz="1725" b="1" i="0">
                <a:solidFill>
                  <a:srgbClr val="132D38"/>
                </a:solidFill>
              </a:rPr>
              <a:t>Keep strategy; change staff policy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655DA-D6B1-4C3D-9524-237B485F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6477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DE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34D55-7D25-4054-B6FB-A3CF22CA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875612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875612"/>
                </a:solidFill>
              </a:defRPr>
            </a:pPr>
            <a:r>
              <a:rPr sz="1125" b="1" i="0">
                <a:solidFill>
                  <a:srgbClr val="875612"/>
                </a:solidFill>
              </a:rPr>
              <a:t>ROUND 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10D4A8-12AE-48F8-B254-75A9B0EA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00550"/>
            <a:ext cx="466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132D38"/>
                </a:solidFill>
              </a:defRPr>
            </a:pPr>
            <a:r>
              <a:rPr sz="1725" b="1" i="0">
                <a:solidFill>
                  <a:srgbClr val="132D38"/>
                </a:solidFill>
              </a:rPr>
              <a:t>Keep both; introduce disruption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304758-5AF6-4875-A56C-CA76512D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48100"/>
            <a:ext cx="37909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4E966C-97AC-41C0-98CD-30CCBFE3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57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EFBB65"/>
                </a:solidFill>
              </a:defRPr>
            </a:pPr>
            <a:r>
              <a:rPr sz="1125" b="1" i="0">
                <a:solidFill>
                  <a:srgbClr val="EFBB65"/>
                </a:solidFill>
              </a:rPr>
              <a:t>RECORD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651FA-DC28-44CE-9684-9BC9016A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1960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575" b="1" i="0">
                <a:solidFill>
                  <a:srgbClr val="F4F1E9"/>
                </a:solidFill>
              </a:defRPr>
            </a:pPr>
            <a:r>
              <a:rPr sz="1575" b="1" i="0">
                <a:solidFill>
                  <a:srgbClr val="F4F1E9"/>
                </a:solidFill>
              </a:rPr>
              <a:t>prediction → result → bottleneck → limitation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F3F75-24E8-44A9-9264-6C24DE8D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95E5C"/>
                </a:solidFill>
              </a:defRPr>
            </a:pPr>
            <a:r>
              <a:rPr sz="1800" b="1" i="0">
                <a:solidFill>
                  <a:srgbClr val="195E5C"/>
                </a:solidFill>
              </a:rPr>
              <a:t>Model results are not real-world facts.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F88887-6434-4836-A1D2-CD4714B4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60747A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60747A"/>
                </a:solidFill>
              </a:defRPr>
            </a:pPr>
            <a:r>
              <a:rPr sz="750" b="0" i="0">
                <a:solidFill>
                  <a:srgbClr val="60747A"/>
                </a:solidFill>
              </a:rPr>
              <a:t>Use the interactive lab on the published lesson page</a:t>
            </a:r>
          </a:p>
        </p:txBody>
      </p:sp>
    </p:spTree>
    <p:extLst>
      <p:ext uri="{BB962C8B-B14F-4D97-AF65-F5344CB8AC3E}">
        <p14:creationId xmlns:p14="http://schemas.microsoft.com/office/powerpoint/2010/main" val="5910799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DF444-3A03-417D-AF1A-620B1D44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DEBRIEF · OBSERVATION BEFORE JUDGMENT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7E564-FFE2-4A6A-8178-2A26B03D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4F795-42E4-4C07-AF8B-CFBFFAC0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45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450" b="1" i="0">
                <a:solidFill>
                  <a:srgbClr val="F4F1E9"/>
                </a:solidFill>
              </a:defRPr>
            </a:pPr>
            <a:r>
              <a:rPr sz="3450" b="1" i="0">
                <a:solidFill>
                  <a:srgbClr val="F4F1E9"/>
                </a:solidFill>
              </a:rPr>
              <a:t>More demand is not the same as more output—or more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7A8A8-6217-4B38-8ED8-068D54C7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A2CAE-2459-4730-84B8-803E35E0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2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3225" b="1" i="0">
                <a:solidFill>
                  <a:srgbClr val="EFBB65"/>
                </a:solidFill>
              </a:defRPr>
            </a:pPr>
            <a:r>
              <a:rPr sz="3225" b="1" i="0">
                <a:solidFill>
                  <a:srgbClr val="EFBB65"/>
                </a:solidFill>
              </a:rPr>
              <a:t>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80749-8685-4C8D-A9A4-BA35F005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orders completed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081B3-4B5F-4048-A380-F07973FA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9075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F6284-6F34-4D57-967E-7B4B3916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7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2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3225" b="1" i="0">
                <a:solidFill>
                  <a:srgbClr val="EFBB65"/>
                </a:solidFill>
              </a:defRPr>
            </a:pPr>
            <a:r>
              <a:rPr sz="3225" b="1" i="0">
                <a:solidFill>
                  <a:srgbClr val="EFBB65"/>
                </a:solidFill>
              </a:rPr>
              <a:t>$180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F77CF-4A38-4237-B885-F7147DD6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81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operating surplus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5306F-2A55-4B88-99A8-3151883E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90750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3D2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948F4-0664-44C8-9B45-E29C05CC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57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225" b="1" i="0">
                <a:solidFill>
                  <a:srgbClr val="FA9E88"/>
                </a:solidFill>
              </a:defRPr>
            </a:defPPr>
          </a:lstStyle>
          <a:p xmlns:a="http://schemas.openxmlformats.org/drawingml/2006/main">
            <a:pPr algn="l">
              <a:defRPr sz="3225" b="1" i="0">
                <a:solidFill>
                  <a:srgbClr val="FA9E88"/>
                </a:solidFill>
              </a:defRPr>
            </a:pPr>
            <a:r>
              <a:rPr sz="3225" b="1" i="0">
                <a:solidFill>
                  <a:srgbClr val="FA9E88"/>
                </a:solidFill>
              </a:rPr>
              <a:t>−$1,020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F83D1-CF3D-40F7-ADBB-2DF378F7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81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first-round cash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EFB5A9-E56E-4443-A4FF-9F13209C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1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1125" b="0" i="1">
                <a:solidFill>
                  <a:srgbClr val="B9C8CC"/>
                </a:solidFill>
              </a:defRPr>
            </a:pPr>
            <a:r>
              <a:rPr sz="1125" b="0" i="1">
                <a:solidFill>
                  <a:srgbClr val="B9C8CC"/>
                </a:solidFill>
              </a:rPr>
              <a:t>Vertical trial · synthetic comparison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C13811-93F0-4CCF-B21F-521872A2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763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84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1E263F-7D43-49B0-93D6-2FFE51B9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4F1E9"/>
                </a:solidFill>
              </a:defRPr>
            </a:pPr>
            <a:r>
              <a:rPr sz="1800" b="1" i="0">
                <a:solidFill>
                  <a:srgbClr val="F4F1E9"/>
                </a:solidFill>
              </a:rPr>
              <a:t>The model calculates costs and capacity.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1A0709-C7EF-4FDF-A57B-5F66E74C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7685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0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74D3C6"/>
                </a:solidFill>
              </a:defRPr>
            </a:pPr>
            <a:r>
              <a:rPr sz="1575" b="0" i="0">
                <a:solidFill>
                  <a:srgbClr val="74D3C6"/>
                </a:solidFill>
              </a:rPr>
              <a:t>It does not calculate well-being, fairness, injury, loyalty or long-term productivity.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A93BF-24F4-43FC-B409-3BF68AEE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Say what the model shows · then name the real evidence needed</a:t>
            </a:r>
          </a:p>
        </p:txBody>
      </p:sp>
    </p:spTree>
    <p:extLst>
      <p:ext uri="{BB962C8B-B14F-4D97-AF65-F5344CB8AC3E}">
        <p14:creationId xmlns:p14="http://schemas.microsoft.com/office/powerpoint/2010/main" val="20000124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CF3E9-A6DE-493F-8187-F118DBB5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EVIDENCE PAIR · CLAIM AND REGULATORY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35E9C-9261-4A17-95F8-C2A7766B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20EFF7-C69F-4220-85D7-B7EAA644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619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52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525" b="1" i="0">
                <a:solidFill>
                  <a:srgbClr val="F4F1E9"/>
                </a:solidFill>
              </a:defRPr>
            </a:pPr>
            <a:r>
              <a:rPr sz="3525" b="1" i="0">
                <a:solidFill>
                  <a:srgbClr val="F4F1E9"/>
                </a:solidFill>
              </a:rPr>
              <a:t>Faster processing and worker experience are separate questions.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9CC9C5-41ED-4470-B79F-B1BE487B69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a86af85b44536"/>
          <a:srcRect xmlns:a="http://schemas.openxmlformats.org/drawingml/2006/main" l="15322" t="0" r="153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34200" y="609600"/>
            <a:ext cx="4648200" cy="3771900"/>
          </a:xfrm>
          <a:prstGeom xmlns:a="http://schemas.openxmlformats.org/drawingml/2006/main" prst="roundRect">
            <a:avLst>
              <a:gd name="adj" fmla="val 303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A9DF1-F3F0-4AB9-9EF2-A60630A7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715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086BF-5502-47C9-9A41-9E3C39DC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COMPANY ACCOUNT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E1DF3-1F37-4968-B87F-B01EA3DE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4F1E9"/>
                </a:solidFill>
              </a:defRPr>
            </a:pPr>
            <a:r>
              <a:rPr sz="1800" b="1" i="0">
                <a:solidFill>
                  <a:srgbClr val="F4F1E9"/>
                </a:solidFill>
              </a:rPr>
              <a:t>What performance does Amazon claim?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8CD97-AE05-464C-BA34-B5308DE2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715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84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1C9A5-4469-4B5E-BFC1-B27FFC5E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050" b="1" i="0">
                <a:solidFill>
                  <a:srgbClr val="EFBB65"/>
                </a:solidFill>
              </a:defRPr>
            </a:pPr>
            <a:r>
              <a:rPr sz="1050" b="1" i="0">
                <a:solidFill>
                  <a:srgbClr val="EFBB65"/>
                </a:solidFill>
              </a:rPr>
              <a:t>REGULATORY 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61165-7DA8-4522-905B-38AADC42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F4F1E9"/>
                </a:solidFill>
              </a:defRPr>
            </a:pPr>
            <a:r>
              <a:rPr sz="1725" b="1" i="0">
                <a:solidFill>
                  <a:srgbClr val="F4F1E9"/>
                </a:solidFill>
              </a:rPr>
              <a:t>What safety measures does the settlement require?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BD633-BFEC-4365-8EFB-F2485F97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2440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72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725" b="1" i="0">
                <a:solidFill>
                  <a:srgbClr val="74D3C6"/>
                </a:solidFill>
              </a:defRPr>
            </a:pPr>
            <a:r>
              <a:rPr sz="1725" b="1" i="0">
                <a:solidFill>
                  <a:srgbClr val="74D3C6"/>
                </a:solidFill>
              </a:rPr>
              <a:t>Neither source alone proves every worker's experience.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DC444-D1FA-474B-9A8D-4DB81B85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4483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4F1E9"/>
                </a:solidFill>
              </a:defRPr>
            </a:pPr>
            <a:r>
              <a:rPr sz="1350" b="0" i="0">
                <a:solidFill>
                  <a:srgbClr val="F4F1E9"/>
                </a:solidFill>
              </a:rPr>
              <a:t>Compare date · country · workforce · measure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B4503-DCC1-4AA0-AB26-53DA97B8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Historical primary sources · checked 15 Oct 2026</a:t>
            </a:r>
          </a:p>
        </p:txBody>
      </p:sp>
    </p:spTree>
    <p:extLst>
      <p:ext uri="{BB962C8B-B14F-4D97-AF65-F5344CB8AC3E}">
        <p14:creationId xmlns:p14="http://schemas.microsoft.com/office/powerpoint/2010/main" val="10582903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CC95C2-F431-4DC3-89EA-FF96BE99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OPERATION 7 · BUILD THE RELATIONSHIP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F239C3-1882-4D05-B2B0-EAC660BC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8D60F-8213-4666-B5A8-20D4341D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906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600" b="1" i="0">
                <a:solidFill>
                  <a:srgbClr val="F4F1E9"/>
                </a:solidFill>
              </a:defRPr>
            </a:pPr>
            <a:r>
              <a:rPr sz="3600" b="1" i="0">
                <a:solidFill>
                  <a:srgbClr val="F4F1E9"/>
                </a:solidFill>
              </a:rPr>
              <a:t>Use the 3Cs to turn vocabulary into an argument.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AC023-1147-4F77-A06B-E475ECCE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3333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338F3-8561-4733-BF4B-70F0D71D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52675"/>
            <a:ext cx="2905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EFBB65"/>
                </a:solidFill>
              </a:defRPr>
            </a:pPr>
            <a:r>
              <a:rPr sz="1275" b="1" i="0">
                <a:solidFill>
                  <a:srgbClr val="EFBB65"/>
                </a:solidFill>
              </a:rPr>
              <a:t>CONTENT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3A85E-9CE0-45C8-9F96-51A6AE8C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4F1E9"/>
                </a:solidFill>
              </a:defRPr>
            </a:pPr>
            <a:r>
              <a:rPr sz="1500" b="1" i="0">
                <a:solidFill>
                  <a:srgbClr val="F4F1E9"/>
                </a:solidFill>
              </a:rPr>
              <a:t>tracking · algorithms · networks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8F05B6-0C48-4C4F-8560-EA28950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33600"/>
            <a:ext cx="3333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184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93909-377B-469F-B607-13C534F6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52675"/>
            <a:ext cx="2905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EFBB65"/>
                </a:solidFill>
              </a:defRPr>
            </a:pPr>
            <a:r>
              <a:rPr sz="1275" b="1" i="0">
                <a:solidFill>
                  <a:srgbClr val="EFBB65"/>
                </a:solidFill>
              </a:rPr>
              <a:t>CONCEPT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91154-5C77-4044-AD82-3E943CCF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003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4F1E9"/>
                </a:solidFill>
              </a:defRPr>
            </a:pPr>
            <a:r>
              <a:rPr sz="1500" b="1" i="0">
                <a:solidFill>
                  <a:srgbClr val="F4F1E9"/>
                </a:solidFill>
              </a:rPr>
              <a:t>power · systems · change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BAA58-00D2-463F-B6A9-3E43CD1F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3333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D45A98-8538-49CB-9B02-0DC9941A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52675"/>
            <a:ext cx="2905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EFBB65"/>
                </a:solidFill>
              </a:defRPr>
            </a:pPr>
            <a:r>
              <a:rPr sz="1275" b="1" i="0">
                <a:solidFill>
                  <a:srgbClr val="EFBB65"/>
                </a:solidFill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EF4D8-B982-4578-872B-72BBD6EE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003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4F1E9"/>
                </a:solidFill>
              </a:defRPr>
            </a:pPr>
            <a:r>
              <a:rPr sz="1500" b="1" i="0">
                <a:solidFill>
                  <a:srgbClr val="F4F1E9"/>
                </a:solidFill>
              </a:rPr>
              <a:t>economic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789FB-2116-4842-9BD0-AC6C18F1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EFBB65"/>
                </a:solidFill>
              </a:defRPr>
            </a:pPr>
            <a:r>
              <a:rPr sz="1125" b="1" i="0">
                <a:solidFill>
                  <a:srgbClr val="EFBB65"/>
                </a:solidFill>
              </a:rPr>
              <a:t>MECHANISM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48AF9-C385-47E7-B89D-12828C8E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576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74D3C6"/>
                </a:solidFill>
              </a:defRPr>
            </a:pPr>
            <a:r>
              <a:rPr sz="2100" b="1" i="0">
                <a:solidFill>
                  <a:srgbClr val="74D3C6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E460D-3C7C-4725-928B-D5D064D0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14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EFBB65"/>
                </a:solidFill>
              </a:defRPr>
            </a:pPr>
            <a:r>
              <a:rPr sz="1125" b="1" i="0">
                <a:solidFill>
                  <a:srgbClr val="EFBB65"/>
                </a:solidFill>
              </a:rPr>
              <a:t>STAKEHOLDER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2A4288-36C3-4944-A8DB-EFFEF293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576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74D3C6"/>
                </a:solidFill>
              </a:defRPr>
            </a:pPr>
            <a:r>
              <a:rPr sz="2100" b="1" i="0">
                <a:solidFill>
                  <a:srgbClr val="74D3C6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FDE98E-AE90-4133-A9AE-858665AC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1148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EFBB65"/>
                </a:solidFill>
              </a:defRPr>
            </a:pPr>
            <a:r>
              <a:rPr sz="1125" b="1" i="0">
                <a:solidFill>
                  <a:srgbClr val="EFBB65"/>
                </a:solidFill>
              </a:rPr>
              <a:t>IMMEDIATE IMPACT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7760C-9FC0-48A3-83D8-DE10BFE2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576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74D3C6"/>
                </a:solidFill>
              </a:defRPr>
            </a:pPr>
            <a:r>
              <a:rPr sz="2100" b="1" i="0">
                <a:solidFill>
                  <a:srgbClr val="74D3C6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D31E13-0E5D-4F05-8738-4A8B438F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148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EFBB65"/>
                </a:solidFill>
              </a:defRPr>
            </a:pPr>
            <a:r>
              <a:rPr sz="1125" b="1" i="0">
                <a:solidFill>
                  <a:srgbClr val="EFBB65"/>
                </a:solidFill>
              </a:rPr>
              <a:t>IMPLICATION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CC0D9B-30B5-4EA1-9E80-F3418390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0763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DAF0F-5F7B-43C2-A207-6DDD124B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F4F1E9"/>
                </a:solidFill>
              </a:defRPr>
            </a:pPr>
            <a:r>
              <a:rPr sz="1800" b="1" i="0">
                <a:solidFill>
                  <a:srgbClr val="F4F1E9"/>
                </a:solidFill>
              </a:rPr>
              <a:t>Label each arrow with why the relationship exists. Attach a source—or label it as a hypothesis.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AF2FC7-A4EC-428F-8B6E-78AD6490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Content + concept + context → reasoned consequence</a:t>
            </a:r>
          </a:p>
        </p:txBody>
      </p:sp>
    </p:spTree>
    <p:extLst>
      <p:ext uri="{BB962C8B-B14F-4D97-AF65-F5344CB8AC3E}">
        <p14:creationId xmlns:p14="http://schemas.microsoft.com/office/powerpoint/2010/main" val="4644980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1F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DF2F53-F82B-470B-8069-160F6E8F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EFBB65"/>
                </a:solidFill>
              </a:defRPr>
            </a:pPr>
            <a:r>
              <a:rPr sz="975" b="1" i="0">
                <a:solidFill>
                  <a:srgbClr val="EFBB65"/>
                </a:solidFill>
              </a:rPr>
              <a:t>ASSIGNMENT LAUNCH · SUPPLY CHAIN DETECTIVE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BA8D3-17F1-4D53-A666-E51C86D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B9C8CC"/>
                </a:solidFill>
              </a:defRPr>
            </a:pPr>
            <a:r>
              <a:rPr sz="900" b="1" i="0">
                <a:solidFill>
                  <a:srgbClr val="B9C8CC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C4E063-E50D-45E9-8228-E25D8E83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75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3750" b="1" i="0">
                <a:solidFill>
                  <a:srgbClr val="F4F1E9"/>
                </a:solidFill>
              </a:defRPr>
            </a:pPr>
            <a:r>
              <a:rPr sz="3750" b="1" i="0">
                <a:solidFill>
                  <a:srgbClr val="F4F1E9"/>
                </a:solidFill>
              </a:rPr>
              <a:t>Follow one order beyond the screen.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75989-68DD-4B45-AD2B-6EBD67426B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f6c5a8cff495e"/>
          <a:srcRect xmlns:a="http://schemas.openxmlformats.org/drawingml/2006/main" l="22642" t="0" r="226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0" y="0"/>
            <a:ext cx="6667500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D62AB-4A9F-4C5E-82E3-811A0C6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44005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295A88-3BE1-4BEB-B7A3-08D2C2DB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EFBB65"/>
                </a:solidFill>
              </a:defRPr>
            </a:pPr>
            <a:r>
              <a:rPr sz="1500" b="1" i="0">
                <a:solidFill>
                  <a:srgbClr val="EFBB65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D30C5-2B50-485B-AA99-E934A038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812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74D3C6"/>
                </a:solidFill>
              </a:defRPr>
            </a:pPr>
            <a:r>
              <a:rPr sz="1275" b="1" i="0">
                <a:solidFill>
                  <a:srgbClr val="74D3C6"/>
                </a:solidFill>
              </a:rPr>
              <a:t>BOUND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5B002-3121-4FD0-A5E5-C2410F14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3907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4F1E9"/>
                </a:solidFill>
              </a:defRPr>
            </a:pPr>
            <a:r>
              <a:rPr sz="1275" b="0" i="0">
                <a:solidFill>
                  <a:srgbClr val="F4F1E9"/>
                </a:solidFill>
              </a:rPr>
              <a:t>one product or digital title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BA11F-4B05-4CF7-B292-8776D68B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44005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47EDE-36CA-4DF5-8F2B-B1C64C3A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EFBB65"/>
                </a:solidFill>
              </a:defRPr>
            </a:pPr>
            <a:r>
              <a:rPr sz="1500" b="1" i="0">
                <a:solidFill>
                  <a:srgbClr val="EFBB6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7C43A-DCE0-412B-B9A6-9D938677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74D3C6"/>
                </a:solidFill>
              </a:defRPr>
            </a:pPr>
            <a:r>
              <a:rPr sz="1275" b="1" i="0">
                <a:solidFill>
                  <a:srgbClr val="74D3C6"/>
                </a:solidFill>
              </a:rPr>
              <a:t>TRACE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8BA42-4CF1-49A6-B14F-42745F73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289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4F1E9"/>
                </a:solidFill>
              </a:defRPr>
            </a:pPr>
            <a:r>
              <a:rPr sz="1275" b="0" i="0">
                <a:solidFill>
                  <a:srgbClr val="F4F1E9"/>
                </a:solidFill>
              </a:rPr>
              <a:t>goods/service · money · data · control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47D0F3-5798-41EC-AECF-B29DCD72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44005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2C095B-0378-4F2B-B286-0D2689EF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EFBB65"/>
                </a:solidFill>
              </a:defRPr>
            </a:pPr>
            <a:r>
              <a:rPr sz="1500" b="1" i="0">
                <a:solidFill>
                  <a:srgbClr val="EFBB6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4A920-755E-4DB0-AF97-48134170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576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74D3C6"/>
                </a:solidFill>
              </a:defRPr>
            </a:pPr>
            <a:r>
              <a:rPr sz="1275" b="1" i="0">
                <a:solidFill>
                  <a:srgbClr val="74D3C6"/>
                </a:solidFill>
              </a:rPr>
              <a:t>EXPLAIN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FF3EA-CC1A-4BB2-90C4-A27301EC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671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4F1E9"/>
                </a:solidFill>
              </a:defRPr>
            </a:pPr>
            <a:r>
              <a:rPr sz="1275" b="0" i="0">
                <a:solidFill>
                  <a:srgbClr val="F4F1E9"/>
                </a:solidFill>
              </a:rPr>
              <a:t>one consequential digital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84D69C-A307-4C78-BEE5-6A9A63C4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4005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A4116B-C820-4AA0-AD49-88DF51F5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EFBB65"/>
                </a:solidFill>
              </a:defRPr>
            </a:pPr>
            <a:r>
              <a:rPr sz="1500" b="1" i="0">
                <a:solidFill>
                  <a:srgbClr val="EFBB65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761F52-8070-44E9-B189-91412741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958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74D3C6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74D3C6"/>
                </a:solidFill>
              </a:defRPr>
            </a:pPr>
            <a:r>
              <a:rPr sz="1275" b="1" i="0">
                <a:solidFill>
                  <a:srgbClr val="74D3C6"/>
                </a:solidFill>
              </a:rPr>
              <a:t>JUDGE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58A0B-5DFC-427A-BF09-3E2266A6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05375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4F1E9"/>
                </a:solidFill>
              </a:defRPr>
            </a:pPr>
            <a:r>
              <a:rPr sz="1275" b="0" i="0">
                <a:solidFill>
                  <a:srgbClr val="F4F1E9"/>
                </a:solidFill>
              </a:rPr>
              <a:t>cost + benefit + stakeholder implication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BA815A-23B7-4F18-9876-BAFFE4F6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650" b="1" i="0">
                <a:solidFill>
                  <a:srgbClr val="EFBB65"/>
                </a:solidFill>
              </a:defRPr>
            </a:defPPr>
          </a:lstStyle>
          <a:p xmlns:a="http://schemas.openxmlformats.org/drawingml/2006/main">
            <a:pPr algn="l">
              <a:defRPr sz="1650" b="1" i="0">
                <a:solidFill>
                  <a:srgbClr val="EFBB65"/>
                </a:solidFill>
              </a:defRPr>
            </a:pPr>
            <a:r>
              <a:rPr sz="1650" b="1" i="0">
                <a:solidFill>
                  <a:srgbClr val="EFBB65"/>
                </a:solidFill>
              </a:rPr>
              <a:t>Do not invent hidden infrastructure.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E2B4E4-A20E-442E-81D0-5CDDDC77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B9C8CC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B9C8CC"/>
                </a:solidFill>
              </a:defRPr>
            </a:pPr>
            <a:r>
              <a:rPr sz="750" b="0" i="0">
                <a:solidFill>
                  <a:srgbClr val="B9C8CC"/>
                </a:solidFill>
              </a:rPr>
              <a:t>Assignment handout provides the planning frame and evidence checklist</a:t>
            </a:r>
          </a:p>
        </p:txBody>
      </p:sp>
    </p:spTree>
    <p:extLst>
      <p:ext uri="{BB962C8B-B14F-4D97-AF65-F5344CB8AC3E}">
        <p14:creationId xmlns:p14="http://schemas.microsoft.com/office/powerpoint/2010/main" val="2009703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067803-AA5E-4A0D-B81F-BA54AC47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875612"/>
                </a:solidFill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875612"/>
                </a:solidFill>
              </a:defRPr>
            </a:pPr>
            <a:r>
              <a:rPr sz="975" b="1" i="0">
                <a:solidFill>
                  <a:srgbClr val="875612"/>
                </a:solidFill>
              </a:rPr>
              <a:t>EXIT · INDEPENDENT TRANSFER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CCC12-74DC-43F1-A747-5ABEA9CB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900" b="1" i="0">
                <a:solidFill>
                  <a:srgbClr val="60747A"/>
                </a:solidFill>
              </a:defRPr>
            </a:defPPr>
          </a:lstStyle>
          <a:p xmlns:a="http://schemas.openxmlformats.org/drawingml/2006/main">
            <a:pPr algn="r">
              <a:defRPr sz="900" b="1" i="0">
                <a:solidFill>
                  <a:srgbClr val="60747A"/>
                </a:solidFill>
              </a:defRPr>
            </a:pPr>
            <a:r>
              <a:rPr sz="900" b="1" i="0">
                <a:solidFill>
                  <a:srgbClr val="60747A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060FF-DBC0-4365-90C6-A887F2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287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3675" b="1" i="0">
                <a:solidFill>
                  <a:srgbClr val="132D38"/>
                </a:solidFill>
              </a:defRPr>
            </a:pPr>
            <a:r>
              <a:rPr sz="3675" b="1" i="0">
                <a:solidFill>
                  <a:srgbClr val="132D38"/>
                </a:solidFill>
              </a:rPr>
              <a:t>Can you explain a new case without the model?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425BB-A343-491A-95EF-92FEE337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DC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46274-42AF-4868-90B8-149DF75F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132D38"/>
                </a:solidFill>
              </a:defRPr>
            </a:pPr>
            <a:r>
              <a:rPr sz="2250" b="1" i="0">
                <a:solidFill>
                  <a:srgbClr val="132D38"/>
                </a:solidFill>
              </a:rPr>
              <a:t>An unfamiliar music service buys a ticket-delivery business.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70618-F5A7-4765-8350-844E4C46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95E5C"/>
                </a:solidFill>
              </a:defRPr>
            </a:pPr>
            <a:r>
              <a:rPr sz="1350" b="1" i="0">
                <a:solidFill>
                  <a:srgbClr val="195E5C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CE13B5-095D-4CDA-9ADE-E0DED8EB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00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32D38"/>
                </a:solidFill>
              </a:defRPr>
            </a:pPr>
            <a:r>
              <a:rPr sz="1275" b="1" i="0">
                <a:solidFill>
                  <a:srgbClr val="132D38"/>
                </a:solidFill>
              </a:rPr>
              <a:t>Classify the growth move.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C704F-874E-4A6B-94A0-E1296D7E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95E5C"/>
                </a:solidFill>
              </a:defRPr>
            </a:pPr>
            <a:r>
              <a:rPr sz="1350" b="1" i="0">
                <a:solidFill>
                  <a:srgbClr val="195E5C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8B70E3-3A73-4E6C-A863-08AD920D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00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32D38"/>
                </a:solidFill>
              </a:defRPr>
            </a:pPr>
            <a:r>
              <a:rPr sz="1275" b="1" i="0">
                <a:solidFill>
                  <a:srgbClr val="132D38"/>
                </a:solidFill>
              </a:rPr>
              <a:t>Name one new dependency.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26596-991C-4A32-9C39-78642334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95E5C"/>
                </a:solidFill>
              </a:defRPr>
            </a:pPr>
            <a:r>
              <a:rPr sz="1350" b="1" i="0">
                <a:solidFill>
                  <a:srgbClr val="195E5C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473BC-F076-482D-B1A1-D2A1A258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0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32D38"/>
                </a:solidFill>
              </a:defRPr>
            </a:pPr>
            <a:r>
              <a:rPr sz="1275" b="1" i="0">
                <a:solidFill>
                  <a:srgbClr val="132D38"/>
                </a:solidFill>
              </a:rPr>
              <a:t>Explain one stakeholder trade-off.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2D5BD-5D48-4AA0-BE51-ACFEA156F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195E5C"/>
                </a:solidFill>
              </a:defRPr>
            </a:pPr>
            <a:r>
              <a:rPr sz="1350" b="1" i="0">
                <a:solidFill>
                  <a:srgbClr val="195E5C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9122F-F511-41D1-90B3-1A09506F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219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132D38"/>
                </a:solidFill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132D38"/>
                </a:solidFill>
              </a:defRPr>
            </a:pPr>
            <a:r>
              <a:rPr sz="1275" b="1" i="0">
                <a:solidFill>
                  <a:srgbClr val="132D38"/>
                </a:solidFill>
              </a:rPr>
              <a:t>Identify one fact needed before judging.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4A66B-7AD2-4E84-8C42-CA48C8F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95E5C"/>
                </a:solidFill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95E5C"/>
                </a:solidFill>
              </a:defRPr>
            </a:pPr>
            <a:r>
              <a:rPr sz="2025" b="1" i="0">
                <a:solidFill>
                  <a:srgbClr val="195E5C"/>
                </a:solidFill>
              </a:rPr>
              <a:t>Tomorrow's work: build a bounded route, explain the mechanism, and defend a conditional judgment.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660FB-C19D-4939-9A7D-B76E6739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533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407821-05FE-46AD-A2D9-29CCEAFA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57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4F1E9"/>
                </a:solidFill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4F1E9"/>
                </a:solidFill>
              </a:defRPr>
            </a:pPr>
            <a:r>
              <a:rPr sz="1200" b="1" i="0">
                <a:solidFill>
                  <a:srgbClr val="F4F1E9"/>
                </a:solidFill>
              </a:rPr>
              <a:t>ctwadden.github.io/digital-society-sl/lessons/economics-business-growth/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999905-D77A-43FD-AB41-BC739B73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0" i="0">
                <a:solidFill>
                  <a:srgbClr val="60747A"/>
                </a:solidFill>
              </a:defRPr>
            </a:defPPr>
          </a:lstStyle>
          <a:p xmlns:a="http://schemas.openxmlformats.org/drawingml/2006/main">
            <a:pPr algn="l">
              <a:defRPr sz="750" b="0" i="0">
                <a:solidFill>
                  <a:srgbClr val="60747A"/>
                </a:solidFill>
              </a:defRPr>
            </a:pPr>
            <a:r>
              <a:rPr sz="750" b="0" i="0">
                <a:solidFill>
                  <a:srgbClr val="60747A"/>
                </a:solidFill>
              </a:rPr>
              <a:t>Operation 7 · mechanism + evidence + stakeholder judgment</a:t>
            </a:r>
          </a:p>
        </p:txBody>
      </p:sp>
    </p:spTree>
    <p:extLst>
      <p:ext uri="{BB962C8B-B14F-4D97-AF65-F5344CB8AC3E}">
        <p14:creationId xmlns:p14="http://schemas.microsoft.com/office/powerpoint/2010/main" val="630090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2026-10-16T00:24:28.9300000Z</dcterms:created>
  <dcterms:modified xsi:type="dcterms:W3CDTF">2026-10-16T00:24:28.9300000Z</dcterms:modified>
</coreProperties>
</file>