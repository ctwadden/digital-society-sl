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0de226b86ff42a6" /><Relationship Type="http://schemas.openxmlformats.org/officeDocument/2006/relationships/extended-properties" Target="/docProps/app.xml" Id="R55a7e4414968499c" /><Relationship Type="http://schemas.openxmlformats.org/officeDocument/2006/relationships/officeDocument" Target="/ppt/presentation.xml" Id="R1c0de652e5b74332" /></Relationships>
</file>

<file path=ppt/presentation.xml><?xml version="1.0" encoding="utf-8"?>
<p:presentation xmlns:p="http://schemas.openxmlformats.org/presentationml/2006/main">
  <p:sldMasterIdLst>
    <p:sldMasterId xmlns:r="http://schemas.openxmlformats.org/officeDocument/2006/relationships" id="2147483648" r:id="R4b7efb717b234a14"/>
  </p:sldMasterIdLst>
  <p:notesMasterIdLst>
    <p:notesMasterId xmlns:r="http://schemas.openxmlformats.org/officeDocument/2006/relationships" r:id="R76f30514822746cf"/>
  </p:notesMasterIdLst>
  <p:sldIdLst>
    <p:sldId xmlns:r="http://schemas.openxmlformats.org/officeDocument/2006/relationships" id="256" r:id="Refcf47ae2d9d4167"/>
    <p:sldId xmlns:r="http://schemas.openxmlformats.org/officeDocument/2006/relationships" id="257" r:id="R31df8696de9c4cd7"/>
    <p:sldId xmlns:r="http://schemas.openxmlformats.org/officeDocument/2006/relationships" id="258" r:id="Red3094b2fef6403f"/>
    <p:sldId xmlns:r="http://schemas.openxmlformats.org/officeDocument/2006/relationships" id="259" r:id="Rb44a1072760640ec"/>
    <p:sldId xmlns:r="http://schemas.openxmlformats.org/officeDocument/2006/relationships" id="260" r:id="R007e86fc48674af4"/>
    <p:sldId xmlns:r="http://schemas.openxmlformats.org/officeDocument/2006/relationships" id="261" r:id="R52cccddf553c4307"/>
    <p:sldId xmlns:r="http://schemas.openxmlformats.org/officeDocument/2006/relationships" id="262" r:id="R7caef5debc294f9a"/>
    <p:sldId xmlns:r="http://schemas.openxmlformats.org/officeDocument/2006/relationships" id="263" r:id="Rf119de41788d41b6"/>
    <p:sldId xmlns:r="http://schemas.openxmlformats.org/officeDocument/2006/relationships" id="264" r:id="R64050f54fe9a409b"/>
    <p:sldId xmlns:r="http://schemas.openxmlformats.org/officeDocument/2006/relationships" id="265" r:id="Rdafc4f669514452f"/>
    <p:sldId xmlns:r="http://schemas.openxmlformats.org/officeDocument/2006/relationships" id="266" r:id="R9620c0a0510d4328"/>
    <p:sldId xmlns:r="http://schemas.openxmlformats.org/officeDocument/2006/relationships" id="267" r:id="R56ea4c65ddd64ff5"/>
    <p:sldId xmlns:r="http://schemas.openxmlformats.org/officeDocument/2006/relationships" id="268" r:id="R66827cc38ef94b59"/>
    <p:sldId xmlns:r="http://schemas.openxmlformats.org/officeDocument/2006/relationships" id="269" r:id="Rfafbcc4435494ea4"/>
    <p:sldId xmlns:r="http://schemas.openxmlformats.org/officeDocument/2006/relationships" id="270" r:id="Rd668fb34b2eb4915"/>
    <p:sldId xmlns:r="http://schemas.openxmlformats.org/officeDocument/2006/relationships" id="271" r:id="R58219b2ac39948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717c16f45c4ad1" /><Relationship Type="http://schemas.openxmlformats.org/officeDocument/2006/relationships/slideMaster" Target="/ppt/slideMasters/slideMaster1.xml" Id="R4b7efb717b234a14" /><Relationship Type="http://schemas.openxmlformats.org/officeDocument/2006/relationships/notesMaster" Target="/ppt/notesMasters/notesMaster1.xml" Id="R76f30514822746cf" /><Relationship Type="http://schemas.openxmlformats.org/officeDocument/2006/relationships/presProps" Target="/ppt/presProps.xml" Id="R8ef6b5a5f96f4a2e" /><Relationship Type="http://schemas.openxmlformats.org/officeDocument/2006/relationships/tableStyles" Target="/ppt/tableStyles.xml" Id="Rf808b5f62dda4902" /><Relationship Type="http://schemas.openxmlformats.org/officeDocument/2006/relationships/slide" Target="/ppt/slides/slide1.xml" Id="Refcf47ae2d9d4167" /><Relationship Type="http://schemas.openxmlformats.org/officeDocument/2006/relationships/slide" Target="/ppt/slides/slide2.xml" Id="R31df8696de9c4cd7" /><Relationship Type="http://schemas.openxmlformats.org/officeDocument/2006/relationships/slide" Target="/ppt/slides/slide3.xml" Id="Red3094b2fef6403f" /><Relationship Type="http://schemas.openxmlformats.org/officeDocument/2006/relationships/slide" Target="/ppt/slides/slide4.xml" Id="Rb44a1072760640ec" /><Relationship Type="http://schemas.openxmlformats.org/officeDocument/2006/relationships/slide" Target="/ppt/slides/slide5.xml" Id="R007e86fc48674af4" /><Relationship Type="http://schemas.openxmlformats.org/officeDocument/2006/relationships/slide" Target="/ppt/slides/slide6.xml" Id="R52cccddf553c4307" /><Relationship Type="http://schemas.openxmlformats.org/officeDocument/2006/relationships/slide" Target="/ppt/slides/slide7.xml" Id="R7caef5debc294f9a" /><Relationship Type="http://schemas.openxmlformats.org/officeDocument/2006/relationships/slide" Target="/ppt/slides/slide8.xml" Id="Rf119de41788d41b6" /><Relationship Type="http://schemas.openxmlformats.org/officeDocument/2006/relationships/slide" Target="/ppt/slides/slide9.xml" Id="R64050f54fe9a409b" /><Relationship Type="http://schemas.openxmlformats.org/officeDocument/2006/relationships/slide" Target="/ppt/slides/slide10.xml" Id="Rdafc4f669514452f" /><Relationship Type="http://schemas.openxmlformats.org/officeDocument/2006/relationships/slide" Target="/ppt/slides/slide11.xml" Id="R9620c0a0510d4328" /><Relationship Type="http://schemas.openxmlformats.org/officeDocument/2006/relationships/slide" Target="/ppt/slides/slide12.xml" Id="R56ea4c65ddd64ff5" /><Relationship Type="http://schemas.openxmlformats.org/officeDocument/2006/relationships/slide" Target="/ppt/slides/slide13.xml" Id="R66827cc38ef94b59" /><Relationship Type="http://schemas.openxmlformats.org/officeDocument/2006/relationships/slide" Target="/ppt/slides/slide14.xml" Id="Rfafbcc4435494ea4" /><Relationship Type="http://schemas.openxmlformats.org/officeDocument/2006/relationships/slide" Target="/ppt/slides/slide15.xml" Id="Rd668fb34b2eb4915" /><Relationship Type="http://schemas.openxmlformats.org/officeDocument/2006/relationships/slide" Target="/ppt/slides/slide16.xml" Id="R58219b2ac39948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e0788fa537424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f16dae56d84f88" /><Relationship Type="http://schemas.openxmlformats.org/officeDocument/2006/relationships/notesMaster" Target="/ppt/notesMasters/notesMaster1.xml" Id="R7e51e7e2b77d47a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f26ec6a8f7430c" /><Relationship Type="http://schemas.openxmlformats.org/officeDocument/2006/relationships/notesMaster" Target="/ppt/notesMasters/notesMaster1.xml" Id="Rf956ee6ea3c64d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75502cea28482d" /><Relationship Type="http://schemas.openxmlformats.org/officeDocument/2006/relationships/notesMaster" Target="/ppt/notesMasters/notesMaster1.xml" Id="Rf024ddf68c0846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09683920e7430d" /><Relationship Type="http://schemas.openxmlformats.org/officeDocument/2006/relationships/notesMaster" Target="/ppt/notesMasters/notesMaster1.xml" Id="R51de6dfe27f941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8121747c4541b8" /><Relationship Type="http://schemas.openxmlformats.org/officeDocument/2006/relationships/notesMaster" Target="/ppt/notesMasters/notesMaster1.xml" Id="Rec743f3ca87f40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f26fda84824b99" /><Relationship Type="http://schemas.openxmlformats.org/officeDocument/2006/relationships/notesMaster" Target="/ppt/notesMasters/notesMaster1.xml" Id="Ref6d485445d640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88b1b455de4bd5" /><Relationship Type="http://schemas.openxmlformats.org/officeDocument/2006/relationships/notesMaster" Target="/ppt/notesMasters/notesMaster1.xml" Id="R0e9abadc403449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5300bc4bb5437e" /><Relationship Type="http://schemas.openxmlformats.org/officeDocument/2006/relationships/notesMaster" Target="/ppt/notesMasters/notesMaster1.xml" Id="Rc291bb1110544e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2b05d9153345d4" /><Relationship Type="http://schemas.openxmlformats.org/officeDocument/2006/relationships/notesMaster" Target="/ppt/notesMasters/notesMaster1.xml" Id="R0e97482cdb1a43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7655c268e2475a" /><Relationship Type="http://schemas.openxmlformats.org/officeDocument/2006/relationships/notesMaster" Target="/ppt/notesMasters/notesMaster1.xml" Id="R0dbcd78e3e0f47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cc7a8f427d46ed" /><Relationship Type="http://schemas.openxmlformats.org/officeDocument/2006/relationships/notesMaster" Target="/ppt/notesMasters/notesMaster1.xml" Id="R45c5c7b4ed8b45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11be6f01074078" /><Relationship Type="http://schemas.openxmlformats.org/officeDocument/2006/relationships/notesMaster" Target="/ppt/notesMasters/notesMaster1.xml" Id="R78c449f30ecd46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7d299cd3c8644f0" /><Relationship Type="http://schemas.openxmlformats.org/officeDocument/2006/relationships/notesMaster" Target="/ppt/notesMasters/notesMaster1.xml" Id="R80f26baa177548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19f396e0554db6" /><Relationship Type="http://schemas.openxmlformats.org/officeDocument/2006/relationships/notesMaster" Target="/ppt/notesMasters/notesMaster1.xml" Id="R7f68c8f1e51e44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3ac2c659214da4" /><Relationship Type="http://schemas.openxmlformats.org/officeDocument/2006/relationships/notesMaster" Target="/ppt/notesMasters/notesMaster1.xml" Id="R9540ff9ff9624e0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f42abe2d514314" /><Relationship Type="http://schemas.openxmlformats.org/officeDocument/2006/relationships/notesMaster" Target="/ppt/notesMasters/notesMaster1.xml" Id="R492dfcb1539845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ranking can be calculated exactly as designed and still cause problems. A system optimized for viewing time may give a viewer content they keep watching without serving their long-term interests. A hiring system may repeat a consistent rule that disadvantages applicants whose circumstances differ. We will distinguish mechanical correctness from justified decisions. The aim is to make a judgement supported by the mechanism, evidence and a clear criterion. The real TikTok case illustrates the tension, but our examples remain bounded by what the sources actually establish.</a:t>
            </a:r>
          </a:p>
          <a:p xmlns:a="http://schemas.openxmlformats.org/drawingml/2006/main">
            <a:r>
              <a:t/>
            </a:r>
          </a:p>
          <a:p xmlns:a="http://schemas.openxmlformats.org/drawingml/2006/main">
            <a:r>
              <a:t>Arithmetic checks whether a rule was followed</a:t>
            </a:r>
          </a:p>
          <a:p xmlns:a="http://schemas.openxmlformats.org/drawingml/2006/main">
            <a:r>
              <a:t>Evaluation checks whether the rule serves its purpose</a:t>
            </a:r>
          </a:p>
          <a:p xmlns:a="http://schemas.openxmlformats.org/drawingml/2006/main">
            <a:r>
              <a:t>The relevant people may disagree about success</a:t>
            </a:r>
          </a:p>
          <a:p xmlns:a="http://schemas.openxmlformats.org/drawingml/2006/main">
            <a:r>
              <a:t/>
            </a:r>
          </a:p>
          <a:p xmlns:a="http://schemas.openxmlformats.org/drawingml/2006/main">
            <a:r>
              <a:t>Practice prompt: Whose definition of success could differ from the platform’s?</a:t>
            </a:r>
          </a:p>
          <a:p xmlns:a="http://schemas.openxmlformats.org/drawingml/2006/main">
            <a:r>
              <a:t/>
            </a:r>
          </a:p>
          <a:p xmlns:a="http://schemas.openxmlformats.org/drawingml/2006/main">
            <a:r>
              <a:t>Source: Bomfim et al., Digital Society for the IB Diploma, Hodder, 2022. Printed pages cited per slide. Original paraphrase. Textbook connection: pp. 86.</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Algorithms can reduce repetitive work and apply the same procedure across many cases. Consistency is valuable, but consistently making an unsuitable decision remains a problem. Human judgement can supply context absent from the input, yet human reviewers can also be biased. A meaningful review process requires access to the relevant information and power to overturn an output. Placing a person beside a system is insufficient if they simply accept every score. Ask who makes the final decision and what evidence they use.</a:t>
            </a:r>
          </a:p>
          <a:p xmlns:a="http://schemas.openxmlformats.org/drawingml/2006/main">
            <a:r>
              <a:t/>
            </a:r>
          </a:p>
          <a:p xmlns:a="http://schemas.openxmlformats.org/drawingml/2006/main">
            <a:r>
              <a:t>Automation can apply a rule consistently at scale</a:t>
            </a:r>
          </a:p>
          <a:p xmlns:a="http://schemas.openxmlformats.org/drawingml/2006/main">
            <a:r>
              <a:t>Human reviewers can interpret context and exceptions</a:t>
            </a:r>
          </a:p>
          <a:p xmlns:a="http://schemas.openxmlformats.org/drawingml/2006/main">
            <a:r>
              <a:t>A reviewer needs authority, time and useful information</a:t>
            </a:r>
          </a:p>
          <a:p xmlns:a="http://schemas.openxmlformats.org/drawingml/2006/main">
            <a:r>
              <a:t/>
            </a:r>
          </a:p>
          <a:p xmlns:a="http://schemas.openxmlformats.org/drawingml/2006/main">
            <a:r>
              <a:t>Practice prompt: What would make a human review effective rather than ceremonial?</a:t>
            </a:r>
          </a:p>
          <a:p xmlns:a="http://schemas.openxmlformats.org/drawingml/2006/main">
            <a:r>
              <a:t/>
            </a:r>
          </a:p>
          <a:p xmlns:a="http://schemas.openxmlformats.org/drawingml/2006/main">
            <a:r>
              <a:t>Source: Bomfim et al., Digital Society for the IB Diploma, Hodder, 2022. Printed pages cited per slide. Original paraphrase. Textbook connection: pp. 86–87.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Algorithmic bias concerns systematic skew or unfairness in decisions. The textbook identifies biased or incomplete data and choices made by developers. We can examine those choices more precisely. A location variable may stand in for access to resources rather than the ability we want to measure. A target based on previous approvals can repeat past exclusion. A threshold can create different error rates across groups. More data does not automatically solve these problems if it preserves the same omissions or labels.</a:t>
            </a:r>
          </a:p>
          <a:p xmlns:a="http://schemas.openxmlformats.org/drawingml/2006/main">
            <a:r>
              <a:t/>
            </a:r>
          </a:p>
          <a:p xmlns:a="http://schemas.openxmlformats.org/drawingml/2006/main">
            <a:r>
              <a:t>Data may omit or misrepresent a group</a:t>
            </a:r>
          </a:p>
          <a:p xmlns:a="http://schemas.openxmlformats.org/drawingml/2006/main">
            <a:r>
              <a:t>A proxy may measure something other than the intended quality</a:t>
            </a:r>
          </a:p>
          <a:p xmlns:a="http://schemas.openxmlformats.org/drawingml/2006/main">
            <a:r>
              <a:t>An objective or threshold may distribute errors unevenly</a:t>
            </a:r>
          </a:p>
          <a:p xmlns:a="http://schemas.openxmlformats.org/drawingml/2006/main">
            <a:r>
              <a:t/>
            </a:r>
          </a:p>
          <a:p xmlns:a="http://schemas.openxmlformats.org/drawingml/2006/main">
            <a:r>
              <a:t>Practice prompt: Choose a point in the system where an unfair pattern could begin.</a:t>
            </a:r>
          </a:p>
          <a:p xmlns:a="http://schemas.openxmlformats.org/drawingml/2006/main">
            <a:r>
              <a:t/>
            </a:r>
          </a:p>
          <a:p xmlns:a="http://schemas.openxmlformats.org/drawingml/2006/main">
            <a:r>
              <a:t>Source: Bomfim et al., Digital Society for the IB Diploma, Hodder, 2022. Printed pages cited per slide. Original paraphrase. Textbook connection: pp. 87.</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numbers are invented to explain representation. They are not a finding about any company. Suppose a model is tested mostly on Group A. A high overall accuracy can coexist with poor performance for Group B because B contributes fewer test cases. Adding more examples from A increases the size without correcting B’s representation. A fair evaluation needs relevant data and disaggregated results, while taking care with small samples and privacy. Representation matters, but it is only one source of bias.</a:t>
            </a:r>
          </a:p>
          <a:p xmlns:a="http://schemas.openxmlformats.org/drawingml/2006/main">
            <a:r>
              <a:t/>
            </a:r>
          </a:p>
          <a:p xmlns:a="http://schemas.openxmlformats.org/drawingml/2006/main">
            <a:r>
              <a:t>A training set contains 90 examples from Group A and 10 from B</a:t>
            </a:r>
          </a:p>
          <a:p xmlns:a="http://schemas.openxmlformats.org/drawingml/2006/main">
            <a:r>
              <a:t>A model’s average result may hide a weak result for B</a:t>
            </a:r>
          </a:p>
          <a:p xmlns:a="http://schemas.openxmlformats.org/drawingml/2006/main">
            <a:r>
              <a:t>Check performance for the people affected</a:t>
            </a:r>
          </a:p>
          <a:p xmlns:a="http://schemas.openxmlformats.org/drawingml/2006/main">
            <a:r>
              <a:t/>
            </a:r>
          </a:p>
          <a:p xmlns:a="http://schemas.openxmlformats.org/drawingml/2006/main">
            <a:r>
              <a:t>Checkpoint: Adding 1,000 examples from A necessarily fixes B’s omission. Is that justified?</a:t>
            </a:r>
          </a:p>
          <a:p xmlns:a="http://schemas.openxmlformats.org/drawingml/2006/main">
            <a:r>
              <a:t>Options: Yes, volume guarantees quality / No, the added examples may preserve the imbalance / Yes, an average always describes every group</a:t>
            </a:r>
          </a:p>
          <a:p xmlns:a="http://schemas.openxmlformats.org/drawingml/2006/main">
            <a:r>
              <a:t>Practice answer: No, the added examples may preserve the imbalance. The missing representation remains unless the new data or evaluation addresses it.</a:t>
            </a:r>
          </a:p>
          <a:p xmlns:a="http://schemas.openxmlformats.org/drawingml/2006/main">
            <a:r>
              <a:t/>
            </a:r>
          </a:p>
          <a:p xmlns:a="http://schemas.openxmlformats.org/drawingml/2006/main">
            <a:r>
              <a:t>Source: Bomfim et al., Digital Society for the IB Diploma, Hodder, 2022. Printed pages cited per slide. Original paraphrase. Textbook connection: pp. 87.</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school choosing volunteers for a media event. It ranks students using the number of previous events they completed. That count is a proxy for reliability. A student who was never offered an event cannot build the same count. The rule may confuse opportunity with willingness or ability. This is a synthetic scenario. To judge the rule, we would need information about access and performance, not just the final ranking. Explain the link between the proxy and the target rather than assuming a numerical score measures the desired quality directly.</a:t>
            </a:r>
          </a:p>
          <a:p xmlns:a="http://schemas.openxmlformats.org/drawingml/2006/main">
            <a:r>
              <a:t/>
            </a:r>
          </a:p>
          <a:p xmlns:a="http://schemas.openxmlformats.org/drawingml/2006/main">
            <a:r>
              <a:t>Desired quality: reliable access to a task</a:t>
            </a:r>
          </a:p>
          <a:p xmlns:a="http://schemas.openxmlformats.org/drawingml/2006/main">
            <a:r>
              <a:t>Measured signal: previous completion count</a:t>
            </a:r>
          </a:p>
          <a:p xmlns:a="http://schemas.openxmlformats.org/drawingml/2006/main">
            <a:r>
              <a:t>Low completion may reflect limited opportunity</a:t>
            </a:r>
          </a:p>
          <a:p xmlns:a="http://schemas.openxmlformats.org/drawingml/2006/main">
            <a:r>
              <a:t/>
            </a:r>
          </a:p>
          <a:p xmlns:a="http://schemas.openxmlformats.org/drawingml/2006/main">
            <a:r>
              <a:t>Practice prompt: Suggest a second signal and explain what problem it might address.</a:t>
            </a:r>
          </a:p>
          <a:p xmlns:a="http://schemas.openxmlformats.org/drawingml/2006/main">
            <a:r>
              <a:t/>
            </a:r>
          </a:p>
          <a:p xmlns:a="http://schemas.openxmlformats.org/drawingml/2006/main">
            <a:r>
              <a:t>Source: Bomfim et al., Digital Society for the IB Diploma, Hodder, 2022. Printed pages cited per slide. Original paraphrase. Textbook connection: pp. 87.</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first ranking gives one creator more exposure, that creator has more opportunities to receive views and reactions. If the next ranking uses those totals, the original advantage can grow. This is a possible feedback mechanism, not proof of unfairness in every recommender. A creator might also receive exposure because people find the work useful. We need to examine the rule and compare appropriate measures. Explain each link and identify what could interrupt the loop, such as reserving opportunities for items with little previous exposure.</a:t>
            </a:r>
          </a:p>
          <a:p xmlns:a="http://schemas.openxmlformats.org/drawingml/2006/main">
            <a:r>
              <a:t/>
            </a:r>
          </a:p>
          <a:p xmlns:a="http://schemas.openxmlformats.org/drawingml/2006/main">
            <a:r>
              <a:t>Exposure gives an item opportunities for interaction</a:t>
            </a:r>
          </a:p>
          <a:p xmlns:a="http://schemas.openxmlformats.org/drawingml/2006/main">
            <a:r>
              <a:t>Interactions become input for the next ranking</a:t>
            </a:r>
          </a:p>
          <a:p xmlns:a="http://schemas.openxmlformats.org/drawingml/2006/main">
            <a:r>
              <a:t>A low-exposure item may remain poorly measured</a:t>
            </a:r>
          </a:p>
          <a:p xmlns:a="http://schemas.openxmlformats.org/drawingml/2006/main">
            <a:r>
              <a:t/>
            </a:r>
          </a:p>
          <a:p xmlns:a="http://schemas.openxmlformats.org/drawingml/2006/main">
            <a:r>
              <a:t>Practice prompt: Which link would a reserved discovery slot change?</a:t>
            </a:r>
          </a:p>
          <a:p xmlns:a="http://schemas.openxmlformats.org/drawingml/2006/main">
            <a:r>
              <a:t>Related browser practice: ../sim/feedback-loop.html</a:t>
            </a:r>
          </a:p>
          <a:p xmlns:a="http://schemas.openxmlformats.org/drawingml/2006/main">
            <a:r>
              <a:t/>
            </a:r>
          </a:p>
          <a:p xmlns:a="http://schemas.openxmlformats.org/drawingml/2006/main">
            <a:r>
              <a:t>Source: Bomfim et al., Digital Society for the IB Diploma, Hodder, 2022. Printed pages cited per slide. Original paraphrase. Textbook connection: pp. 87–89.</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teacher, moderator or employer might accept a score without asking how it was produced. Over time, that habit can reduce the use of independent judgement. The issue is how people interact with the system, not simply whether software exists. Useful safeguards include recording a reason for a consequential decision, checking cases near a threshold and allowing a person to challenge incorrect input. These are proposals to evaluate, not guarantees. Each requires staff, time and information, and may create new privacy or workload costs.</a:t>
            </a:r>
          </a:p>
          <a:p xmlns:a="http://schemas.openxmlformats.org/drawingml/2006/main">
            <a:r>
              <a:t/>
            </a:r>
          </a:p>
          <a:p xmlns:a="http://schemas.openxmlformats.org/drawingml/2006/main">
            <a:r>
              <a:t>A score may seem authoritative because it is numerical</a:t>
            </a:r>
          </a:p>
          <a:p xmlns:a="http://schemas.openxmlformats.org/drawingml/2006/main">
            <a:r>
              <a:t>Repeated acceptance can reduce independent checking</a:t>
            </a:r>
          </a:p>
          <a:p xmlns:a="http://schemas.openxmlformats.org/drawingml/2006/main">
            <a:r>
              <a:t>A challenge route helps expose errors</a:t>
            </a:r>
          </a:p>
          <a:p xmlns:a="http://schemas.openxmlformats.org/drawingml/2006/main">
            <a:r>
              <a:t/>
            </a:r>
          </a:p>
          <a:p xmlns:a="http://schemas.openxmlformats.org/drawingml/2006/main">
            <a:r>
              <a:t>Practice prompt: Name one piece of information a reviewer needs before accepting a score.</a:t>
            </a:r>
          </a:p>
          <a:p xmlns:a="http://schemas.openxmlformats.org/drawingml/2006/main">
            <a:r>
              <a:t/>
            </a:r>
          </a:p>
          <a:p xmlns:a="http://schemas.openxmlformats.org/drawingml/2006/main">
            <a:r>
              <a:t>Source: Bomfim et al., Digital Society for the IB Diploma, Hodder, 2022. Printed pages cited per slide. Original paraphrase. Textbook connection: pp. 86–88.</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black box algorithm produces an output whose internal reasoning is difficult to understand or explain. The textbook focuses on complex learned systems. A simple rule can also be opaque to the person affected if the operator refuses to disclose it. These are different barriers. Publishing a formula may help with secrecy, but a complex model may need other explanations and testing. A black box can still produce useful predictions. The question is whether the available evidence and explanation are adequate for the consequence of the decision.</a:t>
            </a:r>
          </a:p>
          <a:p xmlns:a="http://schemas.openxmlformats.org/drawingml/2006/main">
            <a:r>
              <a:t/>
            </a:r>
          </a:p>
          <a:p xmlns:a="http://schemas.openxmlformats.org/drawingml/2006/main">
            <a:r>
              <a:t>Inputs and outputs may be visible</a:t>
            </a:r>
          </a:p>
          <a:p xmlns:a="http://schemas.openxmlformats.org/drawingml/2006/main">
            <a:r>
              <a:t>The path from input to result may remain unclear</a:t>
            </a:r>
          </a:p>
          <a:p xmlns:a="http://schemas.openxmlformats.org/drawingml/2006/main">
            <a:r>
              <a:t>Secrecy and model complexity can create different barriers</a:t>
            </a:r>
          </a:p>
          <a:p xmlns:a="http://schemas.openxmlformats.org/drawingml/2006/main">
            <a:r>
              <a:t/>
            </a:r>
          </a:p>
          <a:p xmlns:a="http://schemas.openxmlformats.org/drawingml/2006/main">
            <a:r>
              <a:t>Checkpoint: Which best defines a black box problem?</a:t>
            </a:r>
          </a:p>
          <a:p xmlns:a="http://schemas.openxmlformats.org/drawingml/2006/main">
            <a:r>
              <a:t>Options: The device has a dark casing / The decision path is difficult to understand or explain / All inputs are missing</a:t>
            </a:r>
          </a:p>
          <a:p xmlns:a="http://schemas.openxmlformats.org/drawingml/2006/main">
            <a:r>
              <a:t>Practice answer: The decision path is difficult to understand or explain. The problem concerns the explanation of how the output was reached.</a:t>
            </a:r>
          </a:p>
          <a:p xmlns:a="http://schemas.openxmlformats.org/drawingml/2006/main">
            <a:r>
              <a:t/>
            </a:r>
          </a:p>
          <a:p xmlns:a="http://schemas.openxmlformats.org/drawingml/2006/main">
            <a:r>
              <a:t>Source: Bomfim et al., Digital Society for the IB Diploma, Hodder, 2022. Printed pages cited per slide. Original paraphrase. Textbook connection: pp. 88.</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programmer, regulator and affected student need different levels of explanation. A technical model description may be useless to someone trying to correct their record. Transparency can disclose the objective, data source, decision procedure or reasons for a particular output. It can help people contest an error. It cannot by itself establish that the objective is fair or that the system causes no harm. Ask what has been disclosed, to whom, and what action that person can take with the information.</a:t>
            </a:r>
          </a:p>
          <a:p xmlns:a="http://schemas.openxmlformats.org/drawingml/2006/main">
            <a:r>
              <a:t/>
            </a:r>
          </a:p>
          <a:p xmlns:a="http://schemas.openxmlformats.org/drawingml/2006/main">
            <a:r>
              <a:t>Explain the objective and significant inputs</a:t>
            </a:r>
          </a:p>
          <a:p xmlns:a="http://schemas.openxmlformats.org/drawingml/2006/main">
            <a:r>
              <a:t>Show how a person can correct inaccurate data</a:t>
            </a:r>
          </a:p>
          <a:p xmlns:a="http://schemas.openxmlformats.org/drawingml/2006/main">
            <a:r>
              <a:t>Provide an explanation suited to the audience</a:t>
            </a:r>
          </a:p>
          <a:p xmlns:a="http://schemas.openxmlformats.org/drawingml/2006/main">
            <a:r>
              <a:t/>
            </a:r>
          </a:p>
          <a:p xmlns:a="http://schemas.openxmlformats.org/drawingml/2006/main">
            <a:r>
              <a:t>Practice prompt: What would a student need to understand and challenge a library priority decision?</a:t>
            </a:r>
          </a:p>
          <a:p xmlns:a="http://schemas.openxmlformats.org/drawingml/2006/main">
            <a:r>
              <a:t/>
            </a:r>
          </a:p>
          <a:p xmlns:a="http://schemas.openxmlformats.org/drawingml/2006/main">
            <a:r>
              <a:t>Source: Bomfim et al., Digital Society for the IB Diploma, Hodder, 2022. Printed pages cited per slide. Original paraphrase. Textbook connection: pp. 88.</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Accountability concerns responsibility for a decision and what happens when it goes wrong. A provider might explain a rule yet leave nobody responsible for correcting an unfair outcome. A review process needs a responsible decision-maker, a record of what happened and an effective route to remedy. Different organizations may share responsibility for data collection, model development and deployment. Our question is not simply who to blame. It is who can inspect, change or stop the process, and whether the affected person can obtain a meaningful response.</a:t>
            </a:r>
          </a:p>
          <a:p xmlns:a="http://schemas.openxmlformats.org/drawingml/2006/main">
            <a:r>
              <a:t/>
            </a:r>
          </a:p>
          <a:p xmlns:a="http://schemas.openxmlformats.org/drawingml/2006/main">
            <a:r>
              <a:t>Name who must explain the decision</a:t>
            </a:r>
          </a:p>
          <a:p xmlns:a="http://schemas.openxmlformats.org/drawingml/2006/main">
            <a:r>
              <a:t>Give someone authority to investigate and repair it</a:t>
            </a:r>
          </a:p>
          <a:p xmlns:a="http://schemas.openxmlformats.org/drawingml/2006/main">
            <a:r>
              <a:t>Check whether the repair improves the relevant outcome</a:t>
            </a:r>
          </a:p>
          <a:p xmlns:a="http://schemas.openxmlformats.org/drawingml/2006/main">
            <a:r>
              <a:t/>
            </a:r>
          </a:p>
          <a:p xmlns:a="http://schemas.openxmlformats.org/drawingml/2006/main">
            <a:r>
              <a:t>Practice prompt: How could a system be transparent while remaining weakly accountable?</a:t>
            </a:r>
          </a:p>
          <a:p xmlns:a="http://schemas.openxmlformats.org/drawingml/2006/main">
            <a:r>
              <a:t/>
            </a:r>
          </a:p>
          <a:p xmlns:a="http://schemas.openxmlformats.org/drawingml/2006/main">
            <a:r>
              <a:t>Source: Bomfim et al., Digital Society for the IB Diploma, Hodder, 2022. Printed pages cited per slide. Original paraphrase. Textbook connection: pp. 88.</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historical primary source from the organization operating the service. It is useful for the provider’s explanation of inputs and purpose. Its origin also matters because the provider has an interest in confidence in the service. Use the source for what it supports, not as independent proof that the system is safe or unbiased. The exact private implementation and present weights remain outside this account. Open the case file for the locator, provenance and limitations before making a broader claim.</a:t>
            </a:r>
          </a:p>
          <a:p xmlns:a="http://schemas.openxmlformats.org/drawingml/2006/main">
            <a:r>
              <a:t/>
            </a:r>
          </a:p>
          <a:p xmlns:a="http://schemas.openxmlformats.org/drawingml/2006/main">
            <a:r>
              <a:t>TikTok describes interaction and video-information signals</a:t>
            </a:r>
          </a:p>
          <a:p xmlns:a="http://schemas.openxmlformats.org/drawingml/2006/main">
            <a:r>
              <a:t>The account presents personalization as a benefit</a:t>
            </a:r>
          </a:p>
          <a:p xmlns:a="http://schemas.openxmlformats.org/drawingml/2006/main">
            <a:r>
              <a:t>Its 2020 description does not reveal today’s exact weights</a:t>
            </a:r>
          </a:p>
          <a:p xmlns:a="http://schemas.openxmlformats.org/drawingml/2006/main">
            <a:r>
              <a:t/>
            </a:r>
          </a:p>
          <a:p xmlns:a="http://schemas.openxmlformats.org/drawingml/2006/main">
            <a:r>
              <a:t>Practice prompt: Which claim is this source useful for? Which claim needs independent evidence?</a:t>
            </a:r>
          </a:p>
          <a:p xmlns:a="http://schemas.openxmlformats.org/drawingml/2006/main">
            <a:r>
              <a:t>Related browser practice: ../case-file.html</a:t>
            </a:r>
          </a:p>
          <a:p xmlns:a="http://schemas.openxmlformats.org/drawingml/2006/main">
            <a:r>
              <a:t/>
            </a:r>
          </a:p>
          <a:p xmlns:a="http://schemas.openxmlformats.org/drawingml/2006/main">
            <a:r>
              <a:t>Source: TikTok, 18 June 2020, provider account. https://newsroom.tiktok.com/en-us/how-tiktok-recommends-videos-for-you Textbook connection: pp. 86–89.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Commission examines risks from the design of the service, including recommendation, scrolling, autoplay and notifications. Its purpose and evidence differ from the provider’s product explanation. This can broaden an inquiry from how a feed works to whether design choices create risks. Keep the word preliminary attached to the finding. Do not attribute every effect to ranking alone or report the investigation as a final judgement. Compare what each source investigates and the evidence available to it.</a:t>
            </a:r>
          </a:p>
          <a:p xmlns:a="http://schemas.openxmlformats.org/drawingml/2006/main">
            <a:r>
              <a:t/>
            </a:r>
          </a:p>
          <a:p xmlns:a="http://schemas.openxmlformats.org/drawingml/2006/main">
            <a:r>
              <a:t>The European Commission issued preliminary findings in February 2026</a:t>
            </a:r>
          </a:p>
          <a:p xmlns:a="http://schemas.openxmlformats.org/drawingml/2006/main">
            <a:r>
              <a:t>The assessment concerns several interacting design features</a:t>
            </a:r>
          </a:p>
          <a:p xmlns:a="http://schemas.openxmlformats.org/drawingml/2006/main">
            <a:r>
              <a:t>The source states that the investigation’s outcome remains open</a:t>
            </a:r>
          </a:p>
          <a:p xmlns:a="http://schemas.openxmlformats.org/drawingml/2006/main">
            <a:r>
              <a:t/>
            </a:r>
          </a:p>
          <a:p xmlns:a="http://schemas.openxmlformats.org/drawingml/2006/main">
            <a:r>
              <a:t>Checkpoint: What is a justified use of Source C?</a:t>
            </a:r>
          </a:p>
          <a:p xmlns:a="http://schemas.openxmlformats.org/drawingml/2006/main">
            <a:r>
              <a:t>Options: Report a final judgement about every recommender / Examine a dated preliminary assessment of several design features / Prove a specific creator’s loss of income</a:t>
            </a:r>
          </a:p>
          <a:p xmlns:a="http://schemas.openxmlformats.org/drawingml/2006/main">
            <a:r>
              <a:t>Practice answer: Examine a dated preliminary assessment of several design features. Its scope, provisional status and evidence constrain the claim.</a:t>
            </a:r>
          </a:p>
          <a:p xmlns:a="http://schemas.openxmlformats.org/drawingml/2006/main">
            <a:r>
              <a:t/>
            </a:r>
          </a:p>
          <a:p xmlns:a="http://schemas.openxmlformats.org/drawingml/2006/main">
            <a:r>
              <a:t>Source: European Commission, 6 February 2026, preliminary findings. https://digital-strategy.ec.europa.eu/en/news/commission-preliminarily-finds-tiktoks-addictive-design-breach-digital-services-act Textbook connection: pp. 86–89.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three items receive more views than the others. That is an observation. A rule favouring previous engagement could explain how the pattern develops, but we need evidence about the rule and exposure. Claiming the operator intended to silence another creator adds a further inference. An uneven result does not establish that intention. A source describing a goal, an internal document or another suitable record may help investigate purpose. Keep these levels separate so an inquiry remains critical without exaggerating its evidence.</a:t>
            </a:r>
          </a:p>
          <a:p xmlns:a="http://schemas.openxmlformats.org/drawingml/2006/main">
            <a:r>
              <a:t/>
            </a:r>
          </a:p>
          <a:p xmlns:a="http://schemas.openxmlformats.org/drawingml/2006/main">
            <a:r>
              <a:t>Observation: a measured pattern in the results</a:t>
            </a:r>
          </a:p>
          <a:p xmlns:a="http://schemas.openxmlformats.org/drawingml/2006/main">
            <a:r>
              <a:t>Mechanism: an account of how a rule could produce it</a:t>
            </a:r>
          </a:p>
          <a:p xmlns:a="http://schemas.openxmlformats.org/drawingml/2006/main">
            <a:r>
              <a:t>Intention: a claim about an actor’s purpose</a:t>
            </a:r>
          </a:p>
          <a:p xmlns:a="http://schemas.openxmlformats.org/drawingml/2006/main">
            <a:r>
              <a:t/>
            </a:r>
          </a:p>
          <a:p xmlns:a="http://schemas.openxmlformats.org/drawingml/2006/main">
            <a:r>
              <a:t>Practice prompt: Write one observation and one possible mechanism. State what would be needed to investigate intention.</a:t>
            </a:r>
          </a:p>
          <a:p xmlns:a="http://schemas.openxmlformats.org/drawingml/2006/main">
            <a:r>
              <a:t/>
            </a:r>
          </a:p>
          <a:p xmlns:a="http://schemas.openxmlformats.org/drawingml/2006/main">
            <a:r>
              <a:t>Source: Bomfim et al., Digital Society for the IB Diploma, Hodder, 2022. Printed pages cited per slide. Original paraphrase. Textbook connection: pp. 87–89.</a:t>
            </a:r>
          </a:p>
          <a:p xmlns:a="http://schemas.openxmlformats.org/drawingml/2006/main">
            <a:r>
              <a:t>Visual: Existing teaching image or native invented data chart. All synthetic values are labelled.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conditional judgement states what you recommend, why and under which conditions. For example, a discovery allocation could be justified if testing shows that it improves access for less-seen creators without exposing users to unacceptable content. That proposal could reduce immediate predicted engagement and requires eligibility checks. Transparency may help evaluate it, but outcome evidence is still needed. We have modelled the structure of reasoning on a different example. Your independent response must choose evidence and weigh its own conditions.</a:t>
            </a:r>
          </a:p>
          <a:p xmlns:a="http://schemas.openxmlformats.org/drawingml/2006/main">
            <a:r>
              <a:t/>
            </a:r>
          </a:p>
          <a:p xmlns:a="http://schemas.openxmlformats.org/drawingml/2006/main">
            <a:r>
              <a:t>Criterion: fair access to visibility</a:t>
            </a:r>
          </a:p>
          <a:p xmlns:a="http://schemas.openxmlformats.org/drawingml/2006/main">
            <a:r>
              <a:t>Proposal: reserve some exposure for less-seen items</a:t>
            </a:r>
          </a:p>
          <a:p xmlns:a="http://schemas.openxmlformats.org/drawingml/2006/main">
            <a:r>
              <a:t>Trade-off: discovery may displace predicted relevance</a:t>
            </a:r>
          </a:p>
          <a:p xmlns:a="http://schemas.openxmlformats.org/drawingml/2006/main">
            <a:r>
              <a:t/>
            </a:r>
          </a:p>
          <a:p xmlns:a="http://schemas.openxmlformats.org/drawingml/2006/main">
            <a:r>
              <a:t>Practice prompt: Name the evidence that would make you revise this recommendation.</a:t>
            </a:r>
          </a:p>
          <a:p xmlns:a="http://schemas.openxmlformats.org/drawingml/2006/main">
            <a:r>
              <a:t/>
            </a:r>
          </a:p>
          <a:p xmlns:a="http://schemas.openxmlformats.org/drawingml/2006/main">
            <a:r>
              <a:t>Source: Bomfim et al., Digital Society for the IB Diploma, Hodder, 2022. Printed pages cited per slide. Original paraphrase. Textbook connection: pp. 89.</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practice page contains original partial questions aligned to the current guide. Paper 1 practice asks you to explain or evaluate a system using the case. Paper 2 practice asks you to use sources and integrate relevant knowledge, including direct comparison where the question requires it. Naming bias or listing two sources is insufficient. Explain how the system works and what each piece of evidence supports. Today’s practice is formative. It is not a full paper or a basis for predicting a final grade.</a:t>
            </a:r>
          </a:p>
          <a:p xmlns:a="http://schemas.openxmlformats.org/drawingml/2006/main">
            <a:r>
              <a:t/>
            </a:r>
          </a:p>
          <a:p xmlns:a="http://schemas.openxmlformats.org/drawingml/2006/main">
            <a:r>
              <a:t>Paper 1: apply knowledge to a specified situation</a:t>
            </a:r>
          </a:p>
          <a:p xmlns:a="http://schemas.openxmlformats.org/drawingml/2006/main">
            <a:r>
              <a:t>Paper 2: use and compare claims from supplied sources</a:t>
            </a:r>
          </a:p>
          <a:p xmlns:a="http://schemas.openxmlformats.org/drawingml/2006/main">
            <a:r>
              <a:t>Both require precise mechanisms and supported reasoning</a:t>
            </a:r>
          </a:p>
          <a:p xmlns:a="http://schemas.openxmlformats.org/drawingml/2006/main">
            <a:r>
              <a:t/>
            </a:r>
          </a:p>
          <a:p xmlns:a="http://schemas.openxmlformats.org/drawingml/2006/main">
            <a:r>
              <a:t>Practice prompt: Use a heading from this deck to plan one precise explanation and one source comparison.</a:t>
            </a:r>
          </a:p>
          <a:p xmlns:a="http://schemas.openxmlformats.org/drawingml/2006/main">
            <a:r>
              <a:t>Related browser practice: ../paper-practice.html</a:t>
            </a:r>
          </a:p>
          <a:p xmlns:a="http://schemas.openxmlformats.org/drawingml/2006/main">
            <a:r>
              <a:t/>
            </a:r>
          </a:p>
          <a:p xmlns:a="http://schemas.openxmlformats.org/drawingml/2006/main">
            <a:r>
              <a:t>Source: IB Digital Society guide, local April 2026 revision, sections 3.1H, 3.2A–E and 4.2A–D. Assessment authority. Textbook connection: pp. 89, 91.</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deck. A community centre allocates its most visible booking slots using previous attendance. Explain how this rule could help organizers and how it could disadvantage a new group. Identify a source you would need and an intervention you would test. This changed case checks whether the knowledge transfers. After answering, return to the relevant teaching slides and correct one reasoning gap. The October 13 source synthesis and October 14 redesign give further opportunities to revisit the same chapter ideas.</a:t>
            </a:r>
          </a:p>
          <a:p xmlns:a="http://schemas.openxmlformats.org/drawingml/2006/main">
            <a:r>
              <a:t/>
            </a:r>
          </a:p>
          <a:p xmlns:a="http://schemas.openxmlformats.org/drawingml/2006/main">
            <a:r>
              <a:t>Explain one mechanism without notes</a:t>
            </a:r>
          </a:p>
          <a:p xmlns:a="http://schemas.openxmlformats.org/drawingml/2006/main">
            <a:r>
              <a:t>Apply it to a changed context</a:t>
            </a:r>
          </a:p>
          <a:p xmlns:a="http://schemas.openxmlformats.org/drawingml/2006/main">
            <a:r>
              <a:t>Return to the explanation you could not yet justify</a:t>
            </a:r>
          </a:p>
          <a:p xmlns:a="http://schemas.openxmlformats.org/drawingml/2006/main">
            <a:r>
              <a:t/>
            </a:r>
          </a:p>
          <a:p xmlns:a="http://schemas.openxmlformats.org/drawingml/2006/main">
            <a:r>
              <a:t>Checkpoint: What makes an evaluative conclusion stronger?</a:t>
            </a:r>
          </a:p>
          <a:p xmlns:a="http://schemas.openxmlformats.org/drawingml/2006/main">
            <a:r>
              <a:t>Options: A recommendation with a criterion, evidence, trade-off and condition / A claim that every algorithm is harmful / A longer list of terminology</a:t>
            </a:r>
          </a:p>
          <a:p xmlns:a="http://schemas.openxmlformats.org/drawingml/2006/main">
            <a:r>
              <a:t>Practice answer: A recommendation with a criterion, evidence, trade-off and condition. A judgement should be justified and show what evidence or conditions could change it.</a:t>
            </a:r>
          </a:p>
          <a:p xmlns:a="http://schemas.openxmlformats.org/drawingml/2006/main">
            <a:r>
              <a:t/>
            </a:r>
          </a:p>
          <a:p xmlns:a="http://schemas.openxmlformats.org/drawingml/2006/main">
            <a:r>
              <a:t>Source: Bomfim et al., Digital Society for the IB Diploma, Hodder, 2022. Printed pages cited per slide. Original paraphrase. Textbook connection: pp. 86–91.</a:t>
            </a:r>
          </a:p>
          <a:p xmlns:a="http://schemas.openxmlformats.org/drawingml/2006/main">
            <a:r>
              <a:t>Visual: Native editable text/table.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eeb6a0fa004e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5381eee57e4e59" /><Relationship Type="http://schemas.openxmlformats.org/officeDocument/2006/relationships/slideLayout" Target="/ppt/slideLayouts/slideLayout1.xml" Id="Re7865b04573744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865b04573744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ce650df4454228" /><Relationship Type="http://schemas.openxmlformats.org/officeDocument/2006/relationships/image" Target="/ppt/media/image.png" Id="R2109fd035c9645c8" /><Relationship Type="http://schemas.openxmlformats.org/officeDocument/2006/relationships/notesSlide" Target="/ppt/notesSlides/notesSlide1.xml" Id="R5c85e331a4f8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366ea291b142fa" /><Relationship Type="http://schemas.openxmlformats.org/officeDocument/2006/relationships/notesSlide" Target="/ppt/notesSlides/notesSlide2.xml" Id="R8bc50004e7ad4b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174050e2c141f3" /><Relationship Type="http://schemas.openxmlformats.org/officeDocument/2006/relationships/image" Target="/ppt/media/image2.png" Id="R442c6378cdcf4fa4" /><Relationship Type="http://schemas.openxmlformats.org/officeDocument/2006/relationships/notesSlide" Target="/ppt/notesSlides/notesSlide3.xml" Id="Rc342fdb369b646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6373a6db4349bf" /><Relationship Type="http://schemas.openxmlformats.org/officeDocument/2006/relationships/chart" Target="/ppt/slides/charts/chart1.xml" Id="R6160ed751073498f" /><Relationship Type="http://schemas.openxmlformats.org/officeDocument/2006/relationships/notesSlide" Target="/ppt/notesSlides/notesSlide4.xml" Id="Rfbe77b65568c46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1e68a060ee4f91" /><Relationship Type="http://schemas.openxmlformats.org/officeDocument/2006/relationships/notesSlide" Target="/ppt/notesSlides/notesSlide5.xml" Id="R20dedb10730942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ffebee81214fe3" /><Relationship Type="http://schemas.openxmlformats.org/officeDocument/2006/relationships/image" Target="/ppt/media/image3.png" Id="R94c019a121de4043" /><Relationship Type="http://schemas.openxmlformats.org/officeDocument/2006/relationships/notesSlide" Target="/ppt/notesSlides/notesSlide6.xml" Id="Ra24e314fdae149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24fc5e899540dd" /><Relationship Type="http://schemas.openxmlformats.org/officeDocument/2006/relationships/notesSlide" Target="/ppt/notesSlides/notesSlide7.xml" Id="R55b290b071da43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4606437b7044bb" /><Relationship Type="http://schemas.openxmlformats.org/officeDocument/2006/relationships/notesSlide" Target="/ppt/notesSlides/notesSlide8.xml" Id="R6c9df588cc5b4d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8efa45d88b4b97" /><Relationship Type="http://schemas.openxmlformats.org/officeDocument/2006/relationships/notesSlide" Target="/ppt/notesSlides/notesSlide9.xml" Id="R4fe8e4b69d7948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3801e188a642bf" /><Relationship Type="http://schemas.openxmlformats.org/officeDocument/2006/relationships/notesSlide" Target="/ppt/notesSlides/notesSlide10.xml" Id="Rb31ded979f5043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7499f8104094639" /><Relationship Type="http://schemas.openxmlformats.org/officeDocument/2006/relationships/notesSlide" Target="/ppt/notesSlides/notesSlide11.xml" Id="R2f071ac497824b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1ca3a1b9c4492e" /><Relationship Type="http://schemas.openxmlformats.org/officeDocument/2006/relationships/notesSlide" Target="/ppt/notesSlides/notesSlide12.xml" Id="Rd8cac8227b534d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819494c82704204" /><Relationship Type="http://schemas.openxmlformats.org/officeDocument/2006/relationships/image" Target="/ppt/media/image4.png" Id="Rc743fd86e32647fe" /><Relationship Type="http://schemas.openxmlformats.org/officeDocument/2006/relationships/notesSlide" Target="/ppt/notesSlides/notesSlide13.xml" Id="R1992ed24b5bb47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f2564a5ccfa4e05" /><Relationship Type="http://schemas.openxmlformats.org/officeDocument/2006/relationships/notesSlide" Target="/ppt/notesSlides/notesSlide14.xml" Id="Re9b04264e7114c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43ea6f2d3804528" /><Relationship Type="http://schemas.openxmlformats.org/officeDocument/2006/relationships/notesSlide" Target="/ppt/notesSlides/notesSlide15.xml" Id="R22f35244310842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dc72890e1d4ad7" /><Relationship Type="http://schemas.openxmlformats.org/officeDocument/2006/relationships/notesSlide" Target="/ppt/notesSlides/notesSlide16.xml" Id="R6a595b3dd1294f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Examples (invented teaching data)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plotArea>
      <c:barChart>
        <c:barDir val="col"/>
        <c:grouping val="clustered"/>
        <c:varyColors val="0"/>
        <c:ser>
          <c:idx val="0"/>
          <c:order val="0"/>
          <c:tx>
            <c:v>Invented training examples</c:v>
          </c:tx>
          <c:spPr>
            <a:solidFill xmlns:a="http://schemas.openxmlformats.org/drawingml/2006/main">
              <a:srgbClr val="BA5628"/>
            </a:solidFill>
          </c:spPr>
          <c:cat>
            <c:strRef>
              <c:f>'Chart Data'!$A$2:$A$3</c:f>
              <c:strCache>
                <c:ptCount val="2"/>
                <c:pt idx="0">
                  <c:v>Group A</c:v>
                </c:pt>
                <c:pt idx="1">
                  <c:v>Group B</c:v>
                </c:pt>
              </c:strCache>
            </c:strRef>
          </c:cat>
          <c:val>
            <c:numRef>
              <c:f>'Chart Data'!$B$2:$B$3</c:f>
              <c:numCache>
                <c:formatCode>0.0</c:formatCode>
                <c:ptCount val="2"/>
                <c:pt idx="0">
                  <c:v>90</c:v>
                </c:pt>
                <c:pt idx="1">
                  <c:v>10</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8E6A67-86EE-45FE-A325-4C4C94C01E1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0C9A2FEF-A8F8-4639-BD64-841AE460259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correct calculation can produce a harmful decision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109fd035c9645c8"/>
          <a:stretch xmlns:a="http://schemas.openxmlformats.org/drawingml/2006/main"/>
        </p:blipFill>
        <p:spPr>
          <a:xfrm xmlns:a="http://schemas.openxmlformats.org/drawingml/2006/main">
            <a:off x="3032695" y="1657350"/>
            <a:ext cx="6126610"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20DAFB-FFDC-49E5-89FD-F4B4424E3A5B}"/>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A5628"/>
                </a:solidFill>
                <a:latin typeface="Helvetica Neue"/>
                <a:ea typeface="Helvetica Neue"/>
                <a:cs typeface="Helvetica Neue"/>
              </a:defRPr>
            </a:pPr>
            <a:r>
              <a:rPr sz="2025" b="1">
                <a:solidFill>
                  <a:srgbClr val="BA5628"/>
                </a:solidFill>
                <a:latin typeface="Helvetica Neue"/>
                <a:ea typeface="Helvetica Neue"/>
                <a:cs typeface="Helvetica Neue"/>
              </a:rPr>
              <a:t>Arithmetic checks whether a rule was followed</a:t>
            </a:r>
          </a:p>
        </p:txBody>
      </p:sp>
      <p:sp>
        <p:nvSpPr>
          <p:cNvPr id="5" name="">
            <a:extLst xmlns:a="http://schemas.openxmlformats.org/drawingml/2006/main">
              <a:ext uri="{FF2B5EF4-FFF2-40B4-BE49-F238E27FC236}">
                <a16:creationId xmlns:a16="http://schemas.microsoft.com/office/drawing/2014/main" id="{B2B08AEC-4F20-4632-947D-FCEF1A8B9C42}"/>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Whose definition of success could differ from the platform’s?</a:t>
            </a:r>
          </a:p>
        </p:txBody>
      </p:sp>
      <p:sp>
        <p:nvSpPr>
          <p:cNvPr id="6" name="">
            <a:extLst xmlns:a="http://schemas.openxmlformats.org/drawingml/2006/main">
              <a:ext uri="{FF2B5EF4-FFF2-40B4-BE49-F238E27FC236}">
                <a16:creationId xmlns:a16="http://schemas.microsoft.com/office/drawing/2014/main" id="{1F08ABB7-028D-410F-B207-B60DB745B7BC}"/>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  /  Original teaching explanation</a:t>
            </a:r>
          </a:p>
        </p:txBody>
      </p:sp>
      <p:sp>
        <p:nvSpPr>
          <p:cNvPr id="7" name="">
            <a:extLst xmlns:a="http://schemas.openxmlformats.org/drawingml/2006/main">
              <a:ext uri="{FF2B5EF4-FFF2-40B4-BE49-F238E27FC236}">
                <a16:creationId xmlns:a16="http://schemas.microsoft.com/office/drawing/2014/main" id="{E3014659-3B7C-4971-84CE-EEC19D208259}"/>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01 / 16</a:t>
            </a:r>
          </a:p>
        </p:txBody>
      </p:sp>
    </p:spTree>
    <p:extLst>
      <p:ext uri="{BB962C8B-B14F-4D97-AF65-F5344CB8AC3E}">
        <p14:creationId xmlns:p14="http://schemas.microsoft.com/office/powerpoint/2010/main" val="19527806"/>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9047AD-8449-4FE2-AB80-24DC0609108E}"/>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2E8613C5-8DBF-482F-B8FD-ADCF03A336F8}"/>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Replacing and supporting human judgement</a:t>
            </a:r>
          </a:p>
        </p:txBody>
      </p:sp>
      <p:sp>
        <p:nvSpPr>
          <p:cNvPr id="3" name="">
            <a:extLst xmlns:a="http://schemas.openxmlformats.org/drawingml/2006/main">
              <a:ext uri="{FF2B5EF4-FFF2-40B4-BE49-F238E27FC236}">
                <a16:creationId xmlns:a16="http://schemas.microsoft.com/office/drawing/2014/main" id="{2A5015C5-73EA-47BE-B5AB-791220877DBE}"/>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Automation can apply a rule consistently at scale</a:t>
            </a:r>
          </a:p>
        </p:txBody>
      </p:sp>
      <p:sp>
        <p:nvSpPr>
          <p:cNvPr id="4" name="">
            <a:extLst xmlns:a="http://schemas.openxmlformats.org/drawingml/2006/main">
              <a:ext uri="{FF2B5EF4-FFF2-40B4-BE49-F238E27FC236}">
                <a16:creationId xmlns:a16="http://schemas.microsoft.com/office/drawing/2014/main" id="{969C8E03-3976-4D87-B38C-6F863524C68D}"/>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Human reviewers can interpret context and exceptions</a:t>
            </a:r>
          </a:p>
        </p:txBody>
      </p:sp>
      <p:sp>
        <p:nvSpPr>
          <p:cNvPr id="5" name="">
            <a:extLst xmlns:a="http://schemas.openxmlformats.org/drawingml/2006/main">
              <a:ext uri="{FF2B5EF4-FFF2-40B4-BE49-F238E27FC236}">
                <a16:creationId xmlns:a16="http://schemas.microsoft.com/office/drawing/2014/main" id="{BE73B6C7-FF06-4722-B01E-F4FEC1EF62FF}"/>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reviewer needs authority, time and useful information</a:t>
            </a:r>
          </a:p>
        </p:txBody>
      </p:sp>
      <p:sp>
        <p:nvSpPr>
          <p:cNvPr id="6" name="">
            <a:extLst xmlns:a="http://schemas.openxmlformats.org/drawingml/2006/main">
              <a:ext uri="{FF2B5EF4-FFF2-40B4-BE49-F238E27FC236}">
                <a16:creationId xmlns:a16="http://schemas.microsoft.com/office/drawing/2014/main" id="{80084869-6DF9-4926-95F5-8FBA627269CF}"/>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What would make a human review effective rather than ceremonial?</a:t>
            </a:r>
          </a:p>
        </p:txBody>
      </p:sp>
      <p:sp>
        <p:nvSpPr>
          <p:cNvPr id="7" name="">
            <a:extLst xmlns:a="http://schemas.openxmlformats.org/drawingml/2006/main">
              <a:ext uri="{FF2B5EF4-FFF2-40B4-BE49-F238E27FC236}">
                <a16:creationId xmlns:a16="http://schemas.microsoft.com/office/drawing/2014/main" id="{67904B47-1B55-42DC-96B7-BE51B88D5DA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86–87  /  Original teaching explanation</a:t>
            </a:r>
          </a:p>
        </p:txBody>
      </p:sp>
      <p:sp>
        <p:nvSpPr>
          <p:cNvPr id="8" name="">
            <a:extLst xmlns:a="http://schemas.openxmlformats.org/drawingml/2006/main">
              <a:ext uri="{FF2B5EF4-FFF2-40B4-BE49-F238E27FC236}">
                <a16:creationId xmlns:a16="http://schemas.microsoft.com/office/drawing/2014/main" id="{CE5AA264-124F-4A94-8510-081DCBAD68B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02 / 16</a:t>
            </a:r>
          </a:p>
        </p:txBody>
      </p:sp>
    </p:spTree>
    <p:extLst>
      <p:ext uri="{BB962C8B-B14F-4D97-AF65-F5344CB8AC3E}">
        <p14:creationId xmlns:p14="http://schemas.microsoft.com/office/powerpoint/2010/main" val="1960064172"/>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E1013E-570E-4BE1-AC95-1381ABEEB2F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DFED6FF2-6CB3-46AD-B765-B93C22B5217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Bias can enter at several points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42c6378cdcf4fa4"/>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F8899D-79D4-4C0E-BEE8-BBB3B3070D1F}"/>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A5628"/>
                </a:solidFill>
                <a:latin typeface="Helvetica Neue"/>
                <a:ea typeface="Helvetica Neue"/>
                <a:cs typeface="Helvetica Neue"/>
              </a:defRPr>
            </a:pPr>
            <a:r>
              <a:rPr sz="2025" b="1">
                <a:solidFill>
                  <a:srgbClr val="BA5628"/>
                </a:solidFill>
                <a:latin typeface="Helvetica Neue"/>
                <a:ea typeface="Helvetica Neue"/>
                <a:cs typeface="Helvetica Neue"/>
              </a:rPr>
              <a:t>Data may omit or misrepresent a group</a:t>
            </a:r>
          </a:p>
        </p:txBody>
      </p:sp>
      <p:sp>
        <p:nvSpPr>
          <p:cNvPr id="5" name="">
            <a:extLst xmlns:a="http://schemas.openxmlformats.org/drawingml/2006/main">
              <a:ext uri="{FF2B5EF4-FFF2-40B4-BE49-F238E27FC236}">
                <a16:creationId xmlns:a16="http://schemas.microsoft.com/office/drawing/2014/main" id="{8734CEC3-9D57-427B-89AA-AB1C14674C6B}"/>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Choose a point in the system where an unfair pattern could begin.</a:t>
            </a:r>
          </a:p>
        </p:txBody>
      </p:sp>
      <p:sp>
        <p:nvSpPr>
          <p:cNvPr id="6" name="">
            <a:extLst xmlns:a="http://schemas.openxmlformats.org/drawingml/2006/main">
              <a:ext uri="{FF2B5EF4-FFF2-40B4-BE49-F238E27FC236}">
                <a16:creationId xmlns:a16="http://schemas.microsoft.com/office/drawing/2014/main" id="{8104B566-98EE-451F-B8BA-10E6F584B19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87  /  Original teaching explanation</a:t>
            </a:r>
          </a:p>
        </p:txBody>
      </p:sp>
      <p:sp>
        <p:nvSpPr>
          <p:cNvPr id="7" name="">
            <a:extLst xmlns:a="http://schemas.openxmlformats.org/drawingml/2006/main">
              <a:ext uri="{FF2B5EF4-FFF2-40B4-BE49-F238E27FC236}">
                <a16:creationId xmlns:a16="http://schemas.microsoft.com/office/drawing/2014/main" id="{C08717C6-50A7-4FA9-97CD-EB62AAC73044}"/>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03 / 16</a:t>
            </a:r>
          </a:p>
        </p:txBody>
      </p:sp>
    </p:spTree>
    <p:extLst>
      <p:ext uri="{BB962C8B-B14F-4D97-AF65-F5344CB8AC3E}">
        <p14:creationId xmlns:p14="http://schemas.microsoft.com/office/powerpoint/2010/main" val="1908934663"/>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42556D-212A-40D2-BE12-A81697940E3D}"/>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AFEA2931-90A9-4857-8374-AF4BED97BDB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Missing examples can change who succeeds</a:t>
            </a:r>
          </a:p>
        </p:txBody>
      </p:sp>
      <p:sp>
        <p:nvSpPr>
          <p:cNvPr id="3" name="">
            <a:extLst xmlns:a="http://schemas.openxmlformats.org/drawingml/2006/main">
              <a:ext uri="{FF2B5EF4-FFF2-40B4-BE49-F238E27FC236}">
                <a16:creationId xmlns:a16="http://schemas.microsoft.com/office/drawing/2014/main" id="{5D637F93-54DE-4E08-9139-773497BBB459}"/>
              </a:ext>
            </a:extLst>
          </p:cNvPr>
          <p:cNvSpPr>
            <a:spLocks xmlns:a="http://schemas.openxmlformats.org/drawingml/2006/main" noGrp="1"/>
          </p:cNvSpPr>
          <p:nvPr/>
        </p:nvSpPr>
        <p:spPr>
          <a:xfrm xmlns:a="http://schemas.openxmlformats.org/drawingml/2006/main">
            <a:off x="609600" y="1590675"/>
            <a:ext cx="109728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A training set contains 90 examples from Group A and 10 from B</a:t>
            </a:r>
          </a:p>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A model’s average result may hide a weak result for B</a:t>
            </a:r>
          </a:p>
          <a:p xmlns:a="http://schemas.openxmlformats.org/drawingml/2006/main">
            <a:pPr>
              <a:defRPr sz="2100" b="0">
                <a:solidFill>
                  <a:srgbClr val="16333E"/>
                </a:solidFill>
                <a:latin typeface="Helvetica Neue"/>
                <a:ea typeface="Helvetica Neue"/>
                <a:cs typeface="Helvetica Neue"/>
              </a:defRPr>
            </a:pPr>
            <a:r>
              <a:rPr sz="2100" b="0">
                <a:solidFill>
                  <a:srgbClr val="16333E"/>
                </a:solidFill>
                <a:latin typeface="Helvetica Neue"/>
                <a:ea typeface="Helvetica Neue"/>
                <a:cs typeface="Helvetica Neue"/>
              </a:rPr>
              <a:t>Check performance for the people affected</a:t>
            </a:r>
          </a:p>
        </p:txBody>
      </p:sp>
      <p:graphicFrame>
        <p:nvGraphicFramePr>
          <p:cNvPr id="11" name="Chart"/>
          <p:cNvGraphicFramePr/>
          <p:nvPr/>
        </p:nvGraphicFramePr>
        <p:xfrm>
          <a:off xmlns:a="http://schemas.openxmlformats.org/drawingml/2006/main" x="609600" y="2905125"/>
          <a:ext xmlns:a="http://schemas.openxmlformats.org/drawingml/2006/main" cx="10972800" cy="2628900"/>
        </p:xfrm>
        <a:graphic xmlns:a="http://schemas.openxmlformats.org/drawingml/2006/main">
          <a:graphicData uri="http://schemas.openxmlformats.org/drawingml/2006/chart">
            <c:chart xmlns:r="http://schemas.openxmlformats.org/officeDocument/2006/relationships" xmlns:c="http://schemas.openxmlformats.org/drawingml/2006/chart" r:id="R6160ed751073498f"/>
          </a:graphicData>
        </a:graphic>
      </p:graphicFrame>
      <p:sp>
        <p:nvSpPr>
          <p:cNvPr id="5" name="">
            <a:extLst xmlns:a="http://schemas.openxmlformats.org/drawingml/2006/main">
              <a:ext uri="{FF2B5EF4-FFF2-40B4-BE49-F238E27FC236}">
                <a16:creationId xmlns:a16="http://schemas.microsoft.com/office/drawing/2014/main" id="{9989FF68-04D2-4CF0-BFCA-AC28E268357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Checkpoint: Adding 1,000 examples from A necessarily fixes B’s omission. Is that justified?</a:t>
            </a:r>
          </a:p>
        </p:txBody>
      </p:sp>
      <p:sp>
        <p:nvSpPr>
          <p:cNvPr id="6" name="">
            <a:extLst xmlns:a="http://schemas.openxmlformats.org/drawingml/2006/main">
              <a:ext uri="{FF2B5EF4-FFF2-40B4-BE49-F238E27FC236}">
                <a16:creationId xmlns:a16="http://schemas.microsoft.com/office/drawing/2014/main" id="{36F158D8-1920-400B-988F-5718842A16F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87  /  Original teaching explanation</a:t>
            </a:r>
          </a:p>
        </p:txBody>
      </p:sp>
      <p:sp>
        <p:nvSpPr>
          <p:cNvPr id="7" name="">
            <a:extLst xmlns:a="http://schemas.openxmlformats.org/drawingml/2006/main">
              <a:ext uri="{FF2B5EF4-FFF2-40B4-BE49-F238E27FC236}">
                <a16:creationId xmlns:a16="http://schemas.microsoft.com/office/drawing/2014/main" id="{42E41659-B39E-4ED8-9205-4A40836853A7}"/>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04 / 16</a:t>
            </a:r>
          </a:p>
        </p:txBody>
      </p:sp>
    </p:spTree>
    <p:extLst>
      <p:ext uri="{BB962C8B-B14F-4D97-AF65-F5344CB8AC3E}">
        <p14:creationId xmlns:p14="http://schemas.microsoft.com/office/powerpoint/2010/main" val="1539036604"/>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C54DC3-8831-4B3F-AE82-03E14D821814}"/>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E82403B5-0FEF-46C0-906E-531131C03B2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proxy can misrepresent the intended quality</a:t>
            </a:r>
          </a:p>
        </p:txBody>
      </p:sp>
      <p:sp>
        <p:nvSpPr>
          <p:cNvPr id="3" name="">
            <a:extLst xmlns:a="http://schemas.openxmlformats.org/drawingml/2006/main">
              <a:ext uri="{FF2B5EF4-FFF2-40B4-BE49-F238E27FC236}">
                <a16:creationId xmlns:a16="http://schemas.microsoft.com/office/drawing/2014/main" id="{875249FE-F630-4CC6-BFB9-9FEE04DF626E}"/>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Desired quality: reliable access to a task</a:t>
            </a:r>
          </a:p>
        </p:txBody>
      </p:sp>
      <p:sp>
        <p:nvSpPr>
          <p:cNvPr id="4" name="">
            <a:extLst xmlns:a="http://schemas.openxmlformats.org/drawingml/2006/main">
              <a:ext uri="{FF2B5EF4-FFF2-40B4-BE49-F238E27FC236}">
                <a16:creationId xmlns:a16="http://schemas.microsoft.com/office/drawing/2014/main" id="{AE3825E4-8856-4031-A139-ACCEDE254D82}"/>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Measured signal: previous completion count</a:t>
            </a:r>
          </a:p>
        </p:txBody>
      </p:sp>
      <p:sp>
        <p:nvSpPr>
          <p:cNvPr id="5" name="">
            <a:extLst xmlns:a="http://schemas.openxmlformats.org/drawingml/2006/main">
              <a:ext uri="{FF2B5EF4-FFF2-40B4-BE49-F238E27FC236}">
                <a16:creationId xmlns:a16="http://schemas.microsoft.com/office/drawing/2014/main" id="{B471FD49-295C-4004-B699-3E946EE4B70F}"/>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Low completion may reflect limited opportunity</a:t>
            </a:r>
          </a:p>
        </p:txBody>
      </p:sp>
      <p:sp>
        <p:nvSpPr>
          <p:cNvPr id="6" name="">
            <a:extLst xmlns:a="http://schemas.openxmlformats.org/drawingml/2006/main">
              <a:ext uri="{FF2B5EF4-FFF2-40B4-BE49-F238E27FC236}">
                <a16:creationId xmlns:a16="http://schemas.microsoft.com/office/drawing/2014/main" id="{57EDF6EC-BCC4-4067-905F-F14B04B3906A}"/>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Suggest a second signal and explain what problem it might address.</a:t>
            </a:r>
          </a:p>
        </p:txBody>
      </p:sp>
      <p:sp>
        <p:nvSpPr>
          <p:cNvPr id="7" name="">
            <a:extLst xmlns:a="http://schemas.openxmlformats.org/drawingml/2006/main">
              <a:ext uri="{FF2B5EF4-FFF2-40B4-BE49-F238E27FC236}">
                <a16:creationId xmlns:a16="http://schemas.microsoft.com/office/drawing/2014/main" id="{D59601A5-949A-489E-90D5-09D422F1F2E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87  /  Original teaching explanation</a:t>
            </a:r>
          </a:p>
        </p:txBody>
      </p:sp>
      <p:sp>
        <p:nvSpPr>
          <p:cNvPr id="8" name="">
            <a:extLst xmlns:a="http://schemas.openxmlformats.org/drawingml/2006/main">
              <a:ext uri="{FF2B5EF4-FFF2-40B4-BE49-F238E27FC236}">
                <a16:creationId xmlns:a16="http://schemas.microsoft.com/office/drawing/2014/main" id="{CE3365F2-EF48-4385-92FC-E7561613AC3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05 / 16</a:t>
            </a:r>
          </a:p>
        </p:txBody>
      </p:sp>
    </p:spTree>
    <p:extLst>
      <p:ext uri="{BB962C8B-B14F-4D97-AF65-F5344CB8AC3E}">
        <p14:creationId xmlns:p14="http://schemas.microsoft.com/office/powerpoint/2010/main" val="544620819"/>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94E609-146F-4C2C-906B-98A36EC9DB2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03FE860B-837C-48FF-92DB-E4344C4A2E56}"/>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feedback loop can reinforce an early advantage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4c019a121de4043"/>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A931EB9-E8F6-4C4C-85CA-FE9EC94804ED}"/>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A5628"/>
                </a:solidFill>
                <a:latin typeface="Helvetica Neue"/>
                <a:ea typeface="Helvetica Neue"/>
                <a:cs typeface="Helvetica Neue"/>
              </a:defRPr>
            </a:pPr>
            <a:r>
              <a:rPr sz="2025" b="1">
                <a:solidFill>
                  <a:srgbClr val="BA5628"/>
                </a:solidFill>
                <a:latin typeface="Helvetica Neue"/>
                <a:ea typeface="Helvetica Neue"/>
                <a:cs typeface="Helvetica Neue"/>
              </a:rPr>
              <a:t>Exposure gives an item opportunities for interaction</a:t>
            </a:r>
          </a:p>
        </p:txBody>
      </p:sp>
      <p:sp>
        <p:nvSpPr>
          <p:cNvPr id="5" name="">
            <a:extLst xmlns:a="http://schemas.openxmlformats.org/drawingml/2006/main">
              <a:ext uri="{FF2B5EF4-FFF2-40B4-BE49-F238E27FC236}">
                <a16:creationId xmlns:a16="http://schemas.microsoft.com/office/drawing/2014/main" id="{554273D6-07AD-4045-852B-DD96A4297CF2}"/>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Which link would a reserved discovery slot change?</a:t>
            </a:r>
          </a:p>
        </p:txBody>
      </p:sp>
      <p:sp>
        <p:nvSpPr>
          <p:cNvPr id="6" name="">
            <a:extLst xmlns:a="http://schemas.openxmlformats.org/drawingml/2006/main">
              <a:ext uri="{FF2B5EF4-FFF2-40B4-BE49-F238E27FC236}">
                <a16:creationId xmlns:a16="http://schemas.microsoft.com/office/drawing/2014/main" id="{91E78E2F-B74E-489B-87AD-A8AACA0FE6E9}"/>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87–89  /  Original teaching explanation</a:t>
            </a:r>
          </a:p>
        </p:txBody>
      </p:sp>
      <p:sp>
        <p:nvSpPr>
          <p:cNvPr id="7" name="">
            <a:extLst xmlns:a="http://schemas.openxmlformats.org/drawingml/2006/main">
              <a:ext uri="{FF2B5EF4-FFF2-40B4-BE49-F238E27FC236}">
                <a16:creationId xmlns:a16="http://schemas.microsoft.com/office/drawing/2014/main" id="{C219B32A-07C8-40CA-9822-BB2E0778BB0A}"/>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06 / 16</a:t>
            </a:r>
          </a:p>
        </p:txBody>
      </p:sp>
    </p:spTree>
    <p:extLst>
      <p:ext uri="{BB962C8B-B14F-4D97-AF65-F5344CB8AC3E}">
        <p14:creationId xmlns:p14="http://schemas.microsoft.com/office/powerpoint/2010/main" val="981799554"/>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DE9903-A791-41BC-9EB8-986A39C0E5B7}"/>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3C6FF2CC-749E-4A67-8C65-B0D0EF7A3E75}"/>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Human judgement can erode through over-reliance</a:t>
            </a:r>
          </a:p>
        </p:txBody>
      </p:sp>
      <p:sp>
        <p:nvSpPr>
          <p:cNvPr id="3" name="">
            <a:extLst xmlns:a="http://schemas.openxmlformats.org/drawingml/2006/main">
              <a:ext uri="{FF2B5EF4-FFF2-40B4-BE49-F238E27FC236}">
                <a16:creationId xmlns:a16="http://schemas.microsoft.com/office/drawing/2014/main" id="{4656A2BF-4C6B-416B-B1C2-A947226B9FF4}"/>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A score may seem authoritative because it is numerical</a:t>
            </a:r>
          </a:p>
        </p:txBody>
      </p:sp>
      <p:sp>
        <p:nvSpPr>
          <p:cNvPr id="4" name="">
            <a:extLst xmlns:a="http://schemas.openxmlformats.org/drawingml/2006/main">
              <a:ext uri="{FF2B5EF4-FFF2-40B4-BE49-F238E27FC236}">
                <a16:creationId xmlns:a16="http://schemas.microsoft.com/office/drawing/2014/main" id="{16F7FB8B-9CBE-4D4F-8BC9-487C2D767318}"/>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Repeated acceptance can reduce independent checking</a:t>
            </a:r>
          </a:p>
        </p:txBody>
      </p:sp>
      <p:sp>
        <p:nvSpPr>
          <p:cNvPr id="5" name="">
            <a:extLst xmlns:a="http://schemas.openxmlformats.org/drawingml/2006/main">
              <a:ext uri="{FF2B5EF4-FFF2-40B4-BE49-F238E27FC236}">
                <a16:creationId xmlns:a16="http://schemas.microsoft.com/office/drawing/2014/main" id="{5AC3EAFA-33A6-4940-9950-066EA493E58E}"/>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 challenge route helps expose errors</a:t>
            </a:r>
          </a:p>
        </p:txBody>
      </p:sp>
      <p:sp>
        <p:nvSpPr>
          <p:cNvPr id="6" name="">
            <a:extLst xmlns:a="http://schemas.openxmlformats.org/drawingml/2006/main">
              <a:ext uri="{FF2B5EF4-FFF2-40B4-BE49-F238E27FC236}">
                <a16:creationId xmlns:a16="http://schemas.microsoft.com/office/drawing/2014/main" id="{44A1E36C-AB21-42C9-B759-A046E050DF0D}"/>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Name one piece of information a reviewer needs before accepting a score.</a:t>
            </a:r>
          </a:p>
        </p:txBody>
      </p:sp>
      <p:sp>
        <p:nvSpPr>
          <p:cNvPr id="7" name="">
            <a:extLst xmlns:a="http://schemas.openxmlformats.org/drawingml/2006/main">
              <a:ext uri="{FF2B5EF4-FFF2-40B4-BE49-F238E27FC236}">
                <a16:creationId xmlns:a16="http://schemas.microsoft.com/office/drawing/2014/main" id="{45912090-FED5-4ADE-84F5-4EB8B949030A}"/>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86–88  /  Original teaching explanation</a:t>
            </a:r>
          </a:p>
        </p:txBody>
      </p:sp>
      <p:sp>
        <p:nvSpPr>
          <p:cNvPr id="8" name="">
            <a:extLst xmlns:a="http://schemas.openxmlformats.org/drawingml/2006/main">
              <a:ext uri="{FF2B5EF4-FFF2-40B4-BE49-F238E27FC236}">
                <a16:creationId xmlns:a16="http://schemas.microsoft.com/office/drawing/2014/main" id="{F0B2EA05-B729-4A77-833F-4F17C057D45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07 / 16</a:t>
            </a:r>
          </a:p>
        </p:txBody>
      </p:sp>
    </p:spTree>
    <p:extLst>
      <p:ext uri="{BB962C8B-B14F-4D97-AF65-F5344CB8AC3E}">
        <p14:creationId xmlns:p14="http://schemas.microsoft.com/office/powerpoint/2010/main" val="1426519711"/>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D1A6FF-497F-45A7-B167-94A7A13F900F}"/>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05C51548-443A-42F6-BB58-3B2EFE07ABC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black box limits explanation</a:t>
            </a:r>
          </a:p>
        </p:txBody>
      </p:sp>
      <p:sp>
        <p:nvSpPr>
          <p:cNvPr id="3" name="">
            <a:extLst xmlns:a="http://schemas.openxmlformats.org/drawingml/2006/main">
              <a:ext uri="{FF2B5EF4-FFF2-40B4-BE49-F238E27FC236}">
                <a16:creationId xmlns:a16="http://schemas.microsoft.com/office/drawing/2014/main" id="{9D938019-55B0-493B-B069-CC79DB6E50FC}"/>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Inputs and outputs may be visible</a:t>
            </a:r>
          </a:p>
        </p:txBody>
      </p:sp>
      <p:sp>
        <p:nvSpPr>
          <p:cNvPr id="4" name="">
            <a:extLst xmlns:a="http://schemas.openxmlformats.org/drawingml/2006/main">
              <a:ext uri="{FF2B5EF4-FFF2-40B4-BE49-F238E27FC236}">
                <a16:creationId xmlns:a16="http://schemas.microsoft.com/office/drawing/2014/main" id="{93A91649-F22D-4F4C-BE1A-8BE3319C9BBC}"/>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The path from input to result may remain unclear</a:t>
            </a:r>
          </a:p>
        </p:txBody>
      </p:sp>
      <p:sp>
        <p:nvSpPr>
          <p:cNvPr id="5" name="">
            <a:extLst xmlns:a="http://schemas.openxmlformats.org/drawingml/2006/main">
              <a:ext uri="{FF2B5EF4-FFF2-40B4-BE49-F238E27FC236}">
                <a16:creationId xmlns:a16="http://schemas.microsoft.com/office/drawing/2014/main" id="{73574418-50E1-4B01-8A2B-4EE78E947930}"/>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Secrecy and model complexity can create different barriers</a:t>
            </a:r>
          </a:p>
        </p:txBody>
      </p:sp>
      <p:sp>
        <p:nvSpPr>
          <p:cNvPr id="6" name="">
            <a:extLst xmlns:a="http://schemas.openxmlformats.org/drawingml/2006/main">
              <a:ext uri="{FF2B5EF4-FFF2-40B4-BE49-F238E27FC236}">
                <a16:creationId xmlns:a16="http://schemas.microsoft.com/office/drawing/2014/main" id="{2C98F1C6-AF8B-43BB-91C6-92A0BC79D654}"/>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Checkpoint: Which best defines a black box problem?</a:t>
            </a:r>
          </a:p>
        </p:txBody>
      </p:sp>
      <p:sp>
        <p:nvSpPr>
          <p:cNvPr id="7" name="">
            <a:extLst xmlns:a="http://schemas.openxmlformats.org/drawingml/2006/main">
              <a:ext uri="{FF2B5EF4-FFF2-40B4-BE49-F238E27FC236}">
                <a16:creationId xmlns:a16="http://schemas.microsoft.com/office/drawing/2014/main" id="{C70707F2-F94C-4856-B75A-74FF153FDF7B}"/>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88  /  Original teaching explanation</a:t>
            </a:r>
          </a:p>
        </p:txBody>
      </p:sp>
      <p:sp>
        <p:nvSpPr>
          <p:cNvPr id="8" name="">
            <a:extLst xmlns:a="http://schemas.openxmlformats.org/drawingml/2006/main">
              <a:ext uri="{FF2B5EF4-FFF2-40B4-BE49-F238E27FC236}">
                <a16:creationId xmlns:a16="http://schemas.microsoft.com/office/drawing/2014/main" id="{E17F52C5-B0C9-43F0-BBAF-E03B875EAC0A}"/>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08 / 16</a:t>
            </a:r>
          </a:p>
        </p:txBody>
      </p:sp>
    </p:spTree>
    <p:extLst>
      <p:ext uri="{BB962C8B-B14F-4D97-AF65-F5344CB8AC3E}">
        <p14:creationId xmlns:p14="http://schemas.microsoft.com/office/powerpoint/2010/main" val="90852565"/>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5BEBCC-4760-4225-8067-4C417D5F8C08}"/>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8323BBA0-117C-4CA6-B141-ECF9375963D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Transparency makes parts of the decision understandable</a:t>
            </a:r>
          </a:p>
        </p:txBody>
      </p:sp>
      <p:sp>
        <p:nvSpPr>
          <p:cNvPr id="3" name="">
            <a:extLst xmlns:a="http://schemas.openxmlformats.org/drawingml/2006/main">
              <a:ext uri="{FF2B5EF4-FFF2-40B4-BE49-F238E27FC236}">
                <a16:creationId xmlns:a16="http://schemas.microsoft.com/office/drawing/2014/main" id="{8CB4A8B8-62F4-4D16-9786-585FAC54EDED}"/>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Explain the objective and significant inputs</a:t>
            </a:r>
          </a:p>
        </p:txBody>
      </p:sp>
      <p:sp>
        <p:nvSpPr>
          <p:cNvPr id="4" name="">
            <a:extLst xmlns:a="http://schemas.openxmlformats.org/drawingml/2006/main">
              <a:ext uri="{FF2B5EF4-FFF2-40B4-BE49-F238E27FC236}">
                <a16:creationId xmlns:a16="http://schemas.microsoft.com/office/drawing/2014/main" id="{D31D23C1-C602-48F3-81E2-5E9ED50A1531}"/>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Show how a person can correct inaccurate data</a:t>
            </a:r>
          </a:p>
        </p:txBody>
      </p:sp>
      <p:sp>
        <p:nvSpPr>
          <p:cNvPr id="5" name="">
            <a:extLst xmlns:a="http://schemas.openxmlformats.org/drawingml/2006/main">
              <a:ext uri="{FF2B5EF4-FFF2-40B4-BE49-F238E27FC236}">
                <a16:creationId xmlns:a16="http://schemas.microsoft.com/office/drawing/2014/main" id="{7E05BFC2-657C-4CB4-A2B6-F384C4071909}"/>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Provide an explanation suited to the audience</a:t>
            </a:r>
          </a:p>
        </p:txBody>
      </p:sp>
      <p:sp>
        <p:nvSpPr>
          <p:cNvPr id="6" name="">
            <a:extLst xmlns:a="http://schemas.openxmlformats.org/drawingml/2006/main">
              <a:ext uri="{FF2B5EF4-FFF2-40B4-BE49-F238E27FC236}">
                <a16:creationId xmlns:a16="http://schemas.microsoft.com/office/drawing/2014/main" id="{E09CAEC6-3EB7-4A56-9D2D-111455CBA0B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What would a student need to understand and challenge a library priority decision?</a:t>
            </a:r>
          </a:p>
        </p:txBody>
      </p:sp>
      <p:sp>
        <p:nvSpPr>
          <p:cNvPr id="7" name="">
            <a:extLst xmlns:a="http://schemas.openxmlformats.org/drawingml/2006/main">
              <a:ext uri="{FF2B5EF4-FFF2-40B4-BE49-F238E27FC236}">
                <a16:creationId xmlns:a16="http://schemas.microsoft.com/office/drawing/2014/main" id="{CC7D8C66-6189-4002-9488-6E51CFB6B18E}"/>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88  /  Original teaching explanation</a:t>
            </a:r>
          </a:p>
        </p:txBody>
      </p:sp>
      <p:sp>
        <p:nvSpPr>
          <p:cNvPr id="8" name="">
            <a:extLst xmlns:a="http://schemas.openxmlformats.org/drawingml/2006/main">
              <a:ext uri="{FF2B5EF4-FFF2-40B4-BE49-F238E27FC236}">
                <a16:creationId xmlns:a16="http://schemas.microsoft.com/office/drawing/2014/main" id="{D24F0E1D-9636-4A01-B083-1954D0715AC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09 / 16</a:t>
            </a:r>
          </a:p>
        </p:txBody>
      </p:sp>
    </p:spTree>
    <p:extLst>
      <p:ext uri="{BB962C8B-B14F-4D97-AF65-F5344CB8AC3E}">
        <p14:creationId xmlns:p14="http://schemas.microsoft.com/office/powerpoint/2010/main" val="937628622"/>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6D2093-918A-4D3B-A91C-E3E726FBFD93}"/>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955E55B1-41E5-4C8F-A95D-A370FC35AECF}"/>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Accountability assigns responsibility and consequences</a:t>
            </a:r>
          </a:p>
        </p:txBody>
      </p:sp>
      <p:sp>
        <p:nvSpPr>
          <p:cNvPr id="3" name="">
            <a:extLst xmlns:a="http://schemas.openxmlformats.org/drawingml/2006/main">
              <a:ext uri="{FF2B5EF4-FFF2-40B4-BE49-F238E27FC236}">
                <a16:creationId xmlns:a16="http://schemas.microsoft.com/office/drawing/2014/main" id="{F6CE9B3C-2863-44F4-B9CF-67EF29C74AB9}"/>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Name who must explain the decision</a:t>
            </a:r>
          </a:p>
        </p:txBody>
      </p:sp>
      <p:sp>
        <p:nvSpPr>
          <p:cNvPr id="4" name="">
            <a:extLst xmlns:a="http://schemas.openxmlformats.org/drawingml/2006/main">
              <a:ext uri="{FF2B5EF4-FFF2-40B4-BE49-F238E27FC236}">
                <a16:creationId xmlns:a16="http://schemas.microsoft.com/office/drawing/2014/main" id="{4549527B-22A1-45C5-8CD8-8A2946B4CE74}"/>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Give someone authority to investigate and repair it</a:t>
            </a:r>
          </a:p>
        </p:txBody>
      </p:sp>
      <p:sp>
        <p:nvSpPr>
          <p:cNvPr id="5" name="">
            <a:extLst xmlns:a="http://schemas.openxmlformats.org/drawingml/2006/main">
              <a:ext uri="{FF2B5EF4-FFF2-40B4-BE49-F238E27FC236}">
                <a16:creationId xmlns:a16="http://schemas.microsoft.com/office/drawing/2014/main" id="{59D67290-6764-45D0-881C-7259208B45B7}"/>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Check whether the repair improves the relevant outcome</a:t>
            </a:r>
          </a:p>
        </p:txBody>
      </p:sp>
      <p:sp>
        <p:nvSpPr>
          <p:cNvPr id="6" name="">
            <a:extLst xmlns:a="http://schemas.openxmlformats.org/drawingml/2006/main">
              <a:ext uri="{FF2B5EF4-FFF2-40B4-BE49-F238E27FC236}">
                <a16:creationId xmlns:a16="http://schemas.microsoft.com/office/drawing/2014/main" id="{262603C9-EC39-4980-98F4-15FC48848711}"/>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How could a system be transparent while remaining weakly accountable?</a:t>
            </a:r>
          </a:p>
        </p:txBody>
      </p:sp>
      <p:sp>
        <p:nvSpPr>
          <p:cNvPr id="7" name="">
            <a:extLst xmlns:a="http://schemas.openxmlformats.org/drawingml/2006/main">
              <a:ext uri="{FF2B5EF4-FFF2-40B4-BE49-F238E27FC236}">
                <a16:creationId xmlns:a16="http://schemas.microsoft.com/office/drawing/2014/main" id="{519B1F68-4A73-43E9-9E87-BE1E6D2C8CB9}"/>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88  /  Original teaching explanation</a:t>
            </a:r>
          </a:p>
        </p:txBody>
      </p:sp>
      <p:sp>
        <p:nvSpPr>
          <p:cNvPr id="8" name="">
            <a:extLst xmlns:a="http://schemas.openxmlformats.org/drawingml/2006/main">
              <a:ext uri="{FF2B5EF4-FFF2-40B4-BE49-F238E27FC236}">
                <a16:creationId xmlns:a16="http://schemas.microsoft.com/office/drawing/2014/main" id="{EDEF36CC-40ED-4FEA-B1EE-CA01AFCB5517}"/>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10 / 16</a:t>
            </a:r>
          </a:p>
        </p:txBody>
      </p:sp>
    </p:spTree>
    <p:extLst>
      <p:ext uri="{BB962C8B-B14F-4D97-AF65-F5344CB8AC3E}">
        <p14:creationId xmlns:p14="http://schemas.microsoft.com/office/powerpoint/2010/main" val="39030369"/>
      </p:ext>
    </p:extLst>
  </p:cSld>
</p:sld>
</file>

<file path=ppt/slides/slide1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C0C4B6-CFAA-4EF8-B507-3F84A29FB6D3}"/>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5247D769-B2FB-4508-B15A-3722D2C546BA}"/>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Real case A: a provider explains recommendations</a:t>
            </a:r>
          </a:p>
        </p:txBody>
      </p:sp>
      <p:sp>
        <p:nvSpPr>
          <p:cNvPr id="3" name="">
            <a:extLst xmlns:a="http://schemas.openxmlformats.org/drawingml/2006/main">
              <a:ext uri="{FF2B5EF4-FFF2-40B4-BE49-F238E27FC236}">
                <a16:creationId xmlns:a16="http://schemas.microsoft.com/office/drawing/2014/main" id="{2FDF9E90-A71F-4047-9ACC-C609EDB11ABC}"/>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TikTok describes interaction and video-information signals</a:t>
            </a:r>
          </a:p>
        </p:txBody>
      </p:sp>
      <p:sp>
        <p:nvSpPr>
          <p:cNvPr id="4" name="">
            <a:extLst xmlns:a="http://schemas.openxmlformats.org/drawingml/2006/main">
              <a:ext uri="{FF2B5EF4-FFF2-40B4-BE49-F238E27FC236}">
                <a16:creationId xmlns:a16="http://schemas.microsoft.com/office/drawing/2014/main" id="{8F23CA24-5F5A-49EE-9971-A24653D2B09D}"/>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The account presents personalization as a benefit</a:t>
            </a:r>
          </a:p>
        </p:txBody>
      </p:sp>
      <p:sp>
        <p:nvSpPr>
          <p:cNvPr id="5" name="">
            <a:extLst xmlns:a="http://schemas.openxmlformats.org/drawingml/2006/main">
              <a:ext uri="{FF2B5EF4-FFF2-40B4-BE49-F238E27FC236}">
                <a16:creationId xmlns:a16="http://schemas.microsoft.com/office/drawing/2014/main" id="{A9CC9772-B9D8-46DE-80F3-7791F4915291}"/>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Its 2020 description does not reveal today’s exact weights</a:t>
            </a:r>
          </a:p>
        </p:txBody>
      </p:sp>
      <p:sp>
        <p:nvSpPr>
          <p:cNvPr id="6" name="">
            <a:extLst xmlns:a="http://schemas.openxmlformats.org/drawingml/2006/main">
              <a:ext uri="{FF2B5EF4-FFF2-40B4-BE49-F238E27FC236}">
                <a16:creationId xmlns:a16="http://schemas.microsoft.com/office/drawing/2014/main" id="{72E5B9E6-DDFF-4921-8203-D0BA47355732}"/>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Which claim is this source useful for? Which claim needs independent evidence?</a:t>
            </a:r>
          </a:p>
        </p:txBody>
      </p:sp>
      <p:sp>
        <p:nvSpPr>
          <p:cNvPr id="7" name="">
            <a:extLst xmlns:a="http://schemas.openxmlformats.org/drawingml/2006/main">
              <a:ext uri="{FF2B5EF4-FFF2-40B4-BE49-F238E27FC236}">
                <a16:creationId xmlns:a16="http://schemas.microsoft.com/office/drawing/2014/main" id="{14E23A57-866F-4183-9523-BF018105B7A4}"/>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86–89  /  Source A — see notes</a:t>
            </a:r>
          </a:p>
        </p:txBody>
      </p:sp>
      <p:sp>
        <p:nvSpPr>
          <p:cNvPr id="8" name="">
            <a:extLst xmlns:a="http://schemas.openxmlformats.org/drawingml/2006/main">
              <a:ext uri="{FF2B5EF4-FFF2-40B4-BE49-F238E27FC236}">
                <a16:creationId xmlns:a16="http://schemas.microsoft.com/office/drawing/2014/main" id="{4561354E-0182-4613-8366-A1DE228E5A01}"/>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11 / 16</a:t>
            </a:r>
          </a:p>
        </p:txBody>
      </p:sp>
    </p:spTree>
    <p:extLst>
      <p:ext uri="{BB962C8B-B14F-4D97-AF65-F5344CB8AC3E}">
        <p14:creationId xmlns:p14="http://schemas.microsoft.com/office/powerpoint/2010/main" val="1730609828"/>
      </p:ext>
    </p:extLst>
  </p:cSld>
</p:sld>
</file>

<file path=ppt/slides/slide1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48D647-3BC6-437E-AF48-8C3A62EAD1FC}"/>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B93494F2-E69A-4BF9-AC7E-97F4E49E2818}"/>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Real case C: a regulator examines design risks</a:t>
            </a:r>
          </a:p>
        </p:txBody>
      </p:sp>
      <p:sp>
        <p:nvSpPr>
          <p:cNvPr id="3" name="">
            <a:extLst xmlns:a="http://schemas.openxmlformats.org/drawingml/2006/main">
              <a:ext uri="{FF2B5EF4-FFF2-40B4-BE49-F238E27FC236}">
                <a16:creationId xmlns:a16="http://schemas.microsoft.com/office/drawing/2014/main" id="{A47A116C-E4AE-46F5-83F8-BDC8162EF84D}"/>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The European Commission issued preliminary findings in February 2026</a:t>
            </a:r>
          </a:p>
        </p:txBody>
      </p:sp>
      <p:sp>
        <p:nvSpPr>
          <p:cNvPr id="4" name="">
            <a:extLst xmlns:a="http://schemas.openxmlformats.org/drawingml/2006/main">
              <a:ext uri="{FF2B5EF4-FFF2-40B4-BE49-F238E27FC236}">
                <a16:creationId xmlns:a16="http://schemas.microsoft.com/office/drawing/2014/main" id="{A2A0FA00-DE28-4538-8597-08D3B0E91502}"/>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The assessment concerns several interacting design features</a:t>
            </a:r>
          </a:p>
        </p:txBody>
      </p:sp>
      <p:sp>
        <p:nvSpPr>
          <p:cNvPr id="5" name="">
            <a:extLst xmlns:a="http://schemas.openxmlformats.org/drawingml/2006/main">
              <a:ext uri="{FF2B5EF4-FFF2-40B4-BE49-F238E27FC236}">
                <a16:creationId xmlns:a16="http://schemas.microsoft.com/office/drawing/2014/main" id="{2A84AAFA-02D0-4CEA-9377-9C4F4E99299E}"/>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The source states that the investigation’s outcome remains open</a:t>
            </a:r>
          </a:p>
        </p:txBody>
      </p:sp>
      <p:sp>
        <p:nvSpPr>
          <p:cNvPr id="6" name="">
            <a:extLst xmlns:a="http://schemas.openxmlformats.org/drawingml/2006/main">
              <a:ext uri="{FF2B5EF4-FFF2-40B4-BE49-F238E27FC236}">
                <a16:creationId xmlns:a16="http://schemas.microsoft.com/office/drawing/2014/main" id="{8D3EB3A8-D943-44D6-91A5-CD8FF07137B3}"/>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Checkpoint: What is a justified use of Source C?</a:t>
            </a:r>
          </a:p>
        </p:txBody>
      </p:sp>
      <p:sp>
        <p:nvSpPr>
          <p:cNvPr id="7" name="">
            <a:extLst xmlns:a="http://schemas.openxmlformats.org/drawingml/2006/main">
              <a:ext uri="{FF2B5EF4-FFF2-40B4-BE49-F238E27FC236}">
                <a16:creationId xmlns:a16="http://schemas.microsoft.com/office/drawing/2014/main" id="{11787C16-F9E6-4890-B9ED-D7139A01E8E1}"/>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86–89  /  Source C — see notes</a:t>
            </a:r>
          </a:p>
        </p:txBody>
      </p:sp>
      <p:sp>
        <p:nvSpPr>
          <p:cNvPr id="8" name="">
            <a:extLst xmlns:a="http://schemas.openxmlformats.org/drawingml/2006/main">
              <a:ext uri="{FF2B5EF4-FFF2-40B4-BE49-F238E27FC236}">
                <a16:creationId xmlns:a16="http://schemas.microsoft.com/office/drawing/2014/main" id="{2369E2E7-C94B-46FB-9FE6-BAFD0998C920}"/>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12 / 16</a:t>
            </a:r>
          </a:p>
        </p:txBody>
      </p:sp>
    </p:spTree>
    <p:extLst>
      <p:ext uri="{BB962C8B-B14F-4D97-AF65-F5344CB8AC3E}">
        <p14:creationId xmlns:p14="http://schemas.microsoft.com/office/powerpoint/2010/main" val="1838492176"/>
      </p:ext>
    </p:extLst>
  </p:cSld>
</p:sld>
</file>

<file path=ppt/slides/slide1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C5EE4B-39ED-4B14-BC70-2591CB59E014}"/>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D77B1155-5354-448E-9A55-32661C039147}"/>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Observation, explanation and intention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743fd86e32647fe"/>
          <a:stretch xmlns:a="http://schemas.openxmlformats.org/drawingml/2006/main"/>
        </p:blipFill>
        <p:spPr>
          <a:xfrm xmlns:a="http://schemas.openxmlformats.org/drawingml/2006/main">
            <a:off x="3054721" y="1657350"/>
            <a:ext cx="6082558" cy="3448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3004D2-CA63-460B-AAC7-E1ABF201E683}"/>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A5628"/>
                </a:solidFill>
                <a:latin typeface="Helvetica Neue"/>
                <a:ea typeface="Helvetica Neue"/>
                <a:cs typeface="Helvetica Neue"/>
              </a:defRPr>
            </a:pPr>
            <a:r>
              <a:rPr sz="2025" b="1">
                <a:solidFill>
                  <a:srgbClr val="BA5628"/>
                </a:solidFill>
                <a:latin typeface="Helvetica Neue"/>
                <a:ea typeface="Helvetica Neue"/>
                <a:cs typeface="Helvetica Neue"/>
              </a:rPr>
              <a:t>Observation: a measured pattern in the results</a:t>
            </a:r>
          </a:p>
        </p:txBody>
      </p:sp>
      <p:sp>
        <p:nvSpPr>
          <p:cNvPr id="5" name="">
            <a:extLst xmlns:a="http://schemas.openxmlformats.org/drawingml/2006/main">
              <a:ext uri="{FF2B5EF4-FFF2-40B4-BE49-F238E27FC236}">
                <a16:creationId xmlns:a16="http://schemas.microsoft.com/office/drawing/2014/main" id="{54636215-8D53-4049-979A-BFCB09D0AE0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Write one observation and one possible mechanism. State what would be needed to investigate intention.</a:t>
            </a:r>
          </a:p>
        </p:txBody>
      </p:sp>
      <p:sp>
        <p:nvSpPr>
          <p:cNvPr id="6" name="">
            <a:extLst xmlns:a="http://schemas.openxmlformats.org/drawingml/2006/main">
              <a:ext uri="{FF2B5EF4-FFF2-40B4-BE49-F238E27FC236}">
                <a16:creationId xmlns:a16="http://schemas.microsoft.com/office/drawing/2014/main" id="{152B1670-6863-44A6-B977-4C3FC13DE55E}"/>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87–89  /  Original teaching explanation</a:t>
            </a:r>
          </a:p>
        </p:txBody>
      </p:sp>
      <p:sp>
        <p:nvSpPr>
          <p:cNvPr id="7" name="">
            <a:extLst xmlns:a="http://schemas.openxmlformats.org/drawingml/2006/main">
              <a:ext uri="{FF2B5EF4-FFF2-40B4-BE49-F238E27FC236}">
                <a16:creationId xmlns:a16="http://schemas.microsoft.com/office/drawing/2014/main" id="{65A7F390-1914-4703-A7A9-911BEBB8177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13 / 16</a:t>
            </a:r>
          </a:p>
        </p:txBody>
      </p:sp>
    </p:spTree>
    <p:extLst>
      <p:ext uri="{BB962C8B-B14F-4D97-AF65-F5344CB8AC3E}">
        <p14:creationId xmlns:p14="http://schemas.microsoft.com/office/powerpoint/2010/main" val="1373455542"/>
      </p:ext>
    </p:extLst>
  </p:cSld>
</p:sld>
</file>

<file path=ppt/slides/slide1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7F0252-AD0F-4974-AAE9-510CF02756FA}"/>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FF93A40B-F166-425E-AC8A-B56F5A9D961C}"/>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A conditional judgement weighs an intervention</a:t>
            </a:r>
          </a:p>
        </p:txBody>
      </p:sp>
      <p:sp>
        <p:nvSpPr>
          <p:cNvPr id="3" name="">
            <a:extLst xmlns:a="http://schemas.openxmlformats.org/drawingml/2006/main">
              <a:ext uri="{FF2B5EF4-FFF2-40B4-BE49-F238E27FC236}">
                <a16:creationId xmlns:a16="http://schemas.microsoft.com/office/drawing/2014/main" id="{DAF4C8C8-4D2D-4675-9B33-A0E6488AB7AA}"/>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Criterion: fair access to visibility</a:t>
            </a:r>
          </a:p>
        </p:txBody>
      </p:sp>
      <p:sp>
        <p:nvSpPr>
          <p:cNvPr id="4" name="">
            <a:extLst xmlns:a="http://schemas.openxmlformats.org/drawingml/2006/main">
              <a:ext uri="{FF2B5EF4-FFF2-40B4-BE49-F238E27FC236}">
                <a16:creationId xmlns:a16="http://schemas.microsoft.com/office/drawing/2014/main" id="{BFE9CDF3-162E-4536-94AE-587CE8BDD4A4}"/>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Proposal: reserve some exposure for less-seen items</a:t>
            </a:r>
          </a:p>
        </p:txBody>
      </p:sp>
      <p:sp>
        <p:nvSpPr>
          <p:cNvPr id="5" name="">
            <a:extLst xmlns:a="http://schemas.openxmlformats.org/drawingml/2006/main">
              <a:ext uri="{FF2B5EF4-FFF2-40B4-BE49-F238E27FC236}">
                <a16:creationId xmlns:a16="http://schemas.microsoft.com/office/drawing/2014/main" id="{36CEE248-CC8C-465B-A856-9C8973B84418}"/>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Trade-off: discovery may displace predicted relevance</a:t>
            </a:r>
          </a:p>
        </p:txBody>
      </p:sp>
      <p:sp>
        <p:nvSpPr>
          <p:cNvPr id="6" name="">
            <a:extLst xmlns:a="http://schemas.openxmlformats.org/drawingml/2006/main">
              <a:ext uri="{FF2B5EF4-FFF2-40B4-BE49-F238E27FC236}">
                <a16:creationId xmlns:a16="http://schemas.microsoft.com/office/drawing/2014/main" id="{4AC20FEF-B086-4525-B343-B53DFCB1F14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Name the evidence that would make you revise this recommendation.</a:t>
            </a:r>
          </a:p>
        </p:txBody>
      </p:sp>
      <p:sp>
        <p:nvSpPr>
          <p:cNvPr id="7" name="">
            <a:extLst xmlns:a="http://schemas.openxmlformats.org/drawingml/2006/main">
              <a:ext uri="{FF2B5EF4-FFF2-40B4-BE49-F238E27FC236}">
                <a16:creationId xmlns:a16="http://schemas.microsoft.com/office/drawing/2014/main" id="{2517BADB-327B-400C-A6F3-C9F43388CE41}"/>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89  /  Original teaching explanation</a:t>
            </a:r>
          </a:p>
        </p:txBody>
      </p:sp>
      <p:sp>
        <p:nvSpPr>
          <p:cNvPr id="8" name="">
            <a:extLst xmlns:a="http://schemas.openxmlformats.org/drawingml/2006/main">
              <a:ext uri="{FF2B5EF4-FFF2-40B4-BE49-F238E27FC236}">
                <a16:creationId xmlns:a16="http://schemas.microsoft.com/office/drawing/2014/main" id="{32EBC623-4AA5-42AC-82CC-02A3BB9D2608}"/>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14 / 16</a:t>
            </a:r>
          </a:p>
        </p:txBody>
      </p:sp>
    </p:spTree>
    <p:extLst>
      <p:ext uri="{BB962C8B-B14F-4D97-AF65-F5344CB8AC3E}">
        <p14:creationId xmlns:p14="http://schemas.microsoft.com/office/powerpoint/2010/main" val="1301799139"/>
      </p:ext>
    </p:extLst>
  </p:cSld>
</p:sld>
</file>

<file path=ppt/slides/slide1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97E4FC-A1DB-488D-B5E3-8844CE7F498B}"/>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AE380B1D-9CBB-4505-8E12-6F19A63B0AE1}"/>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Paper 1 and Paper 2 use the same knowledge differently</a:t>
            </a:r>
          </a:p>
        </p:txBody>
      </p:sp>
      <p:sp>
        <p:nvSpPr>
          <p:cNvPr id="3" name="">
            <a:extLst xmlns:a="http://schemas.openxmlformats.org/drawingml/2006/main">
              <a:ext uri="{FF2B5EF4-FFF2-40B4-BE49-F238E27FC236}">
                <a16:creationId xmlns:a16="http://schemas.microsoft.com/office/drawing/2014/main" id="{F27F939C-70A3-458E-A0A4-7F3ADE11AFE0}"/>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Paper 1: apply knowledge to a specified situation</a:t>
            </a:r>
          </a:p>
        </p:txBody>
      </p:sp>
      <p:sp>
        <p:nvSpPr>
          <p:cNvPr id="4" name="">
            <a:extLst xmlns:a="http://schemas.openxmlformats.org/drawingml/2006/main">
              <a:ext uri="{FF2B5EF4-FFF2-40B4-BE49-F238E27FC236}">
                <a16:creationId xmlns:a16="http://schemas.microsoft.com/office/drawing/2014/main" id="{51086F7C-D486-4B4D-9508-88BD7EF7F595}"/>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Paper 2: use and compare claims from supplied sources</a:t>
            </a:r>
          </a:p>
        </p:txBody>
      </p:sp>
      <p:sp>
        <p:nvSpPr>
          <p:cNvPr id="5" name="">
            <a:extLst xmlns:a="http://schemas.openxmlformats.org/drawingml/2006/main">
              <a:ext uri="{FF2B5EF4-FFF2-40B4-BE49-F238E27FC236}">
                <a16:creationId xmlns:a16="http://schemas.microsoft.com/office/drawing/2014/main" id="{6A14D551-91B5-49E0-96C0-BDE4D1F93725}"/>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Both require precise mechanisms and supported reasoning</a:t>
            </a:r>
          </a:p>
        </p:txBody>
      </p:sp>
      <p:sp>
        <p:nvSpPr>
          <p:cNvPr id="6" name="">
            <a:extLst xmlns:a="http://schemas.openxmlformats.org/drawingml/2006/main">
              <a:ext uri="{FF2B5EF4-FFF2-40B4-BE49-F238E27FC236}">
                <a16:creationId xmlns:a16="http://schemas.microsoft.com/office/drawing/2014/main" id="{6B1FFE01-DA55-4E35-9EEB-B2451863774A}"/>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Use a heading from this deck to plan one precise explanation and one source comparison.</a:t>
            </a:r>
          </a:p>
        </p:txBody>
      </p:sp>
      <p:sp>
        <p:nvSpPr>
          <p:cNvPr id="7" name="">
            <a:extLst xmlns:a="http://schemas.openxmlformats.org/drawingml/2006/main">
              <a:ext uri="{FF2B5EF4-FFF2-40B4-BE49-F238E27FC236}">
                <a16:creationId xmlns:a16="http://schemas.microsoft.com/office/drawing/2014/main" id="{F6BAE47F-5496-46C2-8321-8F882942EB79}"/>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89, 91  /  Current IB guide</a:t>
            </a:r>
          </a:p>
        </p:txBody>
      </p:sp>
      <p:sp>
        <p:nvSpPr>
          <p:cNvPr id="8" name="">
            <a:extLst xmlns:a="http://schemas.openxmlformats.org/drawingml/2006/main">
              <a:ext uri="{FF2B5EF4-FFF2-40B4-BE49-F238E27FC236}">
                <a16:creationId xmlns:a16="http://schemas.microsoft.com/office/drawing/2014/main" id="{25E169BC-1982-4497-A6C9-BC2797E86DC4}"/>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15 / 16</a:t>
            </a:r>
          </a:p>
        </p:txBody>
      </p:sp>
    </p:spTree>
    <p:extLst>
      <p:ext uri="{BB962C8B-B14F-4D97-AF65-F5344CB8AC3E}">
        <p14:creationId xmlns:p14="http://schemas.microsoft.com/office/powerpoint/2010/main" val="1403582367"/>
      </p:ext>
    </p:extLst>
  </p:cSld>
</p:sld>
</file>

<file path=ppt/slides/slide1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CA8F26-EE6D-4E5D-8737-ABFFDF8995D9}"/>
              </a:ext>
            </a:extLst>
          </p:cNvPr>
          <p:cNvSpPr>
            <a:spLocks xmlns:a="http://schemas.openxmlformats.org/drawingml/2006/main" noGrp="1"/>
          </p:cNvSpPr>
          <p:nvPr/>
        </p:nvSpPr>
        <p:spPr>
          <a:xfrm xmlns:a="http://schemas.openxmlformats.org/drawingml/2006/main">
            <a:off x="609600" y="209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A5628"/>
                </a:solidFill>
                <a:latin typeface="Helvetica Neue"/>
                <a:ea typeface="Helvetica Neue"/>
                <a:cs typeface="Helvetica Neue"/>
              </a:defRPr>
            </a:pPr>
            <a:r>
              <a:rPr sz="1275" b="1">
                <a:solidFill>
                  <a:srgbClr val="BA5628"/>
                </a:solidFill>
                <a:latin typeface="Helvetica Neue"/>
                <a:ea typeface="Helvetica Neue"/>
                <a:cs typeface="Helvetica Neue"/>
              </a:rPr>
              <a:t>IB DIGITAL SOCIETY  /  3.2E · pp. 86–89; reflection p. 91</a:t>
            </a:r>
          </a:p>
        </p:txBody>
      </p:sp>
      <p:sp>
        <p:nvSpPr>
          <p:cNvPr id="2" name="">
            <a:extLst xmlns:a="http://schemas.openxmlformats.org/drawingml/2006/main">
              <a:ext uri="{FF2B5EF4-FFF2-40B4-BE49-F238E27FC236}">
                <a16:creationId xmlns:a16="http://schemas.microsoft.com/office/drawing/2014/main" id="{5617E8C4-9B40-4336-B3E5-1E5AC53EFE87}"/>
              </a:ext>
            </a:extLst>
          </p:cNvPr>
          <p:cNvSpPr>
            <a:spLocks xmlns:a="http://schemas.openxmlformats.org/drawingml/2006/main" noGrp="1"/>
          </p:cNvSpPr>
          <p:nvPr/>
        </p:nvSpPr>
        <p:spPr>
          <a:xfrm xmlns:a="http://schemas.openxmlformats.org/drawingml/2006/main">
            <a:off x="609600" y="63817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333E"/>
                </a:solidFill>
                <a:latin typeface="Helvetica Neue"/>
                <a:ea typeface="Helvetica Neue"/>
                <a:cs typeface="Helvetica Neue"/>
              </a:defRPr>
            </a:pPr>
            <a:r>
              <a:rPr sz="3300" b="1">
                <a:solidFill>
                  <a:srgbClr val="16333E"/>
                </a:solidFill>
                <a:latin typeface="Helvetica Neue"/>
                <a:ea typeface="Helvetica Neue"/>
                <a:cs typeface="Helvetica Neue"/>
              </a:rPr>
              <a:t>Chapter 3.2: delayed explanation check</a:t>
            </a:r>
          </a:p>
        </p:txBody>
      </p:sp>
      <p:sp>
        <p:nvSpPr>
          <p:cNvPr id="3" name="">
            <a:extLst xmlns:a="http://schemas.openxmlformats.org/drawingml/2006/main">
              <a:ext uri="{FF2B5EF4-FFF2-40B4-BE49-F238E27FC236}">
                <a16:creationId xmlns:a16="http://schemas.microsoft.com/office/drawing/2014/main" id="{E2315A43-E242-4202-8D54-DD77AF7C79D1}"/>
              </a:ext>
            </a:extLst>
          </p:cNvPr>
          <p:cNvSpPr>
            <a:spLocks xmlns:a="http://schemas.openxmlformats.org/drawingml/2006/main" noGrp="1"/>
          </p:cNvSpPr>
          <p:nvPr/>
        </p:nvSpPr>
        <p:spPr>
          <a:xfrm xmlns:a="http://schemas.openxmlformats.org/drawingml/2006/main">
            <a:off x="609600" y="18097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BA5628"/>
                </a:solidFill>
                <a:latin typeface="Helvetica Neue"/>
                <a:ea typeface="Helvetica Neue"/>
                <a:cs typeface="Helvetica Neue"/>
              </a:defRPr>
            </a:pPr>
            <a:r>
              <a:rPr sz="2700" b="1">
                <a:solidFill>
                  <a:srgbClr val="BA5628"/>
                </a:solidFill>
                <a:latin typeface="Helvetica Neue"/>
                <a:ea typeface="Helvetica Neue"/>
                <a:cs typeface="Helvetica Neue"/>
              </a:rPr>
              <a:t>Explain one mechanism without notes</a:t>
            </a:r>
          </a:p>
        </p:txBody>
      </p:sp>
      <p:sp>
        <p:nvSpPr>
          <p:cNvPr id="4" name="">
            <a:extLst xmlns:a="http://schemas.openxmlformats.org/drawingml/2006/main">
              <a:ext uri="{FF2B5EF4-FFF2-40B4-BE49-F238E27FC236}">
                <a16:creationId xmlns:a16="http://schemas.microsoft.com/office/drawing/2014/main" id="{1F83D188-D2BB-4BE9-85D0-3AD5C653F7CE}"/>
              </a:ext>
            </a:extLst>
          </p:cNvPr>
          <p:cNvSpPr>
            <a:spLocks xmlns:a="http://schemas.openxmlformats.org/drawingml/2006/main" noGrp="1"/>
          </p:cNvSpPr>
          <p:nvPr/>
        </p:nvSpPr>
        <p:spPr>
          <a:xfrm xmlns:a="http://schemas.openxmlformats.org/drawingml/2006/main">
            <a:off x="609600" y="281940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Apply it to a changed context</a:t>
            </a:r>
          </a:p>
        </p:txBody>
      </p:sp>
      <p:sp>
        <p:nvSpPr>
          <p:cNvPr id="5" name="">
            <a:extLst xmlns:a="http://schemas.openxmlformats.org/drawingml/2006/main">
              <a:ext uri="{FF2B5EF4-FFF2-40B4-BE49-F238E27FC236}">
                <a16:creationId xmlns:a16="http://schemas.microsoft.com/office/drawing/2014/main" id="{1817777A-0F41-4B85-95BD-C103BEA5B992}"/>
              </a:ext>
            </a:extLst>
          </p:cNvPr>
          <p:cNvSpPr>
            <a:spLocks xmlns:a="http://schemas.openxmlformats.org/drawingml/2006/main" noGrp="1"/>
          </p:cNvSpPr>
          <p:nvPr/>
        </p:nvSpPr>
        <p:spPr>
          <a:xfrm xmlns:a="http://schemas.openxmlformats.org/drawingml/2006/main">
            <a:off x="609600" y="3829050"/>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333E"/>
                </a:solidFill>
                <a:latin typeface="Helvetica Neue"/>
                <a:ea typeface="Helvetica Neue"/>
                <a:cs typeface="Helvetica Neue"/>
              </a:defRPr>
            </a:pPr>
            <a:r>
              <a:rPr sz="2700" b="0">
                <a:solidFill>
                  <a:srgbClr val="16333E"/>
                </a:solidFill>
                <a:latin typeface="Helvetica Neue"/>
                <a:ea typeface="Helvetica Neue"/>
                <a:cs typeface="Helvetica Neue"/>
              </a:rPr>
              <a:t>Return to the explanation you could not yet justify</a:t>
            </a:r>
          </a:p>
        </p:txBody>
      </p:sp>
      <p:sp>
        <p:nvSpPr>
          <p:cNvPr id="6" name="">
            <a:extLst xmlns:a="http://schemas.openxmlformats.org/drawingml/2006/main">
              <a:ext uri="{FF2B5EF4-FFF2-40B4-BE49-F238E27FC236}">
                <a16:creationId xmlns:a16="http://schemas.microsoft.com/office/drawing/2014/main" id="{7280CF4D-B554-4363-8079-EFEFAF6E7548}"/>
              </a:ext>
            </a:extLst>
          </p:cNvPr>
          <p:cNvSpPr>
            <a:spLocks xmlns:a="http://schemas.openxmlformats.org/drawingml/2006/main" noGrp="1"/>
          </p:cNvSpPr>
          <p:nvPr/>
        </p:nvSpPr>
        <p:spPr>
          <a:xfrm xmlns:a="http://schemas.openxmlformats.org/drawingml/2006/main">
            <a:off x="609600" y="577215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A5628"/>
                </a:solidFill>
                <a:latin typeface="Helvetica Neue"/>
                <a:ea typeface="Helvetica Neue"/>
                <a:cs typeface="Helvetica Neue"/>
              </a:defRPr>
            </a:pPr>
            <a:r>
              <a:rPr sz="1800" b="1">
                <a:solidFill>
                  <a:srgbClr val="BA5628"/>
                </a:solidFill>
                <a:latin typeface="Helvetica Neue"/>
                <a:ea typeface="Helvetica Neue"/>
                <a:cs typeface="Helvetica Neue"/>
              </a:rPr>
              <a:t>Checkpoint: What makes an evaluative conclusion stronger?</a:t>
            </a:r>
          </a:p>
        </p:txBody>
      </p:sp>
      <p:sp>
        <p:nvSpPr>
          <p:cNvPr id="7" name="">
            <a:extLst xmlns:a="http://schemas.openxmlformats.org/drawingml/2006/main">
              <a:ext uri="{FF2B5EF4-FFF2-40B4-BE49-F238E27FC236}">
                <a16:creationId xmlns:a16="http://schemas.microsoft.com/office/drawing/2014/main" id="{7FB3884A-AD14-403C-B792-EB7CF454117E}"/>
              </a:ext>
            </a:extLst>
          </p:cNvPr>
          <p:cNvSpPr>
            <a:spLocks xmlns:a="http://schemas.openxmlformats.org/drawingml/2006/main" noGrp="1"/>
          </p:cNvSpPr>
          <p:nvPr/>
        </p:nvSpPr>
        <p:spPr>
          <a:xfrm xmlns:a="http://schemas.openxmlformats.org/drawingml/2006/main">
            <a:off x="609600" y="64960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46D"/>
                </a:solidFill>
                <a:latin typeface="Helvetica Neue"/>
                <a:ea typeface="Helvetica Neue"/>
                <a:cs typeface="Helvetica Neue"/>
              </a:defRPr>
            </a:pPr>
            <a:r>
              <a:rPr sz="1125" b="0">
                <a:solidFill>
                  <a:srgbClr val="52646D"/>
                </a:solidFill>
                <a:latin typeface="Helvetica Neue"/>
                <a:ea typeface="Helvetica Neue"/>
                <a:cs typeface="Helvetica Neue"/>
              </a:rPr>
              <a:t>Hodder 2022, pp. 86–91  /  Original teaching explanation</a:t>
            </a:r>
          </a:p>
        </p:txBody>
      </p:sp>
      <p:sp>
        <p:nvSpPr>
          <p:cNvPr id="8" name="">
            <a:extLst xmlns:a="http://schemas.openxmlformats.org/drawingml/2006/main">
              <a:ext uri="{FF2B5EF4-FFF2-40B4-BE49-F238E27FC236}">
                <a16:creationId xmlns:a16="http://schemas.microsoft.com/office/drawing/2014/main" id="{6F3FACB8-543D-404E-A840-9015AEB57B2D}"/>
              </a:ext>
            </a:extLst>
          </p:cNvPr>
          <p:cNvSpPr>
            <a:spLocks xmlns:a="http://schemas.openxmlformats.org/drawingml/2006/main" noGrp="1"/>
          </p:cNvSpPr>
          <p:nvPr/>
        </p:nvSpPr>
        <p:spPr>
          <a:xfrm xmlns:a="http://schemas.openxmlformats.org/drawingml/2006/main">
            <a:off x="10763250" y="64960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52646D"/>
                </a:solidFill>
                <a:latin typeface="Helvetica Neue"/>
                <a:ea typeface="Helvetica Neue"/>
                <a:cs typeface="Helvetica Neue"/>
              </a:defRPr>
            </a:pPr>
            <a:r>
              <a:rPr sz="1125" b="1">
                <a:solidFill>
                  <a:srgbClr val="52646D"/>
                </a:solidFill>
                <a:latin typeface="Helvetica Neue"/>
                <a:ea typeface="Helvetica Neue"/>
                <a:cs typeface="Helvetica Neue"/>
              </a:rPr>
              <a:t>16 / 16</a:t>
            </a:r>
          </a:p>
        </p:txBody>
      </p:sp>
    </p:spTree>
    <p:extLst>
      <p:ext uri="{BB962C8B-B14F-4D97-AF65-F5344CB8AC3E}">
        <p14:creationId xmlns:p14="http://schemas.microsoft.com/office/powerpoint/2010/main" val="20763173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2026-10-05T10:35:15.9400000Z</dcterms:created>
  <dcterms:modified xsi:type="dcterms:W3CDTF">2026-10-05T10:35:15.9400000Z</dcterms:modified>
</coreProperties>
</file>