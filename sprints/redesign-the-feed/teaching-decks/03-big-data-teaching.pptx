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8c9a9c086cd457e" /><Relationship Type="http://schemas.openxmlformats.org/officeDocument/2006/relationships/extended-properties" Target="/docProps/app.xml" Id="R5df8dc65db924537" /><Relationship Type="http://schemas.openxmlformats.org/officeDocument/2006/relationships/officeDocument" Target="/ppt/presentation.xml" Id="R51214e16d3f4470e" /></Relationships>
</file>

<file path=ppt/presentation.xml><?xml version="1.0" encoding="utf-8"?>
<p:presentation xmlns:p="http://schemas.openxmlformats.org/presentationml/2006/main">
  <p:sldMasterIdLst>
    <p:sldMasterId xmlns:r="http://schemas.openxmlformats.org/officeDocument/2006/relationships" id="2147483648" r:id="Reffaa1a817ed4439"/>
  </p:sldMasterIdLst>
  <p:notesMasterIdLst>
    <p:notesMasterId xmlns:r="http://schemas.openxmlformats.org/officeDocument/2006/relationships" r:id="R3359b18013974412"/>
  </p:notesMasterIdLst>
  <p:sldIdLst>
    <p:sldId xmlns:r="http://schemas.openxmlformats.org/officeDocument/2006/relationships" id="256" r:id="R256c17f061ac42e7"/>
    <p:sldId xmlns:r="http://schemas.openxmlformats.org/officeDocument/2006/relationships" id="257" r:id="R6a54446922a74cfa"/>
    <p:sldId xmlns:r="http://schemas.openxmlformats.org/officeDocument/2006/relationships" id="258" r:id="R702426788db54448"/>
    <p:sldId xmlns:r="http://schemas.openxmlformats.org/officeDocument/2006/relationships" id="259" r:id="R657cbdc20ad44a51"/>
    <p:sldId xmlns:r="http://schemas.openxmlformats.org/officeDocument/2006/relationships" id="260" r:id="R8765937cbdd74bc5"/>
    <p:sldId xmlns:r="http://schemas.openxmlformats.org/officeDocument/2006/relationships" id="261" r:id="Rf1724bfb1de4470d"/>
    <p:sldId xmlns:r="http://schemas.openxmlformats.org/officeDocument/2006/relationships" id="262" r:id="Ra258fbade18c443b"/>
    <p:sldId xmlns:r="http://schemas.openxmlformats.org/officeDocument/2006/relationships" id="263" r:id="R767923fe5555436e"/>
    <p:sldId xmlns:r="http://schemas.openxmlformats.org/officeDocument/2006/relationships" id="264" r:id="R182efd27cbb446b7"/>
    <p:sldId xmlns:r="http://schemas.openxmlformats.org/officeDocument/2006/relationships" id="265" r:id="R87b9f3a71a514e3e"/>
    <p:sldId xmlns:r="http://schemas.openxmlformats.org/officeDocument/2006/relationships" id="266" r:id="R1a48568edf46438a"/>
    <p:sldId xmlns:r="http://schemas.openxmlformats.org/officeDocument/2006/relationships" id="267" r:id="R4f41799297d7458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6e5b6a459124ecc" /><Relationship Type="http://schemas.openxmlformats.org/officeDocument/2006/relationships/slideMaster" Target="/ppt/slideMasters/slideMaster1.xml" Id="Reffaa1a817ed4439" /><Relationship Type="http://schemas.openxmlformats.org/officeDocument/2006/relationships/notesMaster" Target="/ppt/notesMasters/notesMaster1.xml" Id="R3359b18013974412" /><Relationship Type="http://schemas.openxmlformats.org/officeDocument/2006/relationships/presProps" Target="/ppt/presProps.xml" Id="Ra4e1aa122648442a" /><Relationship Type="http://schemas.openxmlformats.org/officeDocument/2006/relationships/tableStyles" Target="/ppt/tableStyles.xml" Id="Rede7550d5db84ec6" /><Relationship Type="http://schemas.openxmlformats.org/officeDocument/2006/relationships/slide" Target="/ppt/slides/slide1.xml" Id="R256c17f061ac42e7" /><Relationship Type="http://schemas.openxmlformats.org/officeDocument/2006/relationships/slide" Target="/ppt/slides/slide2.xml" Id="R6a54446922a74cfa" /><Relationship Type="http://schemas.openxmlformats.org/officeDocument/2006/relationships/slide" Target="/ppt/slides/slide3.xml" Id="R702426788db54448" /><Relationship Type="http://schemas.openxmlformats.org/officeDocument/2006/relationships/slide" Target="/ppt/slides/slide4.xml" Id="R657cbdc20ad44a51" /><Relationship Type="http://schemas.openxmlformats.org/officeDocument/2006/relationships/slide" Target="/ppt/slides/slide5.xml" Id="R8765937cbdd74bc5" /><Relationship Type="http://schemas.openxmlformats.org/officeDocument/2006/relationships/slide" Target="/ppt/slides/slide6.xml" Id="Rf1724bfb1de4470d" /><Relationship Type="http://schemas.openxmlformats.org/officeDocument/2006/relationships/slide" Target="/ppt/slides/slide7.xml" Id="Ra258fbade18c443b" /><Relationship Type="http://schemas.openxmlformats.org/officeDocument/2006/relationships/slide" Target="/ppt/slides/slide8.xml" Id="R767923fe5555436e" /><Relationship Type="http://schemas.openxmlformats.org/officeDocument/2006/relationships/slide" Target="/ppt/slides/slide9.xml" Id="R182efd27cbb446b7" /><Relationship Type="http://schemas.openxmlformats.org/officeDocument/2006/relationships/slide" Target="/ppt/slides/slide10.xml" Id="R87b9f3a71a514e3e" /><Relationship Type="http://schemas.openxmlformats.org/officeDocument/2006/relationships/slide" Target="/ppt/slides/slide11.xml" Id="R1a48568edf46438a" /><Relationship Type="http://schemas.openxmlformats.org/officeDocument/2006/relationships/slide" Target="/ppt/slides/slide12.xml" Id="R4f41799297d745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183f3f715e42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2b5a41d0ed44ed" /><Relationship Type="http://schemas.openxmlformats.org/officeDocument/2006/relationships/notesMaster" Target="/ppt/notesMasters/notesMaster1.xml" Id="R1c902946637242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9d2a974fade84390" /><Relationship Type="http://schemas.openxmlformats.org/officeDocument/2006/relationships/notesMaster" Target="/ppt/notesMasters/notesMaster1.xml" Id="R03832b6a32044a6e" /></Relationships>
</file>

<file path=ppt/notesSlides/_rels/notesSlide3.xml.rels>&#65279;<?xml version="1.0" encoding="utf-8"?><Relationships xmlns="http://schemas.openxmlformats.org/package/2006/relationships"><Relationship Type="http://schemas.openxmlformats.org/officeDocument/2006/relationships/slide" Target="/ppt/slides/slide3.xml" Id="R80d28584a28f4bad" /><Relationship Type="http://schemas.openxmlformats.org/officeDocument/2006/relationships/notesMaster" Target="/ppt/notesMasters/notesMaster1.xml" Id="R31197038760443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8eef9be1244153" /><Relationship Type="http://schemas.openxmlformats.org/officeDocument/2006/relationships/notesMaster" Target="/ppt/notesMasters/notesMaster1.xml" Id="Re970da08d6834f2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89509768b444f95" /><Relationship Type="http://schemas.openxmlformats.org/officeDocument/2006/relationships/notesMaster" Target="/ppt/notesMasters/notesMaster1.xml" Id="Rf2700399c268492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eef871a37b45df" /><Relationship Type="http://schemas.openxmlformats.org/officeDocument/2006/relationships/notesMaster" Target="/ppt/notesMasters/notesMaster1.xml" Id="R982e32f1cae843e1" /></Relationships>
</file>

<file path=ppt/notesSlides/_rels/notesSlide7.xml.rels>&#65279;<?xml version="1.0" encoding="utf-8"?><Relationships xmlns="http://schemas.openxmlformats.org/package/2006/relationships"><Relationship Type="http://schemas.openxmlformats.org/officeDocument/2006/relationships/slide" Target="/ppt/slides/slide7.xml" Id="R755c78c994a54e58" /><Relationship Type="http://schemas.openxmlformats.org/officeDocument/2006/relationships/notesMaster" Target="/ppt/notesMasters/notesMaster1.xml" Id="Re4325076525c4e6b" /></Relationships>
</file>

<file path=ppt/notesSlides/_rels/notesSlide8.xml.rels>&#65279;<?xml version="1.0" encoding="utf-8"?><Relationships xmlns="http://schemas.openxmlformats.org/package/2006/relationships"><Relationship Type="http://schemas.openxmlformats.org/officeDocument/2006/relationships/slide" Target="/ppt/slides/slide8.xml" Id="R8b08545d95b14485" /><Relationship Type="http://schemas.openxmlformats.org/officeDocument/2006/relationships/notesMaster" Target="/ppt/notesMasters/notesMaster1.xml" Id="R1a7bb8adca2249a2" /></Relationships>
</file>

<file path=ppt/notesSlides/_rels/notesSlide9.xml.rels>&#65279;<?xml version="1.0" encoding="utf-8"?><Relationships xmlns="http://schemas.openxmlformats.org/package/2006/relationships"><Relationship Type="http://schemas.openxmlformats.org/officeDocument/2006/relationships/slide" Target="/ppt/slides/slide9.xml" Id="Rb5f4f374f0384d02" /><Relationship Type="http://schemas.openxmlformats.org/officeDocument/2006/relationships/notesMaster" Target="/ppt/notesMasters/notesMaster1.xml" Id="Rff31c5ef92ed47f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d4e9c704bd54a94" /><Relationship Type="http://schemas.openxmlformats.org/officeDocument/2006/relationships/notesMaster" Target="/ppt/notesMasters/notesMaster1.xml" Id="R4de7700312df471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a55e067536f40dd" /><Relationship Type="http://schemas.openxmlformats.org/officeDocument/2006/relationships/notesMaster" Target="/ppt/notesMasters/notesMaster1.xml" Id="Rc812c5358a96462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f17c462e39d46a7" /><Relationship Type="http://schemas.openxmlformats.org/officeDocument/2006/relationships/notesMaster" Target="/ppt/notesMasters/notesMaster1.xml" Id="R9277e6bffbc944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viewer might watch a video because they enjoy it, need it for a class or disagree with it. The recorded action is not identical to the viewer’s reason. Data analytics uses observations to find patterns or make predictions. We begin by distinguishing a recorded value from an inference. This matters when a platform decides what to show next. Our examples use invented records. We will not collect personal histories or require students to enter accounts to explore the mechanism.</a:t>
            </a:r>
          </a:p>
          <a:p xmlns:a="http://schemas.openxmlformats.org/drawingml/2006/main">
            <a:r>
              <a:t/>
            </a:r>
          </a:p>
          <a:p xmlns:a="http://schemas.openxmlformats.org/drawingml/2006/main">
            <a:r>
              <a:t>A click records an action</a:t>
            </a:r>
          </a:p>
          <a:p xmlns:a="http://schemas.openxmlformats.org/drawingml/2006/main">
            <a:r>
              <a:t>A system may infer a preference from that action</a:t>
            </a:r>
          </a:p>
          <a:p xmlns:a="http://schemas.openxmlformats.org/drawingml/2006/main">
            <a:r>
              <a:t>The inference remains open to other explanations</a:t>
            </a:r>
          </a:p>
          <a:p xmlns:a="http://schemas.openxmlformats.org/drawingml/2006/main">
            <a:r>
              <a:t/>
            </a:r>
          </a:p>
          <a:p xmlns:a="http://schemas.openxmlformats.org/drawingml/2006/main">
            <a:r>
              <a:t>Practice prompt: Identify three kinds of data in the scene. Which reason for watching would remain an inference?</a:t>
            </a:r>
          </a:p>
          <a:p xmlns:a="http://schemas.openxmlformats.org/drawingml/2006/main">
            <a:r>
              <a:t/>
            </a:r>
          </a:p>
          <a:p xmlns:a="http://schemas.openxmlformats.org/drawingml/2006/main">
            <a:r>
              <a:t>Source: Bomfim et al., Digital Society for the IB Diploma, Hodder, 2022. Printed pages cited per slide. Original paraphrase. Textbook connection: pp. 72–73.</a:t>
            </a:r>
          </a:p>
          <a:p xmlns:a="http://schemas.openxmlformats.org/drawingml/2006/main">
            <a:r>
              <a:t>Visual: Existing teaching image or native invented data chart. All synthetic values are labelled.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textbook characterizes big data using four Vs. Data can be structured in a table or arrive in formats such as video, text and images. Analytics can describe what happened, detect patterns or support a prediction. A classroom table is small data, but it helps us reason about a process that operates on a much larger collection. A numerical output is not automatically a reliable answer. Ask how the records were collected, what they represent and how the analysis matches the question.</a:t>
            </a:r>
          </a:p>
          <a:p xmlns:a="http://schemas.openxmlformats.org/drawingml/2006/main">
            <a:r>
              <a:t/>
            </a:r>
          </a:p>
          <a:p xmlns:a="http://schemas.openxmlformats.org/drawingml/2006/main">
            <a:r>
              <a:t>Big data involves large, varied collections of records</a:t>
            </a:r>
          </a:p>
          <a:p xmlns:a="http://schemas.openxmlformats.org/drawingml/2006/main">
            <a:r>
              <a:t>Analytics processes data to find patterns and trends</a:t>
            </a:r>
          </a:p>
          <a:p xmlns:a="http://schemas.openxmlformats.org/drawingml/2006/main">
            <a:r>
              <a:t>A useful result depends on the question and the quality of the data</a:t>
            </a:r>
          </a:p>
          <a:p xmlns:a="http://schemas.openxmlformats.org/drawingml/2006/main">
            <a:r>
              <a:t/>
            </a:r>
          </a:p>
          <a:p xmlns:a="http://schemas.openxmlformats.org/drawingml/2006/main">
            <a:r>
              <a:t>Practice prompt: Which of the four Vs can a very large dataset still fail?</a:t>
            </a:r>
          </a:p>
          <a:p xmlns:a="http://schemas.openxmlformats.org/drawingml/2006/main">
            <a:r>
              <a:t/>
            </a:r>
          </a:p>
          <a:p xmlns:a="http://schemas.openxmlformats.org/drawingml/2006/main">
            <a:r>
              <a:t>Source: Bomfim et al., Digital Society for the IB Diploma, Hodder, 2022. Printed pages cited per slide. Original paraphrase. Textbook connection: pp. 72–73.</a:t>
            </a:r>
          </a:p>
          <a:p xmlns:a="http://schemas.openxmlformats.org/drawingml/2006/main">
            <a:r>
              <a:t>Visual: Existing teaching image or native invented data chart. All synthetic values are labelled.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a match where sensors generate records throughout play. Volume concerns how many records accumulate. Velocity concerns the rate at which new records arrive and whether analysis can keep up. A system that stores a large archive may have high volume without fast current arrival. A live stream may require quick decisions before every record can be manually checked. Explain which characteristic matters to a particular task instead of treating big data as a single vague advantage.</a:t>
            </a:r>
          </a:p>
          <a:p xmlns:a="http://schemas.openxmlformats.org/drawingml/2006/main">
            <a:r>
              <a:t/>
            </a:r>
          </a:p>
          <a:p xmlns:a="http://schemas.openxmlformats.org/drawingml/2006/main">
            <a:r>
              <a:t>Volume describes the amount of data</a:t>
            </a:r>
          </a:p>
          <a:p xmlns:a="http://schemas.openxmlformats.org/drawingml/2006/main">
            <a:r>
              <a:t>Velocity describes how quickly data arrives and is processed</a:t>
            </a:r>
          </a:p>
          <a:p xmlns:a="http://schemas.openxmlformats.org/drawingml/2006/main">
            <a:r>
              <a:t>Fast incoming data can create processing and checking demands</a:t>
            </a:r>
          </a:p>
          <a:p xmlns:a="http://schemas.openxmlformats.org/drawingml/2006/main">
            <a:r>
              <a:t/>
            </a:r>
          </a:p>
          <a:p xmlns:a="http://schemas.openxmlformats.org/drawingml/2006/main">
            <a:r>
              <a:t/>
            </a:r>
          </a:p>
          <a:p xmlns:a="http://schemas.openxmlformats.org/drawingml/2006/main">
            <a:r>
              <a:t>Source: Bomfim et al., Digital Society for the IB Diploma, Hodder, 2022. Printed pages cited per slide. Original paraphrase. Textbook connection: pp. 73.</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platform may combine a video, its caption, a device setting and an interaction log. These are different kinds of data. That variety creates opportunities, but joining formats accurately can be difficult. Veracity concerns whether the values are trustworthy for the intended use. Repeated records, missing values, outdated labels and false accounts can all distort an analysis. Having many formats does not establish good quality. A large dataset can remain unrepresentative even when its individual records are accurate.</a:t>
            </a:r>
          </a:p>
          <a:p xmlns:a="http://schemas.openxmlformats.org/drawingml/2006/main">
            <a:r>
              <a:t/>
            </a:r>
          </a:p>
          <a:p xmlns:a="http://schemas.openxmlformats.org/drawingml/2006/main">
            <a:r>
              <a:t>Variety concerns formats and types of data</a:t>
            </a:r>
          </a:p>
          <a:p xmlns:a="http://schemas.openxmlformats.org/drawingml/2006/main">
            <a:r>
              <a:t>Veracity concerns accuracy, reliability and quality</a:t>
            </a:r>
          </a:p>
          <a:p xmlns:a="http://schemas.openxmlformats.org/drawingml/2006/main">
            <a:r>
              <a:t>A larger collection can contain more of the same error</a:t>
            </a:r>
          </a:p>
          <a:p xmlns:a="http://schemas.openxmlformats.org/drawingml/2006/main">
            <a:r>
              <a:t/>
            </a:r>
          </a:p>
          <a:p xmlns:a="http://schemas.openxmlformats.org/drawingml/2006/main">
            <a:r>
              <a:t>Checkpoint: A million records contain the same incorrect duration unit. Which V is directly affected?</a:t>
            </a:r>
          </a:p>
          <a:p xmlns:a="http://schemas.openxmlformats.org/drawingml/2006/main">
            <a:r>
              <a:t>Options: Veracity / Velocity only / Variety guarantees it is fine</a:t>
            </a:r>
          </a:p>
          <a:p xmlns:a="http://schemas.openxmlformats.org/drawingml/2006/main">
            <a:r>
              <a:t>Practice answer: Veracity. An incorrect unit undermines the accuracy and usefulness of the recorded values.</a:t>
            </a:r>
          </a:p>
          <a:p xmlns:a="http://schemas.openxmlformats.org/drawingml/2006/main">
            <a:r>
              <a:t/>
            </a:r>
          </a:p>
          <a:p xmlns:a="http://schemas.openxmlformats.org/drawingml/2006/main">
            <a:r>
              <a:t>Source: Bomfim et al., Digital Society for the IB Diploma, Hodder, 2022. Printed pages cited per slide. Original paraphrase. Textbook connection: pp. 73.</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invented datasets force us to name a purpose. Dataset A may be suitable for checking one class’s activity, but it may not represent the whole school. Dataset B might capture a wider range of people, yet its errors require investigation. We cannot decide which is better without knowing the question, sampling, missingness and quality controls. Data cleaning can improve validity while accidentally removing groups if missing values are unevenly distributed. Make the decision and its assumption visible.</a:t>
            </a:r>
          </a:p>
          <a:p xmlns:a="http://schemas.openxmlformats.org/drawingml/2006/main">
            <a:r>
              <a:t/>
            </a:r>
          </a:p>
          <a:p xmlns:a="http://schemas.openxmlformats.org/drawingml/2006/main">
            <a:r>
              <a:t>Dataset A: 40 verified records from one class</a:t>
            </a:r>
          </a:p>
          <a:p xmlns:a="http://schemas.openxmlformats.org/drawingml/2006/main">
            <a:r>
              <a:t>Dataset B: 40,000 records with duplicates and missing fields</a:t>
            </a:r>
          </a:p>
          <a:p xmlns:a="http://schemas.openxmlformats.org/drawingml/2006/main">
            <a:r>
              <a:t>Neither size alone nor cleanliness alone answers the question</a:t>
            </a:r>
          </a:p>
          <a:p xmlns:a="http://schemas.openxmlformats.org/drawingml/2006/main">
            <a:r>
              <a:t/>
            </a:r>
          </a:p>
          <a:p xmlns:a="http://schemas.openxmlformats.org/drawingml/2006/main">
            <a:r>
              <a:t>Practice prompt: Which would you use to describe your class? What would you need to describe the whole school?</a:t>
            </a:r>
          </a:p>
          <a:p xmlns:a="http://schemas.openxmlformats.org/drawingml/2006/main">
            <a:r>
              <a:t/>
            </a:r>
          </a:p>
          <a:p xmlns:a="http://schemas.openxmlformats.org/drawingml/2006/main">
            <a:r>
              <a:t>Source: Bomfim et al., Digital Society for the IB Diploma, Hodder, 2022. Printed pages cited per slide. Original paraphrase. Textbook connection: pp. 73–74.</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an item has no completion value. Replacing it with zero can push the creator down the ranking even though zero completion was never observed. Removing the item avoids the calculation but also removes its opportunity for exposure. Estimating a value may help, yet it relies on an assumption that needs checking. A sensible choice depends on the task and consequence. Record what you chose and how the result might change under another plausible choice.</a:t>
            </a:r>
          </a:p>
          <a:p xmlns:a="http://schemas.openxmlformats.org/drawingml/2006/main">
            <a:r>
              <a:t/>
            </a:r>
          </a:p>
          <a:p xmlns:a="http://schemas.openxmlformats.org/drawingml/2006/main">
            <a:r>
              <a:t>Blank duration does not mean zero duration</a:t>
            </a:r>
          </a:p>
          <a:p xmlns:a="http://schemas.openxmlformats.org/drawingml/2006/main">
            <a:r>
              <a:t>Dropping a record changes who remains in the dataset</a:t>
            </a:r>
          </a:p>
          <a:p xmlns:a="http://schemas.openxmlformats.org/drawingml/2006/main">
            <a:r>
              <a:t>Imputing a value introduces an assumption</a:t>
            </a:r>
          </a:p>
          <a:p xmlns:a="http://schemas.openxmlformats.org/drawingml/2006/main">
            <a:r>
              <a:t/>
            </a:r>
          </a:p>
          <a:p xmlns:a="http://schemas.openxmlformats.org/drawingml/2006/main">
            <a:r>
              <a:t>Practice prompt: Compare exclusion with estimation for a new creator. State one uncertainty for each.</a:t>
            </a:r>
          </a:p>
          <a:p xmlns:a="http://schemas.openxmlformats.org/drawingml/2006/main">
            <a:r>
              <a:t/>
            </a:r>
          </a:p>
          <a:p xmlns:a="http://schemas.openxmlformats.org/drawingml/2006/main">
            <a:r>
              <a:t>Source: Bomfim et al., Digital Society for the IB Diploma, Hodder, 2022. Printed pages cited per slide. Original paraphrase. Textbook connection: pp. 73–74.</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Items with more exposure often receive more interactions. This could reflect relevance, the number of opportunities to be seen or both. Looking only at interaction totals cannot distinguish those explanations. A carefully designed comparison might hold exposure constant or compare a changed allocation, but even then we need to examine other factors and limits. The important habit is to state the measured relationship first, then ask which alternative explanations the evidence has ruled out.</a:t>
            </a:r>
          </a:p>
          <a:p xmlns:a="http://schemas.openxmlformats.org/drawingml/2006/main">
            <a:r>
              <a:t/>
            </a:r>
          </a:p>
          <a:p xmlns:a="http://schemas.openxmlformats.org/drawingml/2006/main">
            <a:r>
              <a:t>A pattern may be useful for prediction</a:t>
            </a:r>
          </a:p>
          <a:p xmlns:a="http://schemas.openxmlformats.org/drawingml/2006/main">
            <a:r>
              <a:t>Other factors may explain the relationship</a:t>
            </a:r>
          </a:p>
          <a:p xmlns:a="http://schemas.openxmlformats.org/drawingml/2006/main">
            <a:r>
              <a:t>A causal conclusion needs an appropriate investigation</a:t>
            </a:r>
          </a:p>
          <a:p xmlns:a="http://schemas.openxmlformats.org/drawingml/2006/main">
            <a:r>
              <a:t/>
            </a:r>
          </a:p>
          <a:p xmlns:a="http://schemas.openxmlformats.org/drawingml/2006/main">
            <a:r>
              <a:t>Practice prompt: Why might comparing reactions per exposure help? What uncertainty would remain?</a:t>
            </a:r>
          </a:p>
          <a:p xmlns:a="http://schemas.openxmlformats.org/drawingml/2006/main">
            <a:r>
              <a:t/>
            </a:r>
          </a:p>
          <a:p xmlns:a="http://schemas.openxmlformats.org/drawingml/2006/main">
            <a:r>
              <a:t>Source: Bomfim et al., Digital Society for the IB Diploma, Hodder, 2022. Printed pages cited per slide. Original paraphrase. Textbook connection: pp. 73.</a:t>
            </a:r>
          </a:p>
          <a:p xmlns:a="http://schemas.openxmlformats.org/drawingml/2006/main">
            <a:r>
              <a:t>Visual: Existing teaching image or native invented data chart. All synthetic values are labelled.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chapter places big data inside a lifecycle. At collection, we decide what to record and whom to include. Storage involves access, security and organization. Use involves analysis and sharing for a purpose. Preservation and destruction concern how long records remain and what happens when they are no longer needed. This week’s assigned reading begins the collection dilemmas in section 3.1I. It does not teach all later lifecycle dilemmas. A diagram of a lifecycle is a map, not proof that every stage has been adequately managed.</a:t>
            </a:r>
          </a:p>
          <a:p xmlns:a="http://schemas.openxmlformats.org/drawingml/2006/main">
            <a:r>
              <a:t/>
            </a:r>
          </a:p>
          <a:p xmlns:a="http://schemas.openxmlformats.org/drawingml/2006/main">
            <a:r>
              <a:t>Create or collect data</a:t>
            </a:r>
          </a:p>
          <a:p xmlns:a="http://schemas.openxmlformats.org/drawingml/2006/main">
            <a:r>
              <a:t>Store and use it</a:t>
            </a:r>
          </a:p>
          <a:p xmlns:a="http://schemas.openxmlformats.org/drawingml/2006/main">
            <a:r>
              <a:t>Preserve or destroy it when appropriate</a:t>
            </a:r>
          </a:p>
          <a:p xmlns:a="http://schemas.openxmlformats.org/drawingml/2006/main">
            <a:r>
              <a:t/>
            </a:r>
          </a:p>
          <a:p xmlns:a="http://schemas.openxmlformats.org/drawingml/2006/main">
            <a:r>
              <a:t>Checkpoint: Why does a lifecycle model matter?</a:t>
            </a:r>
          </a:p>
          <a:p xmlns:a="http://schemas.openxmlformats.org/drawingml/2006/main">
            <a:r>
              <a:t>Options: Only collection affects people / Decisions about collection, use and retention can each affect people / Data should always be retained forever</a:t>
            </a:r>
          </a:p>
          <a:p xmlns:a="http://schemas.openxmlformats.org/drawingml/2006/main">
            <a:r>
              <a:t>Practice answer: Decisions about collection, use and retention can each affect people. Different stages introduce different decisions and responsibilities.</a:t>
            </a:r>
          </a:p>
          <a:p xmlns:a="http://schemas.openxmlformats.org/drawingml/2006/main">
            <a:r>
              <a:t/>
            </a:r>
          </a:p>
          <a:p xmlns:a="http://schemas.openxmlformats.org/drawingml/2006/main">
            <a:r>
              <a:t>Source: Bomfim et al., Digital Society for the IB Diploma, Hodder, 2022. Printed pages cited per slide. Original paraphrase. Textbook connection: pp. 72, 74.</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assigned page raises ethical collection, consent and excessive collection. We can ask what information is actually needed to answer a question, and whether a group is missing before analysis begins. Collecting an additional personal detail can create a privacy cost without improving the decision. Applicable rules depend on the setting and jurisdiction, so this is an ethical design discussion rather than a universal legal checklist. Explain the purpose, the proposed data and the effect of collecting or omitting it.</a:t>
            </a:r>
          </a:p>
          <a:p xmlns:a="http://schemas.openxmlformats.org/drawingml/2006/main">
            <a:r>
              <a:t/>
            </a:r>
          </a:p>
          <a:p xmlns:a="http://schemas.openxmlformats.org/drawingml/2006/main">
            <a:r>
              <a:t>Collect data that fits a defined purpose</a:t>
            </a:r>
          </a:p>
          <a:p xmlns:a="http://schemas.openxmlformats.org/drawingml/2006/main">
            <a:r>
              <a:t>Examine whose records are absent or overrepresented</a:t>
            </a:r>
          </a:p>
          <a:p xmlns:a="http://schemas.openxmlformats.org/drawingml/2006/main">
            <a:r>
              <a:t>Consider permission and unnecessary collection</a:t>
            </a:r>
          </a:p>
          <a:p xmlns:a="http://schemas.openxmlformats.org/drawingml/2006/main">
            <a:r>
              <a:t/>
            </a:r>
          </a:p>
          <a:p xmlns:a="http://schemas.openxmlformats.org/drawingml/2006/main">
            <a:r>
              <a:t>Practice prompt: Does a school discovery feed need a student’s legal name to test a ranking? Explain your decision.</a:t>
            </a:r>
          </a:p>
          <a:p xmlns:a="http://schemas.openxmlformats.org/drawingml/2006/main">
            <a:r>
              <a:t/>
            </a:r>
          </a:p>
          <a:p xmlns:a="http://schemas.openxmlformats.org/drawingml/2006/main">
            <a:r>
              <a:t>Source: Bomfim et al., Digital Society for the IB Diploma, Hodder, 2022. Printed pages cited per slide. Original paraphrase. Textbook connection: pp. 74.</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textbook gives historical examples from finance and sports. The enduring idea is the use of data to inform a decision. Describing last month’s activity, flagging an unusual transaction and predicting interest are different tasks. A prediction expresses an estimated outcome and should be evaluated against later observations. The examples do not make analytics infallible. A false alert can inconvenience someone, while a missed alert can leave a problem undetected. Identify the task and the cost of each kind of error.</a:t>
            </a:r>
          </a:p>
          <a:p xmlns:a="http://schemas.openxmlformats.org/drawingml/2006/main">
            <a:r>
              <a:t/>
            </a:r>
          </a:p>
          <a:p xmlns:a="http://schemas.openxmlformats.org/drawingml/2006/main">
            <a:r>
              <a:t>Describe a past pattern</a:t>
            </a:r>
          </a:p>
          <a:p xmlns:a="http://schemas.openxmlformats.org/drawingml/2006/main">
            <a:r>
              <a:t>Detect an unusual record or event</a:t>
            </a:r>
          </a:p>
          <a:p xmlns:a="http://schemas.openxmlformats.org/drawingml/2006/main">
            <a:r>
              <a:t>Predict a possible future outcome</a:t>
            </a:r>
          </a:p>
          <a:p xmlns:a="http://schemas.openxmlformats.org/drawingml/2006/main">
            <a:r>
              <a:t/>
            </a:r>
          </a:p>
          <a:p xmlns:a="http://schemas.openxmlformats.org/drawingml/2006/main">
            <a:r>
              <a:t>Practice prompt: Choose one purpose and identify a false positive and a false negative in a school context.</a:t>
            </a:r>
          </a:p>
          <a:p xmlns:a="http://schemas.openxmlformats.org/drawingml/2006/main">
            <a:r>
              <a:t/>
            </a:r>
          </a:p>
          <a:p xmlns:a="http://schemas.openxmlformats.org/drawingml/2006/main">
            <a:r>
              <a:t>Source: Bomfim et al., Digital Society for the IB Diploma, Hodder, 2022. Printed pages cited per slide. Original paraphrase. Textbook connection: pp. 73.</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manageable inquiry identifies a particular use rather than asking whether all big data is good. For a platform, we could investigate whether recorded interactions represent new creators as well as established ones. The real case file gives a provider account and a regulator account with different purposes. Neither offers a complete dataset of individual experiences. Use the source passport to record the locator, claim, evidence and limitation. A limitation helps you decide what a source is useful for rather than simply dismissing it as biased.</a:t>
            </a:r>
          </a:p>
          <a:p xmlns:a="http://schemas.openxmlformats.org/drawingml/2006/main">
            <a:r>
              <a:t/>
            </a:r>
          </a:p>
          <a:p xmlns:a="http://schemas.openxmlformats.org/drawingml/2006/main">
            <a:r>
              <a:t>Question: whose experience does this dataset describe?</a:t>
            </a:r>
          </a:p>
          <a:p xmlns:a="http://schemas.openxmlformats.org/drawingml/2006/main">
            <a:r>
              <a:t>Check collection, formats, missing records and quality</a:t>
            </a:r>
          </a:p>
          <a:p xmlns:a="http://schemas.openxmlformats.org/drawingml/2006/main">
            <a:r>
              <a:t>Match each claim to evidence that can support it</a:t>
            </a:r>
          </a:p>
          <a:p xmlns:a="http://schemas.openxmlformats.org/drawingml/2006/main">
            <a:r>
              <a:t/>
            </a:r>
          </a:p>
          <a:p xmlns:a="http://schemas.openxmlformats.org/drawingml/2006/main">
            <a:r>
              <a:t>Practice prompt: Draft a focused question and identify one missing piece of evidence.</a:t>
            </a:r>
          </a:p>
          <a:p xmlns:a="http://schemas.openxmlformats.org/drawingml/2006/main">
            <a:r>
              <a:t>Related browser practice: ../source-passport.html</a:t>
            </a:r>
          </a:p>
          <a:p xmlns:a="http://schemas.openxmlformats.org/drawingml/2006/main">
            <a:r>
              <a:t/>
            </a:r>
          </a:p>
          <a:p xmlns:a="http://schemas.openxmlformats.org/drawingml/2006/main">
            <a:r>
              <a:t>Source: Bomfim et al., Digital Society for the IB Diploma, Hodder, 2022. Printed pages cited per slide. Original paraphrase. Textbook connection: pp. 74.</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have taught the full assigned explanatory range, not the whole data chapter. The earlier parts include data types, analysis, databases and security. The later pages extend dilemmas across storage, use, preservation and destruction. They appear elsewhere in the course sequence and should be checked with retrieval rather than assumed learned. For now, close the deck and apply each V to a school attendance dataset. Explain one quality problem that a larger collection would not fix. Repair your answer after checking the definitions.</a:t>
            </a:r>
          </a:p>
          <a:p xmlns:a="http://schemas.openxmlformats.org/drawingml/2006/main">
            <a:r>
              <a:t/>
            </a:r>
          </a:p>
          <a:p xmlns:a="http://schemas.openxmlformats.org/drawingml/2006/main">
            <a:r>
              <a:t>This deck teaches 3.1H and collection at the start of 3.1I</a:t>
            </a:r>
          </a:p>
          <a:p xmlns:a="http://schemas.openxmlformats.org/drawingml/2006/main">
            <a:r>
              <a:t>Earlier 3.1 sections and later lifecycle dilemmas remain separate</a:t>
            </a:r>
          </a:p>
          <a:p xmlns:a="http://schemas.openxmlformats.org/drawingml/2006/main">
            <a:r>
              <a:t>Explain the four Vs in a new context without notes</a:t>
            </a:r>
          </a:p>
          <a:p xmlns:a="http://schemas.openxmlformats.org/drawingml/2006/main">
            <a:r>
              <a:t/>
            </a:r>
          </a:p>
          <a:p xmlns:a="http://schemas.openxmlformats.org/drawingml/2006/main">
            <a:r>
              <a:t>Checkpoint: Which claim is justified after this deck?</a:t>
            </a:r>
          </a:p>
          <a:p xmlns:a="http://schemas.openxmlformats.org/drawingml/2006/main">
            <a:r>
              <a:t>Options: We have completed every part of chapter 3.1 / We have taught the assigned big-data section and the beginning of collection dilemmas / Big data guarantees representative data</a:t>
            </a:r>
          </a:p>
          <a:p xmlns:a="http://schemas.openxmlformats.org/drawingml/2006/main">
            <a:r>
              <a:t>Practice answer: We have taught the assigned big-data section and the beginning of collection dilemmas. Coverage is specific to the assigned sections. Understanding is checked through explanation and transfer.</a:t>
            </a:r>
          </a:p>
          <a:p xmlns:a="http://schemas.openxmlformats.org/drawingml/2006/main">
            <a:r>
              <a:t/>
            </a:r>
          </a:p>
          <a:p xmlns:a="http://schemas.openxmlformats.org/drawingml/2006/main">
            <a:r>
              <a:t>Source: Bomfim et al., Digital Society for the IB Diploma, Hodder, 2022. Printed pages cited per slide. Original paraphrase. Textbook connection: pp. 72–74.</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bdce8f318f4a6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ae053eebf24ff2" /><Relationship Type="http://schemas.openxmlformats.org/officeDocument/2006/relationships/slideLayout" Target="/ppt/slideLayouts/slideLayout1.xml" Id="R2c020e4705674f8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020e4705674f8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2613318aedf457f" /><Relationship Type="http://schemas.openxmlformats.org/officeDocument/2006/relationships/image" Target="/ppt/media/image.png" Id="R95cdd0b7966642f7" /><Relationship Type="http://schemas.openxmlformats.org/officeDocument/2006/relationships/notesSlide" Target="/ppt/notesSlides/notesSlide1.xml" Id="R97409cbe201a4d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b928e2aec64492c" /><Relationship Type="http://schemas.openxmlformats.org/officeDocument/2006/relationships/image" Target="/ppt/media/image2.png" Id="Re12d8ca933ed49ed" /><Relationship Type="http://schemas.openxmlformats.org/officeDocument/2006/relationships/notesSlide" Target="/ppt/notesSlides/notesSlide2.xml" Id="Rab1951752209419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4b61ad3b86b4cde" /><Relationship Type="http://schemas.openxmlformats.org/officeDocument/2006/relationships/notesSlide" Target="/ppt/notesSlides/notesSlide3.xml" Id="R2323ac35585047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d6e878b6dea4e5e" /><Relationship Type="http://schemas.openxmlformats.org/officeDocument/2006/relationships/notesSlide" Target="/ppt/notesSlides/notesSlide4.xml" Id="R3022930806b848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6fac789611247cb" /><Relationship Type="http://schemas.openxmlformats.org/officeDocument/2006/relationships/notesSlide" Target="/ppt/notesSlides/notesSlide5.xml" Id="R305ce206b0f1494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6d2332e2440433d" /><Relationship Type="http://schemas.openxmlformats.org/officeDocument/2006/relationships/notesSlide" Target="/ppt/notesSlides/notesSlide6.xml" Id="Ref259ee5922542f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e11e478e4b34c46" /><Relationship Type="http://schemas.openxmlformats.org/officeDocument/2006/relationships/image" Target="/ppt/media/image3.png" Id="Rde9ee88872864f1f" /><Relationship Type="http://schemas.openxmlformats.org/officeDocument/2006/relationships/notesSlide" Target="/ppt/notesSlides/notesSlide7.xml" Id="R23190d740d2045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85e81e95e7d47b1" /><Relationship Type="http://schemas.openxmlformats.org/officeDocument/2006/relationships/notesSlide" Target="/ppt/notesSlides/notesSlide8.xml" Id="Rbae43f710486413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b05c8fd72ca4fe1" /><Relationship Type="http://schemas.openxmlformats.org/officeDocument/2006/relationships/notesSlide" Target="/ppt/notesSlides/notesSlide9.xml" Id="Re89de7ccaf014c5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9842ae4bc5041cb" /><Relationship Type="http://schemas.openxmlformats.org/officeDocument/2006/relationships/notesSlide" Target="/ppt/notesSlides/notesSlide10.xml" Id="R56aadaa58c56406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f91e729ce7143da" /><Relationship Type="http://schemas.openxmlformats.org/officeDocument/2006/relationships/notesSlide" Target="/ppt/notesSlides/notesSlide11.xml" Id="R850eb2ca680242c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1928f3774bc4c22" /><Relationship Type="http://schemas.openxmlformats.org/officeDocument/2006/relationships/notesSlide" Target="/ppt/notesSlides/notesSlide12.xml" Id="R904b8e800ee642b6" /></Relationships>
</file>

<file path=ppt/slides/slide1.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2950B6C-742A-45AF-9CFF-06FDCF2E277D}"/>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4C6093"/>
                </a:solidFill>
                <a:latin typeface="Helvetica Neue"/>
                <a:ea typeface="Helvetica Neue"/>
                <a:cs typeface="Helvetica Neue"/>
              </a:defRPr>
            </a:pPr>
            <a:r>
              <a:rPr sz="1275" b="1">
                <a:solidFill>
                  <a:srgbClr val="4C6093"/>
                </a:solidFill>
                <a:latin typeface="Helvetica Neue"/>
                <a:ea typeface="Helvetica Neue"/>
                <a:cs typeface="Helvetica Neue"/>
              </a:rPr>
              <a:t>IB DIGITAL SOCIETY  /  3.1H and the start of 3.1I · pp. 72–74</a:t>
            </a:r>
          </a:p>
        </p:txBody>
      </p:sp>
      <p:sp>
        <p:nvSpPr>
          <p:cNvPr id="2" name="">
            <a:extLst xmlns:a="http://schemas.openxmlformats.org/drawingml/2006/main">
              <a:ext uri="{FF2B5EF4-FFF2-40B4-BE49-F238E27FC236}">
                <a16:creationId xmlns:a16="http://schemas.microsoft.com/office/drawing/2014/main" id="{6D5FD2FF-F844-49C9-AF48-F1076190834F}"/>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Data records part of a situation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5cdd0b7966642f7"/>
          <a:stretch xmlns:a="http://schemas.openxmlformats.org/drawingml/2006/main"/>
        </p:blipFill>
        <p:spPr>
          <a:xfrm xmlns:a="http://schemas.openxmlformats.org/drawingml/2006/main">
            <a:off x="3032695" y="1657350"/>
            <a:ext cx="6126610" cy="3448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6C55421-EF67-4EBF-A9B6-4306B120AF0E}"/>
              </a:ext>
            </a:extLst>
          </p:cNvPr>
          <p:cNvSpPr>
            <a:spLocks xmlns:a="http://schemas.openxmlformats.org/drawingml/2006/main" noGrp="1"/>
          </p:cNvSpPr>
          <p:nvPr/>
        </p:nvSpPr>
        <p:spPr>
          <a:xfrm xmlns:a="http://schemas.openxmlformats.org/drawingml/2006/main">
            <a:off x="609600" y="52292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4C6093"/>
                </a:solidFill>
                <a:latin typeface="Helvetica Neue"/>
                <a:ea typeface="Helvetica Neue"/>
                <a:cs typeface="Helvetica Neue"/>
              </a:defRPr>
            </a:pPr>
            <a:r>
              <a:rPr sz="2025" b="1">
                <a:solidFill>
                  <a:srgbClr val="4C6093"/>
                </a:solidFill>
                <a:latin typeface="Helvetica Neue"/>
                <a:ea typeface="Helvetica Neue"/>
                <a:cs typeface="Helvetica Neue"/>
              </a:rPr>
              <a:t>A click records an action</a:t>
            </a:r>
          </a:p>
        </p:txBody>
      </p:sp>
      <p:sp>
        <p:nvSpPr>
          <p:cNvPr id="5" name="">
            <a:extLst xmlns:a="http://schemas.openxmlformats.org/drawingml/2006/main">
              <a:ext uri="{FF2B5EF4-FFF2-40B4-BE49-F238E27FC236}">
                <a16:creationId xmlns:a16="http://schemas.microsoft.com/office/drawing/2014/main" id="{1D54F2B9-1C84-4368-A701-45E153FEA70F}"/>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4C6093"/>
                </a:solidFill>
                <a:latin typeface="Helvetica Neue"/>
                <a:ea typeface="Helvetica Neue"/>
                <a:cs typeface="Helvetica Neue"/>
              </a:defRPr>
            </a:pPr>
            <a:r>
              <a:rPr sz="1800" b="1">
                <a:solidFill>
                  <a:srgbClr val="4C6093"/>
                </a:solidFill>
                <a:latin typeface="Helvetica Neue"/>
                <a:ea typeface="Helvetica Neue"/>
                <a:cs typeface="Helvetica Neue"/>
              </a:rPr>
              <a:t>Identify three kinds of data in the scene. Which reason for watching would remain an inference?</a:t>
            </a:r>
          </a:p>
        </p:txBody>
      </p:sp>
      <p:sp>
        <p:nvSpPr>
          <p:cNvPr id="6" name="">
            <a:extLst xmlns:a="http://schemas.openxmlformats.org/drawingml/2006/main">
              <a:ext uri="{FF2B5EF4-FFF2-40B4-BE49-F238E27FC236}">
                <a16:creationId xmlns:a16="http://schemas.microsoft.com/office/drawing/2014/main" id="{2BEFE656-C406-498B-B136-D9F62F163BBB}"/>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72–73  /  Original teaching explanation</a:t>
            </a:r>
          </a:p>
        </p:txBody>
      </p:sp>
      <p:sp>
        <p:nvSpPr>
          <p:cNvPr id="7" name="">
            <a:extLst xmlns:a="http://schemas.openxmlformats.org/drawingml/2006/main">
              <a:ext uri="{FF2B5EF4-FFF2-40B4-BE49-F238E27FC236}">
                <a16:creationId xmlns:a16="http://schemas.microsoft.com/office/drawing/2014/main" id="{F54A34E5-980D-4158-A984-2AFA3DD3AD5B}"/>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01 / 12</a:t>
            </a:r>
          </a:p>
        </p:txBody>
      </p:sp>
    </p:spTree>
    <p:extLst>
      <p:ext uri="{BB962C8B-B14F-4D97-AF65-F5344CB8AC3E}">
        <p14:creationId xmlns:p14="http://schemas.microsoft.com/office/powerpoint/2010/main" val="765827851"/>
      </p:ext>
    </p:extLst>
  </p:cSld>
</p:sld>
</file>

<file path=ppt/slides/slide2.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BC93B8F-C950-4D12-9DB1-8DF8DB314848}"/>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4C6093"/>
                </a:solidFill>
                <a:latin typeface="Helvetica Neue"/>
                <a:ea typeface="Helvetica Neue"/>
                <a:cs typeface="Helvetica Neue"/>
              </a:defRPr>
            </a:pPr>
            <a:r>
              <a:rPr sz="1275" b="1">
                <a:solidFill>
                  <a:srgbClr val="4C6093"/>
                </a:solidFill>
                <a:latin typeface="Helvetica Neue"/>
                <a:ea typeface="Helvetica Neue"/>
                <a:cs typeface="Helvetica Neue"/>
              </a:rPr>
              <a:t>IB DIGITAL SOCIETY  /  3.1H and the start of 3.1I · pp. 72–74</a:t>
            </a:r>
          </a:p>
        </p:txBody>
      </p:sp>
      <p:sp>
        <p:nvSpPr>
          <p:cNvPr id="2" name="">
            <a:extLst xmlns:a="http://schemas.openxmlformats.org/drawingml/2006/main">
              <a:ext uri="{FF2B5EF4-FFF2-40B4-BE49-F238E27FC236}">
                <a16:creationId xmlns:a16="http://schemas.microsoft.com/office/drawing/2014/main" id="{8E59460A-3E0F-4EF8-86BE-DE7D1B36495A}"/>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Big data and data analytics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12d8ca933ed49ed"/>
          <a:stretch xmlns:a="http://schemas.openxmlformats.org/drawingml/2006/main"/>
        </p:blipFill>
        <p:spPr>
          <a:xfrm xmlns:a="http://schemas.openxmlformats.org/drawingml/2006/main">
            <a:off x="3054721" y="1657350"/>
            <a:ext cx="6082558" cy="3448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DACF793-7213-47BF-A235-27E8D1B7FE86}"/>
              </a:ext>
            </a:extLst>
          </p:cNvPr>
          <p:cNvSpPr>
            <a:spLocks xmlns:a="http://schemas.openxmlformats.org/drawingml/2006/main" noGrp="1"/>
          </p:cNvSpPr>
          <p:nvPr/>
        </p:nvSpPr>
        <p:spPr>
          <a:xfrm xmlns:a="http://schemas.openxmlformats.org/drawingml/2006/main">
            <a:off x="609600" y="52292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4C6093"/>
                </a:solidFill>
                <a:latin typeface="Helvetica Neue"/>
                <a:ea typeface="Helvetica Neue"/>
                <a:cs typeface="Helvetica Neue"/>
              </a:defRPr>
            </a:pPr>
            <a:r>
              <a:rPr sz="2025" b="1">
                <a:solidFill>
                  <a:srgbClr val="4C6093"/>
                </a:solidFill>
                <a:latin typeface="Helvetica Neue"/>
                <a:ea typeface="Helvetica Neue"/>
                <a:cs typeface="Helvetica Neue"/>
              </a:rPr>
              <a:t>Big data involves large, varied collections of records</a:t>
            </a:r>
          </a:p>
        </p:txBody>
      </p:sp>
      <p:sp>
        <p:nvSpPr>
          <p:cNvPr id="5" name="">
            <a:extLst xmlns:a="http://schemas.openxmlformats.org/drawingml/2006/main">
              <a:ext uri="{FF2B5EF4-FFF2-40B4-BE49-F238E27FC236}">
                <a16:creationId xmlns:a16="http://schemas.microsoft.com/office/drawing/2014/main" id="{F0D1210A-5C42-4D11-BE8C-824ED58D012D}"/>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4C6093"/>
                </a:solidFill>
                <a:latin typeface="Helvetica Neue"/>
                <a:ea typeface="Helvetica Neue"/>
                <a:cs typeface="Helvetica Neue"/>
              </a:defRPr>
            </a:pPr>
            <a:r>
              <a:rPr sz="1800" b="1">
                <a:solidFill>
                  <a:srgbClr val="4C6093"/>
                </a:solidFill>
                <a:latin typeface="Helvetica Neue"/>
                <a:ea typeface="Helvetica Neue"/>
                <a:cs typeface="Helvetica Neue"/>
              </a:rPr>
              <a:t>Which of the four Vs can a very large dataset still fail?</a:t>
            </a:r>
          </a:p>
        </p:txBody>
      </p:sp>
      <p:sp>
        <p:nvSpPr>
          <p:cNvPr id="6" name="">
            <a:extLst xmlns:a="http://schemas.openxmlformats.org/drawingml/2006/main">
              <a:ext uri="{FF2B5EF4-FFF2-40B4-BE49-F238E27FC236}">
                <a16:creationId xmlns:a16="http://schemas.microsoft.com/office/drawing/2014/main" id="{91A5B803-2DFC-445B-BE2C-C7ECB8DAD4CB}"/>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72–73  /  Original teaching explanation</a:t>
            </a:r>
          </a:p>
        </p:txBody>
      </p:sp>
      <p:sp>
        <p:nvSpPr>
          <p:cNvPr id="7" name="">
            <a:extLst xmlns:a="http://schemas.openxmlformats.org/drawingml/2006/main">
              <a:ext uri="{FF2B5EF4-FFF2-40B4-BE49-F238E27FC236}">
                <a16:creationId xmlns:a16="http://schemas.microsoft.com/office/drawing/2014/main" id="{A27158E0-0D2E-42B0-8E5A-D7536AC8F154}"/>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02 / 12</a:t>
            </a:r>
          </a:p>
        </p:txBody>
      </p:sp>
    </p:spTree>
    <p:extLst>
      <p:ext uri="{BB962C8B-B14F-4D97-AF65-F5344CB8AC3E}">
        <p14:creationId xmlns:p14="http://schemas.microsoft.com/office/powerpoint/2010/main" val="1695329126"/>
      </p:ext>
    </p:extLst>
  </p:cSld>
</p:sld>
</file>

<file path=ppt/slides/slide3.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5A710A0-CCE2-4AB4-9F1A-441FEE210DC0}"/>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4C6093"/>
                </a:solidFill>
                <a:latin typeface="Helvetica Neue"/>
                <a:ea typeface="Helvetica Neue"/>
                <a:cs typeface="Helvetica Neue"/>
              </a:defRPr>
            </a:pPr>
            <a:r>
              <a:rPr sz="1275" b="1">
                <a:solidFill>
                  <a:srgbClr val="4C6093"/>
                </a:solidFill>
                <a:latin typeface="Helvetica Neue"/>
                <a:ea typeface="Helvetica Neue"/>
                <a:cs typeface="Helvetica Neue"/>
              </a:rPr>
              <a:t>IB DIGITAL SOCIETY  /  3.1H and the start of 3.1I · pp. 72–74</a:t>
            </a:r>
          </a:p>
        </p:txBody>
      </p:sp>
      <p:sp>
        <p:nvSpPr>
          <p:cNvPr id="2" name="">
            <a:extLst xmlns:a="http://schemas.openxmlformats.org/drawingml/2006/main">
              <a:ext uri="{FF2B5EF4-FFF2-40B4-BE49-F238E27FC236}">
                <a16:creationId xmlns:a16="http://schemas.microsoft.com/office/drawing/2014/main" id="{12C771B4-2F24-4A72-B2FB-A58486F15F99}"/>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Volume and velocity</a:t>
            </a:r>
          </a:p>
        </p:txBody>
      </p:sp>
      <p:sp>
        <p:nvSpPr>
          <p:cNvPr id="3" name="">
            <a:extLst xmlns:a="http://schemas.openxmlformats.org/drawingml/2006/main">
              <a:ext uri="{FF2B5EF4-FFF2-40B4-BE49-F238E27FC236}">
                <a16:creationId xmlns:a16="http://schemas.microsoft.com/office/drawing/2014/main" id="{59B4538F-A937-4B05-BA58-F91DFE64BB6F}"/>
              </a:ext>
            </a:extLst>
          </p:cNvPr>
          <p:cNvSpPr>
            <a:spLocks xmlns:a="http://schemas.openxmlformats.org/drawingml/2006/main" noGrp="1"/>
          </p:cNvSpPr>
          <p:nvPr/>
        </p:nvSpPr>
        <p:spPr>
          <a:xfrm xmlns:a="http://schemas.openxmlformats.org/drawingml/2006/main">
            <a:off x="609600" y="1676400"/>
            <a:ext cx="447675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Volume describes the amount of data</a:t>
            </a:r>
          </a:p>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Velocity describes how quickly data arrives and is processed</a:t>
            </a:r>
          </a:p>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Fast incoming data can create processing and checking demands</a:t>
            </a:r>
          </a:p>
        </p:txBody>
      </p:sp>
      <p:graphicFrame>
        <p:nvGraphicFramePr>
          <p:cNvPr id="10" name=""/>
          <p:cNvGraphicFramePr/>
          <p:nvPr/>
        </p:nvGraphicFramePr>
        <p:xfrm>
          <a:off xmlns:a="http://schemas.openxmlformats.org/drawingml/2006/main" x="5429250" y="1752600"/>
          <a:ext xmlns:a="http://schemas.openxmlformats.org/drawingml/2006/main" cx="6153150" cy="2476500"/>
        </p:xfrm>
        <a:graphic xmlns:a="http://schemas.openxmlformats.org/drawingml/2006/main">
          <a:graphicData uri="http://schemas.openxmlformats.org/drawingml/2006/table">
            <a:tbl>
              <a:tblPr firstRow="1" bandRow="0"/>
              <a:tblGrid>
                <a:gridCol w="3076575"/>
                <a:gridCol w="3076575"/>
              </a:tblGrid>
              <a:tr h="619125">
                <a:tc>
                  <a:txBody>
                    <a:bodyPr/>
                    <a:lstStyle/>
                    <a:p>
                      <a:r>
                        <a:rPr sz="1800" b="1">
                          <a:solidFill>
                            <a:srgbClr val="FFFFFF"/>
                          </a:solidFill>
                          <a:latin typeface="Helvetica Neue"/>
                          <a:ea typeface="Helvetica Neue"/>
                          <a:cs typeface="Helvetica Neue"/>
                        </a:rPr>
                        <a:t>Situation</a:t>
                      </a:r>
                    </a:p>
                  </a:txBody>
                  <a:tcPr marL="91440" marR="91440" marT="45720" marB="45720">
                    <a:solidFill>
                      <a:srgbClr val="4C6093"/>
                    </a:solidFill>
                  </a:tcPr>
                </a:tc>
                <a:tc>
                  <a:txBody>
                    <a:bodyPr/>
                    <a:lstStyle/>
                    <a:p>
                      <a:r>
                        <a:rPr sz="1800" b="1">
                          <a:solidFill>
                            <a:srgbClr val="FFFFFF"/>
                          </a:solidFill>
                          <a:latin typeface="Helvetica Neue"/>
                          <a:ea typeface="Helvetica Neue"/>
                          <a:cs typeface="Helvetica Neue"/>
                        </a:rPr>
                        <a:t>Characteristic to examine</a:t>
                      </a:r>
                    </a:p>
                  </a:txBody>
                  <a:tcPr marL="91440" marR="91440" marT="45720" marB="45720">
                    <a:solidFill>
                      <a:srgbClr val="4C6093"/>
                    </a:solidFill>
                  </a:tcPr>
                </a:tc>
              </a:tr>
              <a:tr h="619125">
                <a:tc>
                  <a:txBody>
                    <a:bodyPr/>
                    <a:lstStyle/>
                    <a:p>
                      <a:r>
                        <a:rPr sz="1800" b="0">
                          <a:solidFill>
                            <a:srgbClr val="16333E"/>
                          </a:solidFill>
                          <a:latin typeface="Helvetica Neue"/>
                          <a:ea typeface="Helvetica Neue"/>
                          <a:cs typeface="Helvetica Neue"/>
                        </a:rPr>
                        <a:t>A ten-year archive</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Volume</a:t>
                      </a:r>
                    </a:p>
                  </a:txBody>
                  <a:tcPr marL="91440" marR="91440" marT="45720" marB="45720">
                    <a:solidFill>
                      <a:srgbClr val="FFFFFF"/>
                    </a:solidFill>
                  </a:tcPr>
                </a:tc>
              </a:tr>
              <a:tr h="619125">
                <a:tc>
                  <a:txBody>
                    <a:bodyPr/>
                    <a:lstStyle/>
                    <a:p>
                      <a:r>
                        <a:rPr sz="1800" b="0">
                          <a:solidFill>
                            <a:srgbClr val="16333E"/>
                          </a:solidFill>
                          <a:latin typeface="Helvetica Neue"/>
                          <a:ea typeface="Helvetica Neue"/>
                          <a:cs typeface="Helvetica Neue"/>
                        </a:rPr>
                        <a:t>Thousands of new events each second</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Velocity</a:t>
                      </a:r>
                    </a:p>
                  </a:txBody>
                  <a:tcPr marL="91440" marR="91440" marT="45720" marB="45720">
                    <a:solidFill>
                      <a:srgbClr val="FFFFFF"/>
                    </a:solidFill>
                  </a:tcPr>
                </a:tc>
              </a:tr>
              <a:tr h="619125">
                <a:tc>
                  <a:txBody>
                    <a:bodyPr/>
                    <a:lstStyle/>
                    <a:p>
                      <a:r>
                        <a:rPr sz="1800" b="0">
                          <a:solidFill>
                            <a:srgbClr val="16333E"/>
                          </a:solidFill>
                          <a:latin typeface="Helvetica Neue"/>
                          <a:ea typeface="Helvetica Neue"/>
                          <a:cs typeface="Helvetica Neue"/>
                        </a:rPr>
                        <a:t>A daily batch analysed overnight</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Arrival and processing delay</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D5DA1D0-B81F-4C8A-ABAC-F87AF8B27192}"/>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73  /  Original teaching explanation</a:t>
            </a:r>
          </a:p>
        </p:txBody>
      </p:sp>
      <p:sp>
        <p:nvSpPr>
          <p:cNvPr id="6" name="">
            <a:extLst xmlns:a="http://schemas.openxmlformats.org/drawingml/2006/main">
              <a:ext uri="{FF2B5EF4-FFF2-40B4-BE49-F238E27FC236}">
                <a16:creationId xmlns:a16="http://schemas.microsoft.com/office/drawing/2014/main" id="{726D7C13-1C01-49AB-9D22-AD7B8E76DC8B}"/>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03 / 12</a:t>
            </a:r>
          </a:p>
        </p:txBody>
      </p:sp>
    </p:spTree>
    <p:extLst>
      <p:ext uri="{BB962C8B-B14F-4D97-AF65-F5344CB8AC3E}">
        <p14:creationId xmlns:p14="http://schemas.microsoft.com/office/powerpoint/2010/main" val="195717765"/>
      </p:ext>
    </p:extLst>
  </p:cSld>
</p:sld>
</file>

<file path=ppt/slides/slide4.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847FB46-1C64-4524-8AEF-EB7417FEB297}"/>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4C6093"/>
                </a:solidFill>
                <a:latin typeface="Helvetica Neue"/>
                <a:ea typeface="Helvetica Neue"/>
                <a:cs typeface="Helvetica Neue"/>
              </a:defRPr>
            </a:pPr>
            <a:r>
              <a:rPr sz="1275" b="1">
                <a:solidFill>
                  <a:srgbClr val="4C6093"/>
                </a:solidFill>
                <a:latin typeface="Helvetica Neue"/>
                <a:ea typeface="Helvetica Neue"/>
                <a:cs typeface="Helvetica Neue"/>
              </a:rPr>
              <a:t>IB DIGITAL SOCIETY  /  3.1H and the start of 3.1I · pp. 72–74</a:t>
            </a:r>
          </a:p>
        </p:txBody>
      </p:sp>
      <p:sp>
        <p:nvSpPr>
          <p:cNvPr id="2" name="">
            <a:extLst xmlns:a="http://schemas.openxmlformats.org/drawingml/2006/main">
              <a:ext uri="{FF2B5EF4-FFF2-40B4-BE49-F238E27FC236}">
                <a16:creationId xmlns:a16="http://schemas.microsoft.com/office/drawing/2014/main" id="{7EEB7EC5-F088-4A4E-90B3-FFF69BAB71B0}"/>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Variety and veracity</a:t>
            </a:r>
          </a:p>
        </p:txBody>
      </p:sp>
      <p:sp>
        <p:nvSpPr>
          <p:cNvPr id="3" name="">
            <a:extLst xmlns:a="http://schemas.openxmlformats.org/drawingml/2006/main">
              <a:ext uri="{FF2B5EF4-FFF2-40B4-BE49-F238E27FC236}">
                <a16:creationId xmlns:a16="http://schemas.microsoft.com/office/drawing/2014/main" id="{0B601B42-0E08-47CA-B135-5A0222162CD3}"/>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4C6093"/>
                </a:solidFill>
                <a:latin typeface="Helvetica Neue"/>
                <a:ea typeface="Helvetica Neue"/>
                <a:cs typeface="Helvetica Neue"/>
              </a:defRPr>
            </a:pPr>
            <a:r>
              <a:rPr sz="2700" b="1">
                <a:solidFill>
                  <a:srgbClr val="4C6093"/>
                </a:solidFill>
                <a:latin typeface="Helvetica Neue"/>
                <a:ea typeface="Helvetica Neue"/>
                <a:cs typeface="Helvetica Neue"/>
              </a:rPr>
              <a:t>Variety concerns formats and types of data</a:t>
            </a:r>
          </a:p>
        </p:txBody>
      </p:sp>
      <p:sp>
        <p:nvSpPr>
          <p:cNvPr id="4" name="">
            <a:extLst xmlns:a="http://schemas.openxmlformats.org/drawingml/2006/main">
              <a:ext uri="{FF2B5EF4-FFF2-40B4-BE49-F238E27FC236}">
                <a16:creationId xmlns:a16="http://schemas.microsoft.com/office/drawing/2014/main" id="{DCDDAA2A-B0F1-4B1C-93BE-2DEFB65C3DD6}"/>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Veracity concerns accuracy, reliability and quality</a:t>
            </a:r>
          </a:p>
        </p:txBody>
      </p:sp>
      <p:sp>
        <p:nvSpPr>
          <p:cNvPr id="5" name="">
            <a:extLst xmlns:a="http://schemas.openxmlformats.org/drawingml/2006/main">
              <a:ext uri="{FF2B5EF4-FFF2-40B4-BE49-F238E27FC236}">
                <a16:creationId xmlns:a16="http://schemas.microsoft.com/office/drawing/2014/main" id="{A206A8A5-F090-41CE-B009-D796BAEF4CF5}"/>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A larger collection can contain more of the same error</a:t>
            </a:r>
          </a:p>
        </p:txBody>
      </p:sp>
      <p:sp>
        <p:nvSpPr>
          <p:cNvPr id="6" name="">
            <a:extLst xmlns:a="http://schemas.openxmlformats.org/drawingml/2006/main">
              <a:ext uri="{FF2B5EF4-FFF2-40B4-BE49-F238E27FC236}">
                <a16:creationId xmlns:a16="http://schemas.microsoft.com/office/drawing/2014/main" id="{52A13E09-5EB7-4C05-A09D-2E1EF38FD12D}"/>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4C6093"/>
                </a:solidFill>
                <a:latin typeface="Helvetica Neue"/>
                <a:ea typeface="Helvetica Neue"/>
                <a:cs typeface="Helvetica Neue"/>
              </a:defRPr>
            </a:pPr>
            <a:r>
              <a:rPr sz="1800" b="1">
                <a:solidFill>
                  <a:srgbClr val="4C6093"/>
                </a:solidFill>
                <a:latin typeface="Helvetica Neue"/>
                <a:ea typeface="Helvetica Neue"/>
                <a:cs typeface="Helvetica Neue"/>
              </a:rPr>
              <a:t>Checkpoint: A million records contain the same incorrect duration unit. Which V is directly affected?</a:t>
            </a:r>
          </a:p>
        </p:txBody>
      </p:sp>
      <p:sp>
        <p:nvSpPr>
          <p:cNvPr id="7" name="">
            <a:extLst xmlns:a="http://schemas.openxmlformats.org/drawingml/2006/main">
              <a:ext uri="{FF2B5EF4-FFF2-40B4-BE49-F238E27FC236}">
                <a16:creationId xmlns:a16="http://schemas.microsoft.com/office/drawing/2014/main" id="{6D3D2343-0395-4552-8896-E40597A97FF8}"/>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73  /  Original teaching explanation</a:t>
            </a:r>
          </a:p>
        </p:txBody>
      </p:sp>
      <p:sp>
        <p:nvSpPr>
          <p:cNvPr id="8" name="">
            <a:extLst xmlns:a="http://schemas.openxmlformats.org/drawingml/2006/main">
              <a:ext uri="{FF2B5EF4-FFF2-40B4-BE49-F238E27FC236}">
                <a16:creationId xmlns:a16="http://schemas.microsoft.com/office/drawing/2014/main" id="{08045BD9-A2E2-4A63-9F6D-99B0E4EEEDAD}"/>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04 / 12</a:t>
            </a:r>
          </a:p>
        </p:txBody>
      </p:sp>
    </p:spTree>
    <p:extLst>
      <p:ext uri="{BB962C8B-B14F-4D97-AF65-F5344CB8AC3E}">
        <p14:creationId xmlns:p14="http://schemas.microsoft.com/office/powerpoint/2010/main" val="704996488"/>
      </p:ext>
    </p:extLst>
  </p:cSld>
</p:sld>
</file>

<file path=ppt/slides/slide5.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DD69FD3-CFD2-432A-AF6A-3D344E5B83A7}"/>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4C6093"/>
                </a:solidFill>
                <a:latin typeface="Helvetica Neue"/>
                <a:ea typeface="Helvetica Neue"/>
                <a:cs typeface="Helvetica Neue"/>
              </a:defRPr>
            </a:pPr>
            <a:r>
              <a:rPr sz="1275" b="1">
                <a:solidFill>
                  <a:srgbClr val="4C6093"/>
                </a:solidFill>
                <a:latin typeface="Helvetica Neue"/>
                <a:ea typeface="Helvetica Neue"/>
                <a:cs typeface="Helvetica Neue"/>
              </a:rPr>
              <a:t>IB DIGITAL SOCIETY  /  3.1H and the start of 3.1I · pp. 72–74</a:t>
            </a:r>
          </a:p>
        </p:txBody>
      </p:sp>
      <p:sp>
        <p:nvSpPr>
          <p:cNvPr id="2" name="">
            <a:extLst xmlns:a="http://schemas.openxmlformats.org/drawingml/2006/main">
              <a:ext uri="{FF2B5EF4-FFF2-40B4-BE49-F238E27FC236}">
                <a16:creationId xmlns:a16="http://schemas.microsoft.com/office/drawing/2014/main" id="{E4F3ECC6-6E0C-4124-B51B-ACAD801BD968}"/>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Small and clean, or large and messy?</a:t>
            </a:r>
          </a:p>
        </p:txBody>
      </p:sp>
      <p:sp>
        <p:nvSpPr>
          <p:cNvPr id="3" name="">
            <a:extLst xmlns:a="http://schemas.openxmlformats.org/drawingml/2006/main">
              <a:ext uri="{FF2B5EF4-FFF2-40B4-BE49-F238E27FC236}">
                <a16:creationId xmlns:a16="http://schemas.microsoft.com/office/drawing/2014/main" id="{0969E034-C6F0-4362-A639-1D93C8BDC3A1}"/>
              </a:ext>
            </a:extLst>
          </p:cNvPr>
          <p:cNvSpPr>
            <a:spLocks xmlns:a="http://schemas.openxmlformats.org/drawingml/2006/main" noGrp="1"/>
          </p:cNvSpPr>
          <p:nvPr/>
        </p:nvSpPr>
        <p:spPr>
          <a:xfrm xmlns:a="http://schemas.openxmlformats.org/drawingml/2006/main">
            <a:off x="609600" y="1676400"/>
            <a:ext cx="447675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Dataset A: 40 verified records from one class</a:t>
            </a:r>
          </a:p>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Dataset B: 40,000 records with duplicates and missing fields</a:t>
            </a:r>
          </a:p>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Neither size alone nor cleanliness alone answers the question</a:t>
            </a:r>
          </a:p>
        </p:txBody>
      </p:sp>
      <p:graphicFrame>
        <p:nvGraphicFramePr>
          <p:cNvPr id="11" name=""/>
          <p:cNvGraphicFramePr/>
          <p:nvPr/>
        </p:nvGraphicFramePr>
        <p:xfrm>
          <a:off xmlns:a="http://schemas.openxmlformats.org/drawingml/2006/main" x="5429250" y="1752600"/>
          <a:ext xmlns:a="http://schemas.openxmlformats.org/drawingml/2006/main" cx="6153150" cy="2476500"/>
        </p:xfrm>
        <a:graphic xmlns:a="http://schemas.openxmlformats.org/drawingml/2006/main">
          <a:graphicData uri="http://schemas.openxmlformats.org/drawingml/2006/table">
            <a:tbl>
              <a:tblPr firstRow="1" bandRow="0"/>
              <a:tblGrid>
                <a:gridCol w="2051050"/>
                <a:gridCol w="2051050"/>
                <a:gridCol w="2051050"/>
              </a:tblGrid>
              <a:tr h="619125">
                <a:tc>
                  <a:txBody>
                    <a:bodyPr/>
                    <a:lstStyle/>
                    <a:p>
                      <a:r>
                        <a:rPr sz="1800" b="1">
                          <a:solidFill>
                            <a:srgbClr val="FFFFFF"/>
                          </a:solidFill>
                          <a:latin typeface="Helvetica Neue"/>
                          <a:ea typeface="Helvetica Neue"/>
                          <a:cs typeface="Helvetica Neue"/>
                        </a:rPr>
                        <a:t>Question</a:t>
                      </a:r>
                    </a:p>
                  </a:txBody>
                  <a:tcPr marL="91440" marR="91440" marT="45720" marB="45720">
                    <a:solidFill>
                      <a:srgbClr val="4C6093"/>
                    </a:solidFill>
                  </a:tcPr>
                </a:tc>
                <a:tc>
                  <a:txBody>
                    <a:bodyPr/>
                    <a:lstStyle/>
                    <a:p>
                      <a:r>
                        <a:rPr sz="1800" b="1">
                          <a:solidFill>
                            <a:srgbClr val="FFFFFF"/>
                          </a:solidFill>
                          <a:latin typeface="Helvetica Neue"/>
                          <a:ea typeface="Helvetica Neue"/>
                          <a:cs typeface="Helvetica Neue"/>
                        </a:rPr>
                        <a:t>A</a:t>
                      </a:r>
                    </a:p>
                  </a:txBody>
                  <a:tcPr marL="91440" marR="91440" marT="45720" marB="45720">
                    <a:solidFill>
                      <a:srgbClr val="4C6093"/>
                    </a:solidFill>
                  </a:tcPr>
                </a:tc>
                <a:tc>
                  <a:txBody>
                    <a:bodyPr/>
                    <a:lstStyle/>
                    <a:p>
                      <a:r>
                        <a:rPr sz="1800" b="1">
                          <a:solidFill>
                            <a:srgbClr val="FFFFFF"/>
                          </a:solidFill>
                          <a:latin typeface="Helvetica Neue"/>
                          <a:ea typeface="Helvetica Neue"/>
                          <a:cs typeface="Helvetica Neue"/>
                        </a:rPr>
                        <a:t>B</a:t>
                      </a:r>
                    </a:p>
                  </a:txBody>
                  <a:tcPr marL="91440" marR="91440" marT="45720" marB="45720">
                    <a:solidFill>
                      <a:srgbClr val="4C6093"/>
                    </a:solidFill>
                  </a:tcPr>
                </a:tc>
              </a:tr>
              <a:tr h="619125">
                <a:tc>
                  <a:txBody>
                    <a:bodyPr/>
                    <a:lstStyle/>
                    <a:p>
                      <a:r>
                        <a:rPr sz="1800" b="0">
                          <a:solidFill>
                            <a:srgbClr val="16333E"/>
                          </a:solidFill>
                          <a:latin typeface="Helvetica Neue"/>
                          <a:ea typeface="Helvetica Neue"/>
                          <a:cs typeface="Helvetica Neue"/>
                        </a:rPr>
                        <a:t>Known quality</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Verified values</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Needs checks</a:t>
                      </a:r>
                    </a:p>
                  </a:txBody>
                  <a:tcPr marL="91440" marR="91440" marT="45720" marB="45720">
                    <a:solidFill>
                      <a:srgbClr val="FFFFFF"/>
                    </a:solidFill>
                  </a:tcPr>
                </a:tc>
              </a:tr>
              <a:tr h="619125">
                <a:tc>
                  <a:txBody>
                    <a:bodyPr/>
                    <a:lstStyle/>
                    <a:p>
                      <a:r>
                        <a:rPr sz="1800" b="0">
                          <a:solidFill>
                            <a:srgbClr val="16333E"/>
                          </a:solidFill>
                          <a:latin typeface="Helvetica Neue"/>
                          <a:ea typeface="Helvetica Neue"/>
                          <a:cs typeface="Helvetica Neue"/>
                        </a:rPr>
                        <a:t>Coverage</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One class</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Unknown representation</a:t>
                      </a:r>
                    </a:p>
                  </a:txBody>
                  <a:tcPr marL="91440" marR="91440" marT="45720" marB="45720">
                    <a:solidFill>
                      <a:srgbClr val="FFFFFF"/>
                    </a:solidFill>
                  </a:tcPr>
                </a:tc>
              </a:tr>
              <a:tr h="619125">
                <a:tc>
                  <a:txBody>
                    <a:bodyPr/>
                    <a:lstStyle/>
                    <a:p>
                      <a:r>
                        <a:rPr sz="1800" b="0">
                          <a:solidFill>
                            <a:srgbClr val="16333E"/>
                          </a:solidFill>
                          <a:latin typeface="Helvetica Neue"/>
                          <a:ea typeface="Helvetica Neue"/>
                          <a:cs typeface="Helvetica Neue"/>
                        </a:rPr>
                        <a:t>Uncertainty</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Generalization</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Errors and selection</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9C021F4-6AC3-47EF-BE4B-2AEBA93900C4}"/>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4C6093"/>
                </a:solidFill>
                <a:latin typeface="Helvetica Neue"/>
                <a:ea typeface="Helvetica Neue"/>
                <a:cs typeface="Helvetica Neue"/>
              </a:defRPr>
            </a:pPr>
            <a:r>
              <a:rPr sz="1800" b="1">
                <a:solidFill>
                  <a:srgbClr val="4C6093"/>
                </a:solidFill>
                <a:latin typeface="Helvetica Neue"/>
                <a:ea typeface="Helvetica Neue"/>
                <a:cs typeface="Helvetica Neue"/>
              </a:rPr>
              <a:t>Which would you use to describe your class? What would you need to describe the whole school?</a:t>
            </a:r>
          </a:p>
        </p:txBody>
      </p:sp>
      <p:sp>
        <p:nvSpPr>
          <p:cNvPr id="6" name="">
            <a:extLst xmlns:a="http://schemas.openxmlformats.org/drawingml/2006/main">
              <a:ext uri="{FF2B5EF4-FFF2-40B4-BE49-F238E27FC236}">
                <a16:creationId xmlns:a16="http://schemas.microsoft.com/office/drawing/2014/main" id="{BFEB9F1D-72A7-452A-8648-D0BE1ADF4586}"/>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73–74  /  Original teaching explanation</a:t>
            </a:r>
          </a:p>
        </p:txBody>
      </p:sp>
      <p:sp>
        <p:nvSpPr>
          <p:cNvPr id="7" name="">
            <a:extLst xmlns:a="http://schemas.openxmlformats.org/drawingml/2006/main">
              <a:ext uri="{FF2B5EF4-FFF2-40B4-BE49-F238E27FC236}">
                <a16:creationId xmlns:a16="http://schemas.microsoft.com/office/drawing/2014/main" id="{7F15D559-6CBE-480E-B700-3CF2A1F9BD12}"/>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05 / 12</a:t>
            </a:r>
          </a:p>
        </p:txBody>
      </p:sp>
    </p:spTree>
    <p:extLst>
      <p:ext uri="{BB962C8B-B14F-4D97-AF65-F5344CB8AC3E}">
        <p14:creationId xmlns:p14="http://schemas.microsoft.com/office/powerpoint/2010/main" val="111225422"/>
      </p:ext>
    </p:extLst>
  </p:cSld>
</p:sld>
</file>

<file path=ppt/slides/slide6.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544B898-C2F6-4BE5-AB9A-E46B8EE54785}"/>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4C6093"/>
                </a:solidFill>
                <a:latin typeface="Helvetica Neue"/>
                <a:ea typeface="Helvetica Neue"/>
                <a:cs typeface="Helvetica Neue"/>
              </a:defRPr>
            </a:pPr>
            <a:r>
              <a:rPr sz="1275" b="1">
                <a:solidFill>
                  <a:srgbClr val="4C6093"/>
                </a:solidFill>
                <a:latin typeface="Helvetica Neue"/>
                <a:ea typeface="Helvetica Neue"/>
                <a:cs typeface="Helvetica Neue"/>
              </a:rPr>
              <a:t>IB DIGITAL SOCIETY  /  3.1H and the start of 3.1I · pp. 72–74</a:t>
            </a:r>
          </a:p>
        </p:txBody>
      </p:sp>
      <p:sp>
        <p:nvSpPr>
          <p:cNvPr id="2" name="">
            <a:extLst xmlns:a="http://schemas.openxmlformats.org/drawingml/2006/main">
              <a:ext uri="{FF2B5EF4-FFF2-40B4-BE49-F238E27FC236}">
                <a16:creationId xmlns:a16="http://schemas.microsoft.com/office/drawing/2014/main" id="{CE09B396-37A1-4C22-B704-48B37E18744A}"/>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A missing value is an unresolved question</a:t>
            </a:r>
          </a:p>
        </p:txBody>
      </p:sp>
      <p:sp>
        <p:nvSpPr>
          <p:cNvPr id="3" name="">
            <a:extLst xmlns:a="http://schemas.openxmlformats.org/drawingml/2006/main">
              <a:ext uri="{FF2B5EF4-FFF2-40B4-BE49-F238E27FC236}">
                <a16:creationId xmlns:a16="http://schemas.microsoft.com/office/drawing/2014/main" id="{4F812E5D-027C-4524-AACD-B12D37CD8D6E}"/>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4C6093"/>
                </a:solidFill>
                <a:latin typeface="Helvetica Neue"/>
                <a:ea typeface="Helvetica Neue"/>
                <a:cs typeface="Helvetica Neue"/>
              </a:defRPr>
            </a:pPr>
            <a:r>
              <a:rPr sz="2700" b="1">
                <a:solidFill>
                  <a:srgbClr val="4C6093"/>
                </a:solidFill>
                <a:latin typeface="Helvetica Neue"/>
                <a:ea typeface="Helvetica Neue"/>
                <a:cs typeface="Helvetica Neue"/>
              </a:rPr>
              <a:t>Blank duration does not mean zero duration</a:t>
            </a:r>
          </a:p>
        </p:txBody>
      </p:sp>
      <p:sp>
        <p:nvSpPr>
          <p:cNvPr id="4" name="">
            <a:extLst xmlns:a="http://schemas.openxmlformats.org/drawingml/2006/main">
              <a:ext uri="{FF2B5EF4-FFF2-40B4-BE49-F238E27FC236}">
                <a16:creationId xmlns:a16="http://schemas.microsoft.com/office/drawing/2014/main" id="{BBFDA949-5F8B-464F-A813-3629C3FD9951}"/>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Dropping a record changes who remains in the dataset</a:t>
            </a:r>
          </a:p>
        </p:txBody>
      </p:sp>
      <p:sp>
        <p:nvSpPr>
          <p:cNvPr id="5" name="">
            <a:extLst xmlns:a="http://schemas.openxmlformats.org/drawingml/2006/main">
              <a:ext uri="{FF2B5EF4-FFF2-40B4-BE49-F238E27FC236}">
                <a16:creationId xmlns:a16="http://schemas.microsoft.com/office/drawing/2014/main" id="{650C8E97-BC58-494B-89E9-B91464BA3B4C}"/>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Imputing a value introduces an assumption</a:t>
            </a:r>
          </a:p>
        </p:txBody>
      </p:sp>
      <p:sp>
        <p:nvSpPr>
          <p:cNvPr id="6" name="">
            <a:extLst xmlns:a="http://schemas.openxmlformats.org/drawingml/2006/main">
              <a:ext uri="{FF2B5EF4-FFF2-40B4-BE49-F238E27FC236}">
                <a16:creationId xmlns:a16="http://schemas.microsoft.com/office/drawing/2014/main" id="{48D6B38C-D046-41D2-9D03-8D30681E9B0D}"/>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4C6093"/>
                </a:solidFill>
                <a:latin typeface="Helvetica Neue"/>
                <a:ea typeface="Helvetica Neue"/>
                <a:cs typeface="Helvetica Neue"/>
              </a:defRPr>
            </a:pPr>
            <a:r>
              <a:rPr sz="1800" b="1">
                <a:solidFill>
                  <a:srgbClr val="4C6093"/>
                </a:solidFill>
                <a:latin typeface="Helvetica Neue"/>
                <a:ea typeface="Helvetica Neue"/>
                <a:cs typeface="Helvetica Neue"/>
              </a:rPr>
              <a:t>Compare exclusion with estimation for a new creator. State one uncertainty for each.</a:t>
            </a:r>
          </a:p>
        </p:txBody>
      </p:sp>
      <p:sp>
        <p:nvSpPr>
          <p:cNvPr id="7" name="">
            <a:extLst xmlns:a="http://schemas.openxmlformats.org/drawingml/2006/main">
              <a:ext uri="{FF2B5EF4-FFF2-40B4-BE49-F238E27FC236}">
                <a16:creationId xmlns:a16="http://schemas.microsoft.com/office/drawing/2014/main" id="{C26EA01E-EF1F-4C7F-97B1-699661FDE4B6}"/>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73–74  /  Original teaching explanation</a:t>
            </a:r>
          </a:p>
        </p:txBody>
      </p:sp>
      <p:sp>
        <p:nvSpPr>
          <p:cNvPr id="8" name="">
            <a:extLst xmlns:a="http://schemas.openxmlformats.org/drawingml/2006/main">
              <a:ext uri="{FF2B5EF4-FFF2-40B4-BE49-F238E27FC236}">
                <a16:creationId xmlns:a16="http://schemas.microsoft.com/office/drawing/2014/main" id="{A6D27AE4-17D4-4617-8484-006BC305AD81}"/>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06 / 12</a:t>
            </a:r>
          </a:p>
        </p:txBody>
      </p:sp>
    </p:spTree>
    <p:extLst>
      <p:ext uri="{BB962C8B-B14F-4D97-AF65-F5344CB8AC3E}">
        <p14:creationId xmlns:p14="http://schemas.microsoft.com/office/powerpoint/2010/main" val="199843406"/>
      </p:ext>
    </p:extLst>
  </p:cSld>
</p:sld>
</file>

<file path=ppt/slides/slide7.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92E0231-2F43-42B0-8831-459794A742A4}"/>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4C6093"/>
                </a:solidFill>
                <a:latin typeface="Helvetica Neue"/>
                <a:ea typeface="Helvetica Neue"/>
                <a:cs typeface="Helvetica Neue"/>
              </a:defRPr>
            </a:pPr>
            <a:r>
              <a:rPr sz="1275" b="1">
                <a:solidFill>
                  <a:srgbClr val="4C6093"/>
                </a:solidFill>
                <a:latin typeface="Helvetica Neue"/>
                <a:ea typeface="Helvetica Neue"/>
                <a:cs typeface="Helvetica Neue"/>
              </a:rPr>
              <a:t>IB DIGITAL SOCIETY  /  3.1H and the start of 3.1I · pp. 72–74</a:t>
            </a:r>
          </a:p>
        </p:txBody>
      </p:sp>
      <p:sp>
        <p:nvSpPr>
          <p:cNvPr id="2" name="">
            <a:extLst xmlns:a="http://schemas.openxmlformats.org/drawingml/2006/main">
              <a:ext uri="{FF2B5EF4-FFF2-40B4-BE49-F238E27FC236}">
                <a16:creationId xmlns:a16="http://schemas.microsoft.com/office/drawing/2014/main" id="{B1EB2A0F-BA3B-478A-B34A-A40A370B04EB}"/>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An association does not establish a cause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e9ee88872864f1f"/>
          <a:stretch xmlns:a="http://schemas.openxmlformats.org/drawingml/2006/main"/>
        </p:blipFill>
        <p:spPr>
          <a:xfrm xmlns:a="http://schemas.openxmlformats.org/drawingml/2006/main">
            <a:off x="2485476" y="1657350"/>
            <a:ext cx="7221047" cy="3448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93F4057-0EB3-4FF1-9C86-BD6271D6173E}"/>
              </a:ext>
            </a:extLst>
          </p:cNvPr>
          <p:cNvSpPr>
            <a:spLocks xmlns:a="http://schemas.openxmlformats.org/drawingml/2006/main" noGrp="1"/>
          </p:cNvSpPr>
          <p:nvPr/>
        </p:nvSpPr>
        <p:spPr>
          <a:xfrm xmlns:a="http://schemas.openxmlformats.org/drawingml/2006/main">
            <a:off x="609600" y="52292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4C6093"/>
                </a:solidFill>
                <a:latin typeface="Helvetica Neue"/>
                <a:ea typeface="Helvetica Neue"/>
                <a:cs typeface="Helvetica Neue"/>
              </a:defRPr>
            </a:pPr>
            <a:r>
              <a:rPr sz="2025" b="1">
                <a:solidFill>
                  <a:srgbClr val="4C6093"/>
                </a:solidFill>
                <a:latin typeface="Helvetica Neue"/>
                <a:ea typeface="Helvetica Neue"/>
                <a:cs typeface="Helvetica Neue"/>
              </a:rPr>
              <a:t>A pattern may be useful for prediction</a:t>
            </a:r>
          </a:p>
        </p:txBody>
      </p:sp>
      <p:sp>
        <p:nvSpPr>
          <p:cNvPr id="5" name="">
            <a:extLst xmlns:a="http://schemas.openxmlformats.org/drawingml/2006/main">
              <a:ext uri="{FF2B5EF4-FFF2-40B4-BE49-F238E27FC236}">
                <a16:creationId xmlns:a16="http://schemas.microsoft.com/office/drawing/2014/main" id="{52C9289A-7889-4A41-A1B3-305231A41757}"/>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4C6093"/>
                </a:solidFill>
                <a:latin typeface="Helvetica Neue"/>
                <a:ea typeface="Helvetica Neue"/>
                <a:cs typeface="Helvetica Neue"/>
              </a:defRPr>
            </a:pPr>
            <a:r>
              <a:rPr sz="1800" b="1">
                <a:solidFill>
                  <a:srgbClr val="4C6093"/>
                </a:solidFill>
                <a:latin typeface="Helvetica Neue"/>
                <a:ea typeface="Helvetica Neue"/>
                <a:cs typeface="Helvetica Neue"/>
              </a:rPr>
              <a:t>Why might comparing reactions per exposure help? What uncertainty would remain?</a:t>
            </a:r>
          </a:p>
        </p:txBody>
      </p:sp>
      <p:sp>
        <p:nvSpPr>
          <p:cNvPr id="6" name="">
            <a:extLst xmlns:a="http://schemas.openxmlformats.org/drawingml/2006/main">
              <a:ext uri="{FF2B5EF4-FFF2-40B4-BE49-F238E27FC236}">
                <a16:creationId xmlns:a16="http://schemas.microsoft.com/office/drawing/2014/main" id="{CB440AC3-1388-4191-A00E-0B6BF479386D}"/>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73  /  Original teaching explanation</a:t>
            </a:r>
          </a:p>
        </p:txBody>
      </p:sp>
      <p:sp>
        <p:nvSpPr>
          <p:cNvPr id="7" name="">
            <a:extLst xmlns:a="http://schemas.openxmlformats.org/drawingml/2006/main">
              <a:ext uri="{FF2B5EF4-FFF2-40B4-BE49-F238E27FC236}">
                <a16:creationId xmlns:a16="http://schemas.microsoft.com/office/drawing/2014/main" id="{1A613D22-AD4B-48BE-ADC7-D20B5C5F03A5}"/>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07 / 12</a:t>
            </a:r>
          </a:p>
        </p:txBody>
      </p:sp>
    </p:spTree>
    <p:extLst>
      <p:ext uri="{BB962C8B-B14F-4D97-AF65-F5344CB8AC3E}">
        <p14:creationId xmlns:p14="http://schemas.microsoft.com/office/powerpoint/2010/main" val="1361314488"/>
      </p:ext>
    </p:extLst>
  </p:cSld>
</p:sld>
</file>

<file path=ppt/slides/slide8.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696E9D8-2634-476F-855A-28F4CE0F2642}"/>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4C6093"/>
                </a:solidFill>
                <a:latin typeface="Helvetica Neue"/>
                <a:ea typeface="Helvetica Neue"/>
                <a:cs typeface="Helvetica Neue"/>
              </a:defRPr>
            </a:pPr>
            <a:r>
              <a:rPr sz="1275" b="1">
                <a:solidFill>
                  <a:srgbClr val="4C6093"/>
                </a:solidFill>
                <a:latin typeface="Helvetica Neue"/>
                <a:ea typeface="Helvetica Neue"/>
                <a:cs typeface="Helvetica Neue"/>
              </a:rPr>
              <a:t>IB DIGITAL SOCIETY  /  3.1H and the start of 3.1I · pp. 72–74</a:t>
            </a:r>
          </a:p>
        </p:txBody>
      </p:sp>
      <p:sp>
        <p:nvSpPr>
          <p:cNvPr id="2" name="">
            <a:extLst xmlns:a="http://schemas.openxmlformats.org/drawingml/2006/main">
              <a:ext uri="{FF2B5EF4-FFF2-40B4-BE49-F238E27FC236}">
                <a16:creationId xmlns:a16="http://schemas.microsoft.com/office/drawing/2014/main" id="{328E5EF0-AE8B-43E8-AEBD-BDAB8BC4D806}"/>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The data lifecycle creates decisions at every stage</a:t>
            </a:r>
          </a:p>
        </p:txBody>
      </p:sp>
      <p:sp>
        <p:nvSpPr>
          <p:cNvPr id="3" name="">
            <a:extLst xmlns:a="http://schemas.openxmlformats.org/drawingml/2006/main">
              <a:ext uri="{FF2B5EF4-FFF2-40B4-BE49-F238E27FC236}">
                <a16:creationId xmlns:a16="http://schemas.microsoft.com/office/drawing/2014/main" id="{F5CA503A-85AC-4BFF-9F96-68AA699F2FC2}"/>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4C6093"/>
                </a:solidFill>
                <a:latin typeface="Helvetica Neue"/>
                <a:ea typeface="Helvetica Neue"/>
                <a:cs typeface="Helvetica Neue"/>
              </a:defRPr>
            </a:pPr>
            <a:r>
              <a:rPr sz="2700" b="1">
                <a:solidFill>
                  <a:srgbClr val="4C6093"/>
                </a:solidFill>
                <a:latin typeface="Helvetica Neue"/>
                <a:ea typeface="Helvetica Neue"/>
                <a:cs typeface="Helvetica Neue"/>
              </a:rPr>
              <a:t>Create or collect data</a:t>
            </a:r>
          </a:p>
        </p:txBody>
      </p:sp>
      <p:sp>
        <p:nvSpPr>
          <p:cNvPr id="4" name="">
            <a:extLst xmlns:a="http://schemas.openxmlformats.org/drawingml/2006/main">
              <a:ext uri="{FF2B5EF4-FFF2-40B4-BE49-F238E27FC236}">
                <a16:creationId xmlns:a16="http://schemas.microsoft.com/office/drawing/2014/main" id="{412B8658-10FD-45EC-9E95-3268088C7414}"/>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Store and use it</a:t>
            </a:r>
          </a:p>
        </p:txBody>
      </p:sp>
      <p:sp>
        <p:nvSpPr>
          <p:cNvPr id="5" name="">
            <a:extLst xmlns:a="http://schemas.openxmlformats.org/drawingml/2006/main">
              <a:ext uri="{FF2B5EF4-FFF2-40B4-BE49-F238E27FC236}">
                <a16:creationId xmlns:a16="http://schemas.microsoft.com/office/drawing/2014/main" id="{D5080BB2-5845-47B3-BE99-52A9343DFE23}"/>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Preserve or destroy it when appropriate</a:t>
            </a:r>
          </a:p>
        </p:txBody>
      </p:sp>
      <p:sp>
        <p:nvSpPr>
          <p:cNvPr id="6" name="">
            <a:extLst xmlns:a="http://schemas.openxmlformats.org/drawingml/2006/main">
              <a:ext uri="{FF2B5EF4-FFF2-40B4-BE49-F238E27FC236}">
                <a16:creationId xmlns:a16="http://schemas.microsoft.com/office/drawing/2014/main" id="{57655DE2-90D1-4C60-A640-399B024828A1}"/>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4C6093"/>
                </a:solidFill>
                <a:latin typeface="Helvetica Neue"/>
                <a:ea typeface="Helvetica Neue"/>
                <a:cs typeface="Helvetica Neue"/>
              </a:defRPr>
            </a:pPr>
            <a:r>
              <a:rPr sz="1800" b="1">
                <a:solidFill>
                  <a:srgbClr val="4C6093"/>
                </a:solidFill>
                <a:latin typeface="Helvetica Neue"/>
                <a:ea typeface="Helvetica Neue"/>
                <a:cs typeface="Helvetica Neue"/>
              </a:rPr>
              <a:t>Checkpoint: Why does a lifecycle model matter?</a:t>
            </a:r>
          </a:p>
        </p:txBody>
      </p:sp>
      <p:sp>
        <p:nvSpPr>
          <p:cNvPr id="7" name="">
            <a:extLst xmlns:a="http://schemas.openxmlformats.org/drawingml/2006/main">
              <a:ext uri="{FF2B5EF4-FFF2-40B4-BE49-F238E27FC236}">
                <a16:creationId xmlns:a16="http://schemas.microsoft.com/office/drawing/2014/main" id="{6554FDFD-629B-418F-B1BD-A793A590F668}"/>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72, 74  /  Original teaching explanation</a:t>
            </a:r>
          </a:p>
        </p:txBody>
      </p:sp>
      <p:sp>
        <p:nvSpPr>
          <p:cNvPr id="8" name="">
            <a:extLst xmlns:a="http://schemas.openxmlformats.org/drawingml/2006/main">
              <a:ext uri="{FF2B5EF4-FFF2-40B4-BE49-F238E27FC236}">
                <a16:creationId xmlns:a16="http://schemas.microsoft.com/office/drawing/2014/main" id="{24A0966D-89E6-48C0-8E99-C3B4FC9A0C15}"/>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08 / 12</a:t>
            </a:r>
          </a:p>
        </p:txBody>
      </p:sp>
    </p:spTree>
    <p:extLst>
      <p:ext uri="{BB962C8B-B14F-4D97-AF65-F5344CB8AC3E}">
        <p14:creationId xmlns:p14="http://schemas.microsoft.com/office/powerpoint/2010/main" val="1192289851"/>
      </p:ext>
    </p:extLst>
  </p:cSld>
</p:sld>
</file>

<file path=ppt/slides/slide9.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015BD3B-3BC9-49E5-8584-F7E8283D3BB0}"/>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4C6093"/>
                </a:solidFill>
                <a:latin typeface="Helvetica Neue"/>
                <a:ea typeface="Helvetica Neue"/>
                <a:cs typeface="Helvetica Neue"/>
              </a:defRPr>
            </a:pPr>
            <a:r>
              <a:rPr sz="1275" b="1">
                <a:solidFill>
                  <a:srgbClr val="4C6093"/>
                </a:solidFill>
                <a:latin typeface="Helvetica Neue"/>
                <a:ea typeface="Helvetica Neue"/>
                <a:cs typeface="Helvetica Neue"/>
              </a:rPr>
              <a:t>IB DIGITAL SOCIETY  /  3.1H and the start of 3.1I · pp. 72–74</a:t>
            </a:r>
          </a:p>
        </p:txBody>
      </p:sp>
      <p:sp>
        <p:nvSpPr>
          <p:cNvPr id="2" name="">
            <a:extLst xmlns:a="http://schemas.openxmlformats.org/drawingml/2006/main">
              <a:ext uri="{FF2B5EF4-FFF2-40B4-BE49-F238E27FC236}">
                <a16:creationId xmlns:a16="http://schemas.microsoft.com/office/drawing/2014/main" id="{B11364C4-D7E5-46B2-BBAC-1A09C7EE2A7D}"/>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Collection can shape the eventual result</a:t>
            </a:r>
          </a:p>
        </p:txBody>
      </p:sp>
      <p:sp>
        <p:nvSpPr>
          <p:cNvPr id="3" name="">
            <a:extLst xmlns:a="http://schemas.openxmlformats.org/drawingml/2006/main">
              <a:ext uri="{FF2B5EF4-FFF2-40B4-BE49-F238E27FC236}">
                <a16:creationId xmlns:a16="http://schemas.microsoft.com/office/drawing/2014/main" id="{F644F184-19A0-41DC-B7BA-EDF1EB6FDA90}"/>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4C6093"/>
                </a:solidFill>
                <a:latin typeface="Helvetica Neue"/>
                <a:ea typeface="Helvetica Neue"/>
                <a:cs typeface="Helvetica Neue"/>
              </a:defRPr>
            </a:pPr>
            <a:r>
              <a:rPr sz="2700" b="1">
                <a:solidFill>
                  <a:srgbClr val="4C6093"/>
                </a:solidFill>
                <a:latin typeface="Helvetica Neue"/>
                <a:ea typeface="Helvetica Neue"/>
                <a:cs typeface="Helvetica Neue"/>
              </a:rPr>
              <a:t>Collect data that fits a defined purpose</a:t>
            </a:r>
          </a:p>
        </p:txBody>
      </p:sp>
      <p:sp>
        <p:nvSpPr>
          <p:cNvPr id="4" name="">
            <a:extLst xmlns:a="http://schemas.openxmlformats.org/drawingml/2006/main">
              <a:ext uri="{FF2B5EF4-FFF2-40B4-BE49-F238E27FC236}">
                <a16:creationId xmlns:a16="http://schemas.microsoft.com/office/drawing/2014/main" id="{5A731BF1-2677-4DDD-AC00-E00729E6AEDC}"/>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Examine whose records are absent or overrepresented</a:t>
            </a:r>
          </a:p>
        </p:txBody>
      </p:sp>
      <p:sp>
        <p:nvSpPr>
          <p:cNvPr id="5" name="">
            <a:extLst xmlns:a="http://schemas.openxmlformats.org/drawingml/2006/main">
              <a:ext uri="{FF2B5EF4-FFF2-40B4-BE49-F238E27FC236}">
                <a16:creationId xmlns:a16="http://schemas.microsoft.com/office/drawing/2014/main" id="{8CB45F7B-6D62-4785-B28A-51DB9EAAA317}"/>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Consider permission and unnecessary collection</a:t>
            </a:r>
          </a:p>
        </p:txBody>
      </p:sp>
      <p:sp>
        <p:nvSpPr>
          <p:cNvPr id="6" name="">
            <a:extLst xmlns:a="http://schemas.openxmlformats.org/drawingml/2006/main">
              <a:ext uri="{FF2B5EF4-FFF2-40B4-BE49-F238E27FC236}">
                <a16:creationId xmlns:a16="http://schemas.microsoft.com/office/drawing/2014/main" id="{956D9FC1-C9F4-4E80-A48F-8A17DC659506}"/>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4C6093"/>
                </a:solidFill>
                <a:latin typeface="Helvetica Neue"/>
                <a:ea typeface="Helvetica Neue"/>
                <a:cs typeface="Helvetica Neue"/>
              </a:defRPr>
            </a:pPr>
            <a:r>
              <a:rPr sz="1800" b="1">
                <a:solidFill>
                  <a:srgbClr val="4C6093"/>
                </a:solidFill>
                <a:latin typeface="Helvetica Neue"/>
                <a:ea typeface="Helvetica Neue"/>
                <a:cs typeface="Helvetica Neue"/>
              </a:rPr>
              <a:t>Does a school discovery feed need a student’s legal name to test a ranking? Explain your decision.</a:t>
            </a:r>
          </a:p>
        </p:txBody>
      </p:sp>
      <p:sp>
        <p:nvSpPr>
          <p:cNvPr id="7" name="">
            <a:extLst xmlns:a="http://schemas.openxmlformats.org/drawingml/2006/main">
              <a:ext uri="{FF2B5EF4-FFF2-40B4-BE49-F238E27FC236}">
                <a16:creationId xmlns:a16="http://schemas.microsoft.com/office/drawing/2014/main" id="{B161A7AF-1807-423F-9CE2-1315578F9B41}"/>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74  /  Original teaching explanation</a:t>
            </a:r>
          </a:p>
        </p:txBody>
      </p:sp>
      <p:sp>
        <p:nvSpPr>
          <p:cNvPr id="8" name="">
            <a:extLst xmlns:a="http://schemas.openxmlformats.org/drawingml/2006/main">
              <a:ext uri="{FF2B5EF4-FFF2-40B4-BE49-F238E27FC236}">
                <a16:creationId xmlns:a16="http://schemas.microsoft.com/office/drawing/2014/main" id="{DE0E4AB9-C5AD-44D9-A411-7D91AA53B7E8}"/>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09 / 12</a:t>
            </a:r>
          </a:p>
        </p:txBody>
      </p:sp>
    </p:spTree>
    <p:extLst>
      <p:ext uri="{BB962C8B-B14F-4D97-AF65-F5344CB8AC3E}">
        <p14:creationId xmlns:p14="http://schemas.microsoft.com/office/powerpoint/2010/main" val="2066470617"/>
      </p:ext>
    </p:extLst>
  </p:cSld>
</p:sld>
</file>

<file path=ppt/slides/slide10.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CF445EF-41C8-4E45-8BA9-18BD69F03C6E}"/>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4C6093"/>
                </a:solidFill>
                <a:latin typeface="Helvetica Neue"/>
                <a:ea typeface="Helvetica Neue"/>
                <a:cs typeface="Helvetica Neue"/>
              </a:defRPr>
            </a:pPr>
            <a:r>
              <a:rPr sz="1275" b="1">
                <a:solidFill>
                  <a:srgbClr val="4C6093"/>
                </a:solidFill>
                <a:latin typeface="Helvetica Neue"/>
                <a:ea typeface="Helvetica Neue"/>
                <a:cs typeface="Helvetica Neue"/>
              </a:rPr>
              <a:t>IB DIGITAL SOCIETY  /  3.1H and the start of 3.1I · pp. 72–74</a:t>
            </a:r>
          </a:p>
        </p:txBody>
      </p:sp>
      <p:sp>
        <p:nvSpPr>
          <p:cNvPr id="2" name="">
            <a:extLst xmlns:a="http://schemas.openxmlformats.org/drawingml/2006/main">
              <a:ext uri="{FF2B5EF4-FFF2-40B4-BE49-F238E27FC236}">
                <a16:creationId xmlns:a16="http://schemas.microsoft.com/office/drawing/2014/main" id="{41236FF6-A7BA-49DE-8B45-32590D447D77}"/>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Analytics can support several purposes</a:t>
            </a:r>
          </a:p>
        </p:txBody>
      </p:sp>
      <p:sp>
        <p:nvSpPr>
          <p:cNvPr id="3" name="">
            <a:extLst xmlns:a="http://schemas.openxmlformats.org/drawingml/2006/main">
              <a:ext uri="{FF2B5EF4-FFF2-40B4-BE49-F238E27FC236}">
                <a16:creationId xmlns:a16="http://schemas.microsoft.com/office/drawing/2014/main" id="{82A38FE5-747A-45AE-A2D0-CB58F630D4DE}"/>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4C6093"/>
                </a:solidFill>
                <a:latin typeface="Helvetica Neue"/>
                <a:ea typeface="Helvetica Neue"/>
                <a:cs typeface="Helvetica Neue"/>
              </a:defRPr>
            </a:pPr>
            <a:r>
              <a:rPr sz="2700" b="1">
                <a:solidFill>
                  <a:srgbClr val="4C6093"/>
                </a:solidFill>
                <a:latin typeface="Helvetica Neue"/>
                <a:ea typeface="Helvetica Neue"/>
                <a:cs typeface="Helvetica Neue"/>
              </a:rPr>
              <a:t>Describe a past pattern</a:t>
            </a:r>
          </a:p>
        </p:txBody>
      </p:sp>
      <p:sp>
        <p:nvSpPr>
          <p:cNvPr id="4" name="">
            <a:extLst xmlns:a="http://schemas.openxmlformats.org/drawingml/2006/main">
              <a:ext uri="{FF2B5EF4-FFF2-40B4-BE49-F238E27FC236}">
                <a16:creationId xmlns:a16="http://schemas.microsoft.com/office/drawing/2014/main" id="{67B5C7DF-821E-4FB6-8554-F4D0E27B0F46}"/>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Detect an unusual record or event</a:t>
            </a:r>
          </a:p>
        </p:txBody>
      </p:sp>
      <p:sp>
        <p:nvSpPr>
          <p:cNvPr id="5" name="">
            <a:extLst xmlns:a="http://schemas.openxmlformats.org/drawingml/2006/main">
              <a:ext uri="{FF2B5EF4-FFF2-40B4-BE49-F238E27FC236}">
                <a16:creationId xmlns:a16="http://schemas.microsoft.com/office/drawing/2014/main" id="{AF67851F-8A6E-45F2-A81C-F2E69043D1F2}"/>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Predict a possible future outcome</a:t>
            </a:r>
          </a:p>
        </p:txBody>
      </p:sp>
      <p:sp>
        <p:nvSpPr>
          <p:cNvPr id="6" name="">
            <a:extLst xmlns:a="http://schemas.openxmlformats.org/drawingml/2006/main">
              <a:ext uri="{FF2B5EF4-FFF2-40B4-BE49-F238E27FC236}">
                <a16:creationId xmlns:a16="http://schemas.microsoft.com/office/drawing/2014/main" id="{EB6731DE-2F1A-44B6-94E7-5A085C57E43E}"/>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4C6093"/>
                </a:solidFill>
                <a:latin typeface="Helvetica Neue"/>
                <a:ea typeface="Helvetica Neue"/>
                <a:cs typeface="Helvetica Neue"/>
              </a:defRPr>
            </a:pPr>
            <a:r>
              <a:rPr sz="1800" b="1">
                <a:solidFill>
                  <a:srgbClr val="4C6093"/>
                </a:solidFill>
                <a:latin typeface="Helvetica Neue"/>
                <a:ea typeface="Helvetica Neue"/>
                <a:cs typeface="Helvetica Neue"/>
              </a:rPr>
              <a:t>Choose one purpose and identify a false positive and a false negative in a school context.</a:t>
            </a:r>
          </a:p>
        </p:txBody>
      </p:sp>
      <p:sp>
        <p:nvSpPr>
          <p:cNvPr id="7" name="">
            <a:extLst xmlns:a="http://schemas.openxmlformats.org/drawingml/2006/main">
              <a:ext uri="{FF2B5EF4-FFF2-40B4-BE49-F238E27FC236}">
                <a16:creationId xmlns:a16="http://schemas.microsoft.com/office/drawing/2014/main" id="{AFE76403-A7AF-45DD-86C4-AA4890FD4B2A}"/>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73  /  Original teaching explanation</a:t>
            </a:r>
          </a:p>
        </p:txBody>
      </p:sp>
      <p:sp>
        <p:nvSpPr>
          <p:cNvPr id="8" name="">
            <a:extLst xmlns:a="http://schemas.openxmlformats.org/drawingml/2006/main">
              <a:ext uri="{FF2B5EF4-FFF2-40B4-BE49-F238E27FC236}">
                <a16:creationId xmlns:a16="http://schemas.microsoft.com/office/drawing/2014/main" id="{A44CDA4E-1546-4ED1-8BB3-B4046BBBD262}"/>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10 / 12</a:t>
            </a:r>
          </a:p>
        </p:txBody>
      </p:sp>
    </p:spTree>
    <p:extLst>
      <p:ext uri="{BB962C8B-B14F-4D97-AF65-F5344CB8AC3E}">
        <p14:creationId xmlns:p14="http://schemas.microsoft.com/office/powerpoint/2010/main" val="219980386"/>
      </p:ext>
    </p:extLst>
  </p:cSld>
</p:sld>
</file>

<file path=ppt/slides/slide11.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EDBB0A3-6F95-4FC1-84E0-4C9BBEA4524D}"/>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4C6093"/>
                </a:solidFill>
                <a:latin typeface="Helvetica Neue"/>
                <a:ea typeface="Helvetica Neue"/>
                <a:cs typeface="Helvetica Neue"/>
              </a:defRPr>
            </a:pPr>
            <a:r>
              <a:rPr sz="1275" b="1">
                <a:solidFill>
                  <a:srgbClr val="4C6093"/>
                </a:solidFill>
                <a:latin typeface="Helvetica Neue"/>
                <a:ea typeface="Helvetica Neue"/>
                <a:cs typeface="Helvetica Neue"/>
              </a:rPr>
              <a:t>IB DIGITAL SOCIETY  /  3.1H and the start of 3.1I · pp. 72–74</a:t>
            </a:r>
          </a:p>
        </p:txBody>
      </p:sp>
      <p:sp>
        <p:nvSpPr>
          <p:cNvPr id="2" name="">
            <a:extLst xmlns:a="http://schemas.openxmlformats.org/drawingml/2006/main">
              <a:ext uri="{FF2B5EF4-FFF2-40B4-BE49-F238E27FC236}">
                <a16:creationId xmlns:a16="http://schemas.microsoft.com/office/drawing/2014/main" id="{1EFB998F-10DB-4871-BC58-CFA7F4FC5536}"/>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A bounded big-data inquiry</a:t>
            </a:r>
          </a:p>
        </p:txBody>
      </p:sp>
      <p:sp>
        <p:nvSpPr>
          <p:cNvPr id="3" name="">
            <a:extLst xmlns:a="http://schemas.openxmlformats.org/drawingml/2006/main">
              <a:ext uri="{FF2B5EF4-FFF2-40B4-BE49-F238E27FC236}">
                <a16:creationId xmlns:a16="http://schemas.microsoft.com/office/drawing/2014/main" id="{3C5454C1-15F9-4165-AC73-233182ABE243}"/>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4C6093"/>
                </a:solidFill>
                <a:latin typeface="Helvetica Neue"/>
                <a:ea typeface="Helvetica Neue"/>
                <a:cs typeface="Helvetica Neue"/>
              </a:defRPr>
            </a:pPr>
            <a:r>
              <a:rPr sz="2700" b="1">
                <a:solidFill>
                  <a:srgbClr val="4C6093"/>
                </a:solidFill>
                <a:latin typeface="Helvetica Neue"/>
                <a:ea typeface="Helvetica Neue"/>
                <a:cs typeface="Helvetica Neue"/>
              </a:rPr>
              <a:t>Question: whose experience does this dataset describe?</a:t>
            </a:r>
          </a:p>
        </p:txBody>
      </p:sp>
      <p:sp>
        <p:nvSpPr>
          <p:cNvPr id="4" name="">
            <a:extLst xmlns:a="http://schemas.openxmlformats.org/drawingml/2006/main">
              <a:ext uri="{FF2B5EF4-FFF2-40B4-BE49-F238E27FC236}">
                <a16:creationId xmlns:a16="http://schemas.microsoft.com/office/drawing/2014/main" id="{40AF2956-F460-4F22-9D99-84EB4DF0E98D}"/>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Check collection, formats, missing records and quality</a:t>
            </a:r>
          </a:p>
        </p:txBody>
      </p:sp>
      <p:sp>
        <p:nvSpPr>
          <p:cNvPr id="5" name="">
            <a:extLst xmlns:a="http://schemas.openxmlformats.org/drawingml/2006/main">
              <a:ext uri="{FF2B5EF4-FFF2-40B4-BE49-F238E27FC236}">
                <a16:creationId xmlns:a16="http://schemas.microsoft.com/office/drawing/2014/main" id="{0693B5FE-B360-4600-A984-4346DF5FECE4}"/>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Match each claim to evidence that can support it</a:t>
            </a:r>
          </a:p>
        </p:txBody>
      </p:sp>
      <p:sp>
        <p:nvSpPr>
          <p:cNvPr id="6" name="">
            <a:extLst xmlns:a="http://schemas.openxmlformats.org/drawingml/2006/main">
              <a:ext uri="{FF2B5EF4-FFF2-40B4-BE49-F238E27FC236}">
                <a16:creationId xmlns:a16="http://schemas.microsoft.com/office/drawing/2014/main" id="{216B28AD-A41F-4102-AAD7-72D6E45D72BD}"/>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4C6093"/>
                </a:solidFill>
                <a:latin typeface="Helvetica Neue"/>
                <a:ea typeface="Helvetica Neue"/>
                <a:cs typeface="Helvetica Neue"/>
              </a:defRPr>
            </a:pPr>
            <a:r>
              <a:rPr sz="1800" b="1">
                <a:solidFill>
                  <a:srgbClr val="4C6093"/>
                </a:solidFill>
                <a:latin typeface="Helvetica Neue"/>
                <a:ea typeface="Helvetica Neue"/>
                <a:cs typeface="Helvetica Neue"/>
              </a:rPr>
              <a:t>Draft a focused question and identify one missing piece of evidence.</a:t>
            </a:r>
          </a:p>
        </p:txBody>
      </p:sp>
      <p:sp>
        <p:nvSpPr>
          <p:cNvPr id="7" name="">
            <a:extLst xmlns:a="http://schemas.openxmlformats.org/drawingml/2006/main">
              <a:ext uri="{FF2B5EF4-FFF2-40B4-BE49-F238E27FC236}">
                <a16:creationId xmlns:a16="http://schemas.microsoft.com/office/drawing/2014/main" id="{91BC58F3-E03A-4C7E-865B-93BFB4E5A261}"/>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74  /  Original teaching explanation</a:t>
            </a:r>
          </a:p>
        </p:txBody>
      </p:sp>
      <p:sp>
        <p:nvSpPr>
          <p:cNvPr id="8" name="">
            <a:extLst xmlns:a="http://schemas.openxmlformats.org/drawingml/2006/main">
              <a:ext uri="{FF2B5EF4-FFF2-40B4-BE49-F238E27FC236}">
                <a16:creationId xmlns:a16="http://schemas.microsoft.com/office/drawing/2014/main" id="{A1B23795-E6D0-4FAB-A1C8-E4194EDF74A1}"/>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11 / 12</a:t>
            </a:r>
          </a:p>
        </p:txBody>
      </p:sp>
    </p:spTree>
    <p:extLst>
      <p:ext uri="{BB962C8B-B14F-4D97-AF65-F5344CB8AC3E}">
        <p14:creationId xmlns:p14="http://schemas.microsoft.com/office/powerpoint/2010/main" val="2069218841"/>
      </p:ext>
    </p:extLst>
  </p:cSld>
</p:sld>
</file>

<file path=ppt/slides/slide12.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2478F88-EF7F-4584-9971-55B01641DAB7}"/>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4C6093"/>
                </a:solidFill>
                <a:latin typeface="Helvetica Neue"/>
                <a:ea typeface="Helvetica Neue"/>
                <a:cs typeface="Helvetica Neue"/>
              </a:defRPr>
            </a:pPr>
            <a:r>
              <a:rPr sz="1275" b="1">
                <a:solidFill>
                  <a:srgbClr val="4C6093"/>
                </a:solidFill>
                <a:latin typeface="Helvetica Neue"/>
                <a:ea typeface="Helvetica Neue"/>
                <a:cs typeface="Helvetica Neue"/>
              </a:rPr>
              <a:t>IB DIGITAL SOCIETY  /  3.1H and the start of 3.1I · pp. 72–74</a:t>
            </a:r>
          </a:p>
        </p:txBody>
      </p:sp>
      <p:sp>
        <p:nvSpPr>
          <p:cNvPr id="2" name="">
            <a:extLst xmlns:a="http://schemas.openxmlformats.org/drawingml/2006/main">
              <a:ext uri="{FF2B5EF4-FFF2-40B4-BE49-F238E27FC236}">
                <a16:creationId xmlns:a16="http://schemas.microsoft.com/office/drawing/2014/main" id="{8F239966-7D50-4924-8715-C12E6E07E10A}"/>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Chapter coverage and delayed retrieval</a:t>
            </a:r>
          </a:p>
        </p:txBody>
      </p:sp>
      <p:sp>
        <p:nvSpPr>
          <p:cNvPr id="3" name="">
            <a:extLst xmlns:a="http://schemas.openxmlformats.org/drawingml/2006/main">
              <a:ext uri="{FF2B5EF4-FFF2-40B4-BE49-F238E27FC236}">
                <a16:creationId xmlns:a16="http://schemas.microsoft.com/office/drawing/2014/main" id="{9A636A2F-25E8-4B0B-964E-5E50228ED88A}"/>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4C6093"/>
                </a:solidFill>
                <a:latin typeface="Helvetica Neue"/>
                <a:ea typeface="Helvetica Neue"/>
                <a:cs typeface="Helvetica Neue"/>
              </a:defRPr>
            </a:pPr>
            <a:r>
              <a:rPr sz="2700" b="1">
                <a:solidFill>
                  <a:srgbClr val="4C6093"/>
                </a:solidFill>
                <a:latin typeface="Helvetica Neue"/>
                <a:ea typeface="Helvetica Neue"/>
                <a:cs typeface="Helvetica Neue"/>
              </a:rPr>
              <a:t>This deck teaches 3.1H and collection at the start of 3.1I</a:t>
            </a:r>
          </a:p>
        </p:txBody>
      </p:sp>
      <p:sp>
        <p:nvSpPr>
          <p:cNvPr id="4" name="">
            <a:extLst xmlns:a="http://schemas.openxmlformats.org/drawingml/2006/main">
              <a:ext uri="{FF2B5EF4-FFF2-40B4-BE49-F238E27FC236}">
                <a16:creationId xmlns:a16="http://schemas.microsoft.com/office/drawing/2014/main" id="{EEBCA58E-8032-4803-ADD9-F29300CF8189}"/>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Earlier 3.1 sections and later lifecycle dilemmas remain separate</a:t>
            </a:r>
          </a:p>
        </p:txBody>
      </p:sp>
      <p:sp>
        <p:nvSpPr>
          <p:cNvPr id="5" name="">
            <a:extLst xmlns:a="http://schemas.openxmlformats.org/drawingml/2006/main">
              <a:ext uri="{FF2B5EF4-FFF2-40B4-BE49-F238E27FC236}">
                <a16:creationId xmlns:a16="http://schemas.microsoft.com/office/drawing/2014/main" id="{03CFE62B-0ED7-491F-88D9-3468584AD7D8}"/>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Explain the four Vs in a new context without notes</a:t>
            </a:r>
          </a:p>
        </p:txBody>
      </p:sp>
      <p:sp>
        <p:nvSpPr>
          <p:cNvPr id="6" name="">
            <a:extLst xmlns:a="http://schemas.openxmlformats.org/drawingml/2006/main">
              <a:ext uri="{FF2B5EF4-FFF2-40B4-BE49-F238E27FC236}">
                <a16:creationId xmlns:a16="http://schemas.microsoft.com/office/drawing/2014/main" id="{6364EEFA-C524-4632-96E7-5EFB651DA08F}"/>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4C6093"/>
                </a:solidFill>
                <a:latin typeface="Helvetica Neue"/>
                <a:ea typeface="Helvetica Neue"/>
                <a:cs typeface="Helvetica Neue"/>
              </a:defRPr>
            </a:pPr>
            <a:r>
              <a:rPr sz="1800" b="1">
                <a:solidFill>
                  <a:srgbClr val="4C6093"/>
                </a:solidFill>
                <a:latin typeface="Helvetica Neue"/>
                <a:ea typeface="Helvetica Neue"/>
                <a:cs typeface="Helvetica Neue"/>
              </a:rPr>
              <a:t>Checkpoint: Which claim is justified after this deck?</a:t>
            </a:r>
          </a:p>
        </p:txBody>
      </p:sp>
      <p:sp>
        <p:nvSpPr>
          <p:cNvPr id="7" name="">
            <a:extLst xmlns:a="http://schemas.openxmlformats.org/drawingml/2006/main">
              <a:ext uri="{FF2B5EF4-FFF2-40B4-BE49-F238E27FC236}">
                <a16:creationId xmlns:a16="http://schemas.microsoft.com/office/drawing/2014/main" id="{5BE7AB86-3F74-4E1A-8D35-FEBAC09B266E}"/>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72–74  /  Original teaching explanation</a:t>
            </a:r>
          </a:p>
        </p:txBody>
      </p:sp>
      <p:sp>
        <p:nvSpPr>
          <p:cNvPr id="8" name="">
            <a:extLst xmlns:a="http://schemas.openxmlformats.org/drawingml/2006/main">
              <a:ext uri="{FF2B5EF4-FFF2-40B4-BE49-F238E27FC236}">
                <a16:creationId xmlns:a16="http://schemas.microsoft.com/office/drawing/2014/main" id="{AB3C3B82-4095-4BB4-B5D4-4A75282661D0}"/>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12 / 12</a:t>
            </a:r>
          </a:p>
        </p:txBody>
      </p:sp>
    </p:spTree>
    <p:extLst>
      <p:ext uri="{BB962C8B-B14F-4D97-AF65-F5344CB8AC3E}">
        <p14:creationId xmlns:p14="http://schemas.microsoft.com/office/powerpoint/2010/main" val="19781104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2026-10-05T10:35:23.1860000Z</dcterms:created>
  <dcterms:modified xsi:type="dcterms:W3CDTF">2026-10-05T10:35:23.1860000Z</dcterms:modified>
</coreProperties>
</file>