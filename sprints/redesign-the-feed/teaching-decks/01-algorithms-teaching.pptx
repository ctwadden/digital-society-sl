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e2999fd1348446f" /><Relationship Type="http://schemas.openxmlformats.org/officeDocument/2006/relationships/extended-properties" Target="/docProps/app.xml" Id="Re4ec6e3a0ddc455b" /><Relationship Type="http://schemas.openxmlformats.org/officeDocument/2006/relationships/officeDocument" Target="/ppt/presentation.xml" Id="R08eb67558cc848da" /></Relationships>
</file>

<file path=ppt/presentation.xml><?xml version="1.0" encoding="utf-8"?>
<p:presentation xmlns:p="http://schemas.openxmlformats.org/presentationml/2006/main">
  <p:sldMasterIdLst>
    <p:sldMasterId xmlns:r="http://schemas.openxmlformats.org/officeDocument/2006/relationships" id="2147483648" r:id="R4ef0414e662d40f0"/>
  </p:sldMasterIdLst>
  <p:notesMasterIdLst>
    <p:notesMasterId xmlns:r="http://schemas.openxmlformats.org/officeDocument/2006/relationships" r:id="R969b7cf51bf0455b"/>
  </p:notesMasterIdLst>
  <p:sldIdLst>
    <p:sldId xmlns:r="http://schemas.openxmlformats.org/officeDocument/2006/relationships" id="256" r:id="R09b26dcdcf46432b"/>
    <p:sldId xmlns:r="http://schemas.openxmlformats.org/officeDocument/2006/relationships" id="257" r:id="Re82eb52d242347e6"/>
    <p:sldId xmlns:r="http://schemas.openxmlformats.org/officeDocument/2006/relationships" id="258" r:id="Ree5fa2809bbb4c2d"/>
    <p:sldId xmlns:r="http://schemas.openxmlformats.org/officeDocument/2006/relationships" id="259" r:id="Rab48cd0a5fd04b97"/>
    <p:sldId xmlns:r="http://schemas.openxmlformats.org/officeDocument/2006/relationships" id="260" r:id="Rabdc60c8a3c849bf"/>
    <p:sldId xmlns:r="http://schemas.openxmlformats.org/officeDocument/2006/relationships" id="261" r:id="R49c79c2e27b94ce9"/>
    <p:sldId xmlns:r="http://schemas.openxmlformats.org/officeDocument/2006/relationships" id="262" r:id="Rfed3957ab0a84fd2"/>
    <p:sldId xmlns:r="http://schemas.openxmlformats.org/officeDocument/2006/relationships" id="263" r:id="R7a274ca7b6934eda"/>
    <p:sldId xmlns:r="http://schemas.openxmlformats.org/officeDocument/2006/relationships" id="264" r:id="R1883e593763943eb"/>
    <p:sldId xmlns:r="http://schemas.openxmlformats.org/officeDocument/2006/relationships" id="265" r:id="R1b2608fcfc554edf"/>
    <p:sldId xmlns:r="http://schemas.openxmlformats.org/officeDocument/2006/relationships" id="266" r:id="Red58d66fddf047e7"/>
    <p:sldId xmlns:r="http://schemas.openxmlformats.org/officeDocument/2006/relationships" id="267" r:id="Re7e41f6f8d7f4ab4"/>
    <p:sldId xmlns:r="http://schemas.openxmlformats.org/officeDocument/2006/relationships" id="268" r:id="R61b28c6417a548de"/>
    <p:sldId xmlns:r="http://schemas.openxmlformats.org/officeDocument/2006/relationships" id="269" r:id="R7f499fec64c74970"/>
    <p:sldId xmlns:r="http://schemas.openxmlformats.org/officeDocument/2006/relationships" id="270" r:id="Rfdf3352dffad4bf3"/>
    <p:sldId xmlns:r="http://schemas.openxmlformats.org/officeDocument/2006/relationships" id="271" r:id="R3d53c64605814923"/>
    <p:sldId xmlns:r="http://schemas.openxmlformats.org/officeDocument/2006/relationships" id="272" r:id="Ra0665fec912f475a"/>
    <p:sldId xmlns:r="http://schemas.openxmlformats.org/officeDocument/2006/relationships" id="273" r:id="R6a49170fa2ac4ad5"/>
    <p:sldId xmlns:r="http://schemas.openxmlformats.org/officeDocument/2006/relationships" id="274" r:id="R051e3680511f4740"/>
    <p:sldId xmlns:r="http://schemas.openxmlformats.org/officeDocument/2006/relationships" id="275" r:id="R4d3fabec225c4d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98c10df73f4ea6" /><Relationship Type="http://schemas.openxmlformats.org/officeDocument/2006/relationships/slideMaster" Target="/ppt/slideMasters/slideMaster1.xml" Id="R4ef0414e662d40f0" /><Relationship Type="http://schemas.openxmlformats.org/officeDocument/2006/relationships/notesMaster" Target="/ppt/notesMasters/notesMaster1.xml" Id="R969b7cf51bf0455b" /><Relationship Type="http://schemas.openxmlformats.org/officeDocument/2006/relationships/presProps" Target="/ppt/presProps.xml" Id="R0af0a413c10247a2" /><Relationship Type="http://schemas.openxmlformats.org/officeDocument/2006/relationships/tableStyles" Target="/ppt/tableStyles.xml" Id="Rd67d59115f69424c" /><Relationship Type="http://schemas.openxmlformats.org/officeDocument/2006/relationships/slide" Target="/ppt/slides/slide1.xml" Id="R09b26dcdcf46432b" /><Relationship Type="http://schemas.openxmlformats.org/officeDocument/2006/relationships/slide" Target="/ppt/slides/slide2.xml" Id="Re82eb52d242347e6" /><Relationship Type="http://schemas.openxmlformats.org/officeDocument/2006/relationships/slide" Target="/ppt/slides/slide3.xml" Id="Ree5fa2809bbb4c2d" /><Relationship Type="http://schemas.openxmlformats.org/officeDocument/2006/relationships/slide" Target="/ppt/slides/slide4.xml" Id="Rab48cd0a5fd04b97" /><Relationship Type="http://schemas.openxmlformats.org/officeDocument/2006/relationships/slide" Target="/ppt/slides/slide5.xml" Id="Rabdc60c8a3c849bf" /><Relationship Type="http://schemas.openxmlformats.org/officeDocument/2006/relationships/slide" Target="/ppt/slides/slide6.xml" Id="R49c79c2e27b94ce9" /><Relationship Type="http://schemas.openxmlformats.org/officeDocument/2006/relationships/slide" Target="/ppt/slides/slide7.xml" Id="Rfed3957ab0a84fd2" /><Relationship Type="http://schemas.openxmlformats.org/officeDocument/2006/relationships/slide" Target="/ppt/slides/slide8.xml" Id="R7a274ca7b6934eda" /><Relationship Type="http://schemas.openxmlformats.org/officeDocument/2006/relationships/slide" Target="/ppt/slides/slide9.xml" Id="R1883e593763943eb" /><Relationship Type="http://schemas.openxmlformats.org/officeDocument/2006/relationships/slide" Target="/ppt/slides/slide10.xml" Id="R1b2608fcfc554edf" /><Relationship Type="http://schemas.openxmlformats.org/officeDocument/2006/relationships/slide" Target="/ppt/slides/slide11.xml" Id="Red58d66fddf047e7" /><Relationship Type="http://schemas.openxmlformats.org/officeDocument/2006/relationships/slide" Target="/ppt/slides/slide12.xml" Id="Re7e41f6f8d7f4ab4" /><Relationship Type="http://schemas.openxmlformats.org/officeDocument/2006/relationships/slide" Target="/ppt/slides/slide13.xml" Id="R61b28c6417a548de" /><Relationship Type="http://schemas.openxmlformats.org/officeDocument/2006/relationships/slide" Target="/ppt/slides/slide14.xml" Id="R7f499fec64c74970" /><Relationship Type="http://schemas.openxmlformats.org/officeDocument/2006/relationships/slide" Target="/ppt/slides/slide15.xml" Id="Rfdf3352dffad4bf3" /><Relationship Type="http://schemas.openxmlformats.org/officeDocument/2006/relationships/slide" Target="/ppt/slides/slide16.xml" Id="R3d53c64605814923" /><Relationship Type="http://schemas.openxmlformats.org/officeDocument/2006/relationships/slide" Target="/ppt/slides/slide17.xml" Id="Ra0665fec912f475a" /><Relationship Type="http://schemas.openxmlformats.org/officeDocument/2006/relationships/slide" Target="/ppt/slides/slide18.xml" Id="R6a49170fa2ac4ad5" /><Relationship Type="http://schemas.openxmlformats.org/officeDocument/2006/relationships/slide" Target="/ppt/slides/slide19.xml" Id="R051e3680511f4740" /><Relationship Type="http://schemas.openxmlformats.org/officeDocument/2006/relationships/slide" Target="/ppt/slides/slide20.xml" Id="R4d3fabec225c4d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ec429a99714e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401d56bf304709" /><Relationship Type="http://schemas.openxmlformats.org/officeDocument/2006/relationships/notesMaster" Target="/ppt/notesMasters/notesMaster1.xml" Id="R7cf3af17b6f548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31191bb26d4b23" /><Relationship Type="http://schemas.openxmlformats.org/officeDocument/2006/relationships/notesMaster" Target="/ppt/notesMasters/notesMaster1.xml" Id="R8d8e1d7a28df41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a4c9a39e444a23" /><Relationship Type="http://schemas.openxmlformats.org/officeDocument/2006/relationships/notesMaster" Target="/ppt/notesMasters/notesMaster1.xml" Id="R4c2cbb8d23664e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e2fac8c60f43fa" /><Relationship Type="http://schemas.openxmlformats.org/officeDocument/2006/relationships/notesMaster" Target="/ppt/notesMasters/notesMaster1.xml" Id="R9a065aa9815749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e90428dd9342c2" /><Relationship Type="http://schemas.openxmlformats.org/officeDocument/2006/relationships/notesMaster" Target="/ppt/notesMasters/notesMaster1.xml" Id="Rf2b55a0139b341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f10d1610fd4be7" /><Relationship Type="http://schemas.openxmlformats.org/officeDocument/2006/relationships/notesMaster" Target="/ppt/notesMasters/notesMaster1.xml" Id="R27b44476a76f42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c19fa8433249d6" /><Relationship Type="http://schemas.openxmlformats.org/officeDocument/2006/relationships/notesMaster" Target="/ppt/notesMasters/notesMaster1.xml" Id="Ree3f84f84dfb44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5f4115566a4e5d" /><Relationship Type="http://schemas.openxmlformats.org/officeDocument/2006/relationships/notesMaster" Target="/ppt/notesMasters/notesMaster1.xml" Id="Ra1ca5b5c295d45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186748cccf4b3d" /><Relationship Type="http://schemas.openxmlformats.org/officeDocument/2006/relationships/notesMaster" Target="/ppt/notesMasters/notesMaster1.xml" Id="R000eedf3080e44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47883be0f04897" /><Relationship Type="http://schemas.openxmlformats.org/officeDocument/2006/relationships/notesMaster" Target="/ppt/notesMasters/notesMaster1.xml" Id="Rd42a0d7a173547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83c03c9e264cfa" /><Relationship Type="http://schemas.openxmlformats.org/officeDocument/2006/relationships/notesMaster" Target="/ppt/notesMasters/notesMaster1.xml" Id="R0b276cce2e124a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cb232218334225" /><Relationship Type="http://schemas.openxmlformats.org/officeDocument/2006/relationships/notesMaster" Target="/ppt/notesMasters/notesMaster1.xml" Id="R5f7363b74df543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23fddf4f8a44b0" /><Relationship Type="http://schemas.openxmlformats.org/officeDocument/2006/relationships/notesMaster" Target="/ppt/notesMasters/notesMaster1.xml" Id="Re793044550d045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f93082f17614438" /><Relationship Type="http://schemas.openxmlformats.org/officeDocument/2006/relationships/notesMaster" Target="/ppt/notesMasters/notesMaster1.xml" Id="Ree105623f8af4f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f414d8f86f4e5a" /><Relationship Type="http://schemas.openxmlformats.org/officeDocument/2006/relationships/notesMaster" Target="/ppt/notesMasters/notesMaster1.xml" Id="Re4efc0ddfd814b4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7f98b4ac94f4542" /><Relationship Type="http://schemas.openxmlformats.org/officeDocument/2006/relationships/notesMaster" Target="/ppt/notesMasters/notesMaster1.xml" Id="R47ad40914003430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bb13b572e934962" /><Relationship Type="http://schemas.openxmlformats.org/officeDocument/2006/relationships/notesMaster" Target="/ppt/notesMasters/notesMaster1.xml" Id="R9a314cc0b7b6474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9e00391d604e4e" /><Relationship Type="http://schemas.openxmlformats.org/officeDocument/2006/relationships/notesMaster" Target="/ppt/notesMasters/notesMaster1.xml" Id="R6681ad75ce5c440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bd116812f784287" /><Relationship Type="http://schemas.openxmlformats.org/officeDocument/2006/relationships/notesMaster" Target="/ppt/notesMasters/notesMaster1.xml" Id="R919eef90c99e4b1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c226a45b60f4571" /><Relationship Type="http://schemas.openxmlformats.org/officeDocument/2006/relationships/notesMaster" Target="/ppt/notesMasters/notesMaster1.xml" Id="Rf377e2f93d5c4c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 school media feed containing a concert, a science demonstration and a sports update. The phone shows an ordered list, but somebody has decided which information to collect and which outcomes to favour. We will begin with very small rules that we can follow ourselves. Later we will examine recommendation systems and the consequences for people. You do not need programming experience. By the end, you should be able to trace a rule, explain its result and identify a decision hidden inside it.</a:t>
            </a:r>
          </a:p>
          <a:p xmlns:a="http://schemas.openxmlformats.org/drawingml/2006/main">
            <a:r>
              <a:t/>
            </a:r>
          </a:p>
          <a:p xmlns:a="http://schemas.openxmlformats.org/drawingml/2006/main">
            <a:r>
              <a:t>Which items are available?</a:t>
            </a:r>
          </a:p>
          <a:p xmlns:a="http://schemas.openxmlformats.org/drawingml/2006/main">
            <a:r>
              <a:t>Which rule puts one item before another?</a:t>
            </a:r>
          </a:p>
          <a:p xmlns:a="http://schemas.openxmlformats.org/drawingml/2006/main">
            <a:r>
              <a:t>Which people can change that rule?</a:t>
            </a:r>
          </a:p>
          <a:p xmlns:a="http://schemas.openxmlformats.org/drawingml/2006/main">
            <a:r>
              <a:t/>
            </a:r>
          </a:p>
          <a:p xmlns:a="http://schemas.openxmlformats.org/drawingml/2006/main">
            <a:r>
              <a:t>Practice prompt: Predict one input and one output of the school feed.</a:t>
            </a:r>
          </a:p>
          <a:p xmlns:a="http://schemas.openxmlformats.org/drawingml/2006/main">
            <a:r>
              <a:t/>
            </a:r>
          </a:p>
          <a:p xmlns:a="http://schemas.openxmlformats.org/drawingml/2006/main">
            <a:r>
              <a:t>Source: Bomfim et al., Digital Society for the IB Diploma, Hodder, 2022. Printed pages cited per slide. Original paraphrase. Textbook connection: pp. 81.</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algorithm is a procedure. Code is one way to implement that procedure. A rule for finding a book can be written in ordinary language and followed by a person, or expressed in a programming language and run by a computer. The input and output must be clear. An algorithm can have no external input, but it still produces a defined result. When explaining a system, naming an algorithm is only a start. State what information enters, what the procedure does and what comes out.</a:t>
            </a:r>
          </a:p>
          <a:p xmlns:a="http://schemas.openxmlformats.org/drawingml/2006/main">
            <a:r>
              <a:t/>
            </a:r>
          </a:p>
          <a:p xmlns:a="http://schemas.openxmlformats.org/drawingml/2006/main">
            <a:r>
              <a:t>A precise sequence of instructions for a task</a:t>
            </a:r>
          </a:p>
          <a:p xmlns:a="http://schemas.openxmlformats.org/drawingml/2006/main">
            <a:r>
              <a:t>Input: the information available to the rule</a:t>
            </a:r>
          </a:p>
          <a:p xmlns:a="http://schemas.openxmlformats.org/drawingml/2006/main">
            <a:r>
              <a:t>Output: the result produced by the instructions</a:t>
            </a:r>
          </a:p>
          <a:p xmlns:a="http://schemas.openxmlformats.org/drawingml/2006/main">
            <a:r>
              <a:t/>
            </a:r>
          </a:p>
          <a:p xmlns:a="http://schemas.openxmlformats.org/drawingml/2006/main">
            <a:r>
              <a:t/>
            </a:r>
          </a:p>
          <a:p xmlns:a="http://schemas.openxmlformats.org/drawingml/2006/main">
            <a:r>
              <a:t>Source: Bomfim et al., Digital Society for the IB Diploma, Hodder, 2022. Printed pages cited per slide. Original paraphrase. Textbook connection: pp. 81–82.</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“show the best video” with “sort by completion rate, then by item ID when values tie.” The first instruction leaves best undefined. The second tells us exactly how to order the available data. A procedure also needs a stopping condition, such as reaching the end of a finite list. Feasible means that its demands fit the resources available. The textbook also describes independence from a particular programming language. These characteristics help us check whether a rule can actually be followed before judging whether its purpose is desirable.</a:t>
            </a:r>
          </a:p>
          <a:p xmlns:a="http://schemas.openxmlformats.org/drawingml/2006/main">
            <a:r>
              <a:t/>
            </a:r>
          </a:p>
          <a:p xmlns:a="http://schemas.openxmlformats.org/drawingml/2006/main">
            <a:r>
              <a:t>Unambiguous: each instruction has one clear meaning</a:t>
            </a:r>
          </a:p>
          <a:p xmlns:a="http://schemas.openxmlformats.org/drawingml/2006/main">
            <a:r>
              <a:t>Finite: the procedure eventually stops</a:t>
            </a:r>
          </a:p>
          <a:p xmlns:a="http://schemas.openxmlformats.org/drawingml/2006/main">
            <a:r>
              <a:t>Well defined and feasible: inputs, outputs and steps are possible</a:t>
            </a:r>
          </a:p>
          <a:p xmlns:a="http://schemas.openxmlformats.org/drawingml/2006/main">
            <a:r>
              <a:t/>
            </a:r>
          </a:p>
          <a:p xmlns:a="http://schemas.openxmlformats.org/drawingml/2006/main">
            <a:r>
              <a:t>Practice prompt: Repair “keep checking until you find a good item.” Define good and a stopping rule.</a:t>
            </a:r>
          </a:p>
          <a:p xmlns:a="http://schemas.openxmlformats.org/drawingml/2006/main">
            <a:r>
              <a:t/>
            </a:r>
          </a:p>
          <a:p xmlns:a="http://schemas.openxmlformats.org/drawingml/2006/main">
            <a:r>
              <a:t>Source: Bomfim et al., Digital Society for the IB Diploma, Hodder, 2022. Printed pages cited per slide. Original paraphrase. Textbook connection: pp. 81–82.</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variable called total to count available school videos. At the start total equals zero. After checking the first item, it may become one. A trace table shows the value after each instruction, so we can find the step where an error happened. A variable does not have to change every time it is used. It is called a variable because its value can vary. A literal value, such as the threshold 10, stays fixed in this example. Always identify what the variable represents and its unit.</a:t>
            </a:r>
          </a:p>
          <a:p xmlns:a="http://schemas.openxmlformats.org/drawingml/2006/main">
            <a:r>
              <a:t/>
            </a:r>
          </a:p>
          <a:p xmlns:a="http://schemas.openxmlformats.org/drawingml/2006/main">
            <a:r>
              <a:t>A variable is a named place for a value</a:t>
            </a:r>
          </a:p>
          <a:p xmlns:a="http://schemas.openxmlformats.org/drawingml/2006/main">
            <a:r>
              <a:t>Its value may change as the rule runs</a:t>
            </a:r>
          </a:p>
          <a:p xmlns:a="http://schemas.openxmlformats.org/drawingml/2006/main">
            <a:r>
              <a:t>A trace records those changes in order</a:t>
            </a:r>
          </a:p>
          <a:p xmlns:a="http://schemas.openxmlformats.org/drawingml/2006/main">
            <a:r>
              <a:t/>
            </a:r>
          </a:p>
          <a:p xmlns:a="http://schemas.openxmlformats.org/drawingml/2006/main">
            <a:r>
              <a:t>Checkpoint: Which best explains a variable?</a:t>
            </a:r>
          </a:p>
          <a:p xmlns:a="http://schemas.openxmlformats.org/drawingml/2006/main">
            <a:r>
              <a:t>Options: A value holder whose contents can change / A decision with two branches / A rule that repeats forever</a:t>
            </a:r>
          </a:p>
          <a:p xmlns:a="http://schemas.openxmlformats.org/drawingml/2006/main">
            <a:r>
              <a:t>Practice answer: A value holder whose contents can change. A variable stores a value. Conditions test values and loops repeat instructions.</a:t>
            </a:r>
          </a:p>
          <a:p xmlns:a="http://schemas.openxmlformats.org/drawingml/2006/main">
            <a:r>
              <a:t/>
            </a:r>
          </a:p>
          <a:p xmlns:a="http://schemas.openxmlformats.org/drawingml/2006/main">
            <a:r>
              <a:t>Source: Bomfim et al., Digital Society for the IB Diploma, Hodder, 2022. Printed pages cited per slide. Original paraphrase. Textbook connection: pp. 82.</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we include videos lasting at most 60 seconds. An item of exactly 60 seconds passes the condition duration less than or equal to 60. It would fail a condition duration less than 60. This tiny distinction changes an outcome for the creator. A conditional does not guess what to do. It evaluates a stated test. A missing duration needs a separate rule because missing is not the same as zero. The person designing that rule decides whether to exclude the item, request a value or treat the uncertainty in another way.</a:t>
            </a:r>
          </a:p>
          <a:p xmlns:a="http://schemas.openxmlformats.org/drawingml/2006/main">
            <a:r>
              <a:t/>
            </a:r>
          </a:p>
          <a:p xmlns:a="http://schemas.openxmlformats.org/drawingml/2006/main">
            <a:r>
              <a:t>IF a test is true, follow one branch</a:t>
            </a:r>
          </a:p>
          <a:p xmlns:a="http://schemas.openxmlformats.org/drawingml/2006/main">
            <a:r>
              <a:t>ELSE, follow the other branch</a:t>
            </a:r>
          </a:p>
          <a:p xmlns:a="http://schemas.openxmlformats.org/drawingml/2006/main">
            <a:r>
              <a:t>The boundary value matters</a:t>
            </a:r>
          </a:p>
          <a:p xmlns:a="http://schemas.openxmlformats.org/drawingml/2006/main">
            <a:r>
              <a:t/>
            </a:r>
          </a:p>
          <a:p xmlns:a="http://schemas.openxmlformats.org/drawingml/2006/main">
            <a:r>
              <a:t>Practice prompt: What happens to an item lasting exactly 60 seconds? What if duration is missing?</a:t>
            </a:r>
          </a:p>
          <a:p xmlns:a="http://schemas.openxmlformats.org/drawingml/2006/main">
            <a:r>
              <a:t/>
            </a:r>
          </a:p>
          <a:p xmlns:a="http://schemas.openxmlformats.org/drawingml/2006/main">
            <a:r>
              <a:t>Source: Bomfim et al., Digital Society for the IB Diploma, Hodder, 2022. Printed pages cited per slide. Original paraphrase. Textbook connection: pp. 83.</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loop lets a procedure apply instructions to several records. In a for-each loop, the next record changes each time. If the procedure never moves to the next record, it may fail to terminate. A while loop repeats while a condition remains true, so its instructions must eventually change the condition or provide another exit. On paper, place your finger on the current record and move it only when the loop advances. Record a variable after each pass. This keeps the trace tied to the actual sequence.</a:t>
            </a:r>
          </a:p>
          <a:p xmlns:a="http://schemas.openxmlformats.org/drawingml/2006/main">
            <a:r>
              <a:t/>
            </a:r>
          </a:p>
          <a:p xmlns:a="http://schemas.openxmlformats.org/drawingml/2006/main">
            <a:r>
              <a:t>FOR each item, apply the same test</a:t>
            </a:r>
          </a:p>
          <a:p xmlns:a="http://schemas.openxmlformats.org/drawingml/2006/main">
            <a:r>
              <a:t>Update the trace after each item</a:t>
            </a:r>
          </a:p>
          <a:p xmlns:a="http://schemas.openxmlformats.org/drawingml/2006/main">
            <a:r>
              <a:t>Stop when the finite list ends</a:t>
            </a:r>
          </a:p>
          <a:p xmlns:a="http://schemas.openxmlformats.org/drawingml/2006/main">
            <a:r>
              <a:t/>
            </a:r>
          </a:p>
          <a:p xmlns:a="http://schemas.openxmlformats.org/drawingml/2006/main">
            <a:r>
              <a:t>Practice prompt: Trace durations 30, 75 and 60. How many items pass?</a:t>
            </a:r>
          </a:p>
          <a:p xmlns:a="http://schemas.openxmlformats.org/drawingml/2006/main">
            <a:r>
              <a:t/>
            </a:r>
          </a:p>
          <a:p xmlns:a="http://schemas.openxmlformats.org/drawingml/2006/main">
            <a:r>
              <a:t>Source: Bomfim et al., Digital Society for the IB Diploma, Hodder, 2022. Printed pages cited per slide. Original paraphrase. Textbook connection: pp. 83.</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worked flowchart from top to bottom. The oval starts or ends the procedure, the parallelogram reads input, the diamond tests a condition and the rectangles perform actions. Arrows show sequence. Here a known numeric duration of 60 follows YES to INCLUDE, then STOP. A value of 75 follows NO to EXCLUDE, then STOP. Each representation should describe the same decisions. Natural language is accessible to people who do not code, but vague wording can hide ambiguity. A flowchart makes a branch or return to a previous test visible. Code allows a computer to execute the procedure, but syntax depends on the programming language. Pseudocode is a planning notation that resembles code without requiring one language. When translating, preserve the condition, order and stopping rule. A prettier representation is not an improvement if it changes the procedure.</a:t>
            </a:r>
          </a:p>
          <a:p xmlns:a="http://schemas.openxmlformats.org/drawingml/2006/main">
            <a:r>
              <a:t/>
            </a:r>
          </a:p>
          <a:p xmlns:a="http://schemas.openxmlformats.org/drawingml/2006/main">
            <a:r>
              <a:t>Natural language explains a procedure in words</a:t>
            </a:r>
          </a:p>
          <a:p xmlns:a="http://schemas.openxmlformats.org/drawingml/2006/main">
            <a:r>
              <a:t>A flowchart makes sequence and branches visible</a:t>
            </a:r>
          </a:p>
          <a:p xmlns:a="http://schemas.openxmlformats.org/drawingml/2006/main">
            <a:r>
              <a:t>Code expresses instructions in a programming language</a:t>
            </a:r>
          </a:p>
          <a:p xmlns:a="http://schemas.openxmlformats.org/drawingml/2006/main">
            <a:r>
              <a:t/>
            </a:r>
          </a:p>
          <a:p xmlns:a="http://schemas.openxmlformats.org/drawingml/2006/main">
            <a:r>
              <a:t>Practice prompt: Trace the YES and NO paths. Which shape holds the condition? Keep the boundary identical.</a:t>
            </a:r>
          </a:p>
          <a:p xmlns:a="http://schemas.openxmlformats.org/drawingml/2006/main">
            <a:r>
              <a:t/>
            </a:r>
          </a:p>
          <a:p xmlns:a="http://schemas.openxmlformats.org/drawingml/2006/main">
            <a:r>
              <a:t>Source: Bomfim et al., Digital Society for the IB Diploma, Hodder, 2022. Printed pages cited per slide. Original paraphrase. Textbook connection: pp. 83.</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algorithm can be implemented in several programming languages. Writing Python does not automatically make the procedure correct. Developers normally specify the task, represent the procedure, implement it and test its behaviour on ordinary and unusual inputs. Boundary and missing values matter. In Digital Society, you need enough precision to explain a mechanism. You are not required to turn every case response into a software tutorial. When a code example appears, read it line by line and connect the values to the people or objects they represent.</a:t>
            </a:r>
          </a:p>
          <a:p xmlns:a="http://schemas.openxmlformats.org/drawingml/2006/main">
            <a:r>
              <a:t/>
            </a:r>
          </a:p>
          <a:p xmlns:a="http://schemas.openxmlformats.org/drawingml/2006/main">
            <a:r>
              <a:t>Algorithm: the underlying procedure</a:t>
            </a:r>
          </a:p>
          <a:p xmlns:a="http://schemas.openxmlformats.org/drawingml/2006/main">
            <a:r>
              <a:t>Pseudocode: a readable planning representation</a:t>
            </a:r>
          </a:p>
          <a:p xmlns:a="http://schemas.openxmlformats.org/drawingml/2006/main">
            <a:r>
              <a:t>Code: instructions written for a language and runtime</a:t>
            </a:r>
          </a:p>
          <a:p xmlns:a="http://schemas.openxmlformats.org/drawingml/2006/main">
            <a:r>
              <a:t/>
            </a:r>
          </a:p>
          <a:p xmlns:a="http://schemas.openxmlformats.org/drawingml/2006/main">
            <a:r>
              <a:t>Checkpoint: Which should remain the same when a rule moves from prose to code?</a:t>
            </a:r>
          </a:p>
          <a:p xmlns:a="http://schemas.openxmlformats.org/drawingml/2006/main">
            <a:r>
              <a:t>Options: The font / The decision logic and stopping rule / The programming language</a:t>
            </a:r>
          </a:p>
          <a:p xmlns:a="http://schemas.openxmlformats.org/drawingml/2006/main">
            <a:r>
              <a:t>Practice answer: The decision logic and stopping rule. A change of representation should preserve the procedure.</a:t>
            </a:r>
          </a:p>
          <a:p xmlns:a="http://schemas.openxmlformats.org/drawingml/2006/main">
            <a:r>
              <a:t/>
            </a:r>
          </a:p>
          <a:p xmlns:a="http://schemas.openxmlformats.org/drawingml/2006/main">
            <a:r>
              <a:t>Source: Bomfim et al., Digital Society for the IB Diploma, Hodder, 2022. Printed pages cited per slide. Original paraphrase. Textbook connection: pp. 83–84.</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the list B4, B1, B3, B2 and search for B3. Compare B4 with the target, then B1, then B3. The target appears after three comparisons. Searching for B9 requires all four comparisons and returns no match. This is linear search. Its work grows with the number of records inspected. Other searches use different structures or assumptions. Do not call an algorithm efficient without naming what work you are counting and what input conditions you have assumed.</a:t>
            </a:r>
          </a:p>
          <a:p xmlns:a="http://schemas.openxmlformats.org/drawingml/2006/main">
            <a:r>
              <a:t/>
            </a:r>
          </a:p>
          <a:p xmlns:a="http://schemas.openxmlformats.org/drawingml/2006/main">
            <a:r>
              <a:t>Linear search checks records one at a time</a:t>
            </a:r>
          </a:p>
          <a:p xmlns:a="http://schemas.openxmlformats.org/drawingml/2006/main">
            <a:r>
              <a:t>Stop at the first match, or at the end</a:t>
            </a:r>
          </a:p>
          <a:p xmlns:a="http://schemas.openxmlformats.org/drawingml/2006/main">
            <a:r>
              <a:t>A failed search must still terminate</a:t>
            </a:r>
          </a:p>
          <a:p xmlns:a="http://schemas.openxmlformats.org/drawingml/2006/main">
            <a:r>
              <a:t/>
            </a:r>
          </a:p>
          <a:p xmlns:a="http://schemas.openxmlformats.org/drawingml/2006/main">
            <a:r>
              <a:t>Practice prompt: Predict the number of comparisons for B2 and for B9 before opening TraceLab.</a:t>
            </a:r>
          </a:p>
          <a:p xmlns:a="http://schemas.openxmlformats.org/drawingml/2006/main">
            <a:r>
              <a:t>Related browser practice: ../sim/search-sort.html</a:t>
            </a:r>
          </a:p>
          <a:p xmlns:a="http://schemas.openxmlformats.org/drawingml/2006/main">
            <a:r>
              <a:t/>
            </a:r>
          </a:p>
          <a:p xmlns:a="http://schemas.openxmlformats.org/drawingml/2006/main">
            <a:r>
              <a:t>Source: Bomfim et al., Digital Society for the IB Diploma, Hodder, 2022. Printed pages cited per slide. Original paraphrase. Textbook connection: pp. 84.</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3, 1, 2 and sort in ascending order. Compare 3 and 1, then swap them because 3 is larger. The list becomes 1, 3, 2. Compare 3 and 2 and swap again. The list becomes 1, 2, 3. In longer lists, another pass may still be needed. A stop rule can end the process after a complete pass with no swaps. Sorting does not make the data more accurate. It orders the values you supplied, including errors. State how ties and missing values are handled.</a:t>
            </a:r>
          </a:p>
          <a:p xmlns:a="http://schemas.openxmlformats.org/drawingml/2006/main">
            <a:r>
              <a:t/>
            </a:r>
          </a:p>
          <a:p xmlns:a="http://schemas.openxmlformats.org/drawingml/2006/main">
            <a:r>
              <a:t>Sort arranges existing items by a stated key</a:t>
            </a:r>
          </a:p>
          <a:p xmlns:a="http://schemas.openxmlformats.org/drawingml/2006/main">
            <a:r>
              <a:t>Bubble sort compares adjacent values</a:t>
            </a:r>
          </a:p>
          <a:p xmlns:a="http://schemas.openxmlformats.org/drawingml/2006/main">
            <a:r>
              <a:t>One pass may leave part of the list unsorted</a:t>
            </a:r>
          </a:p>
          <a:p xmlns:a="http://schemas.openxmlformats.org/drawingml/2006/main">
            <a:r>
              <a:t/>
            </a:r>
          </a:p>
          <a:p xmlns:a="http://schemas.openxmlformats.org/drawingml/2006/main">
            <a:r>
              <a:t>Practice prompt: Try one pass on 4, 2, 3, 1. Has the whole list finished sorting?</a:t>
            </a:r>
          </a:p>
          <a:p xmlns:a="http://schemas.openxmlformats.org/drawingml/2006/main">
            <a:r>
              <a:t/>
            </a:r>
          </a:p>
          <a:p xmlns:a="http://schemas.openxmlformats.org/drawingml/2006/main">
            <a:r>
              <a:t>Source: Bomfim et al., Digital Society for the IB Diploma, Hodder, 2022. Printed pages cited per slide. Original paraphrase. Textbook connection: pp. 84.</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three library records: A has 10 loans, B has 4 and C has 12. Filtering for at least 10 loans keeps A and C. Counting the matching records gives two. Sorting all records by loans gives C, A, B. These operations answer different questions. A filter can determine whose item is eligible before a ranking rule is applied. A count can become an input to a later decision. Explain the pipeline rather than using search, sort and filter as interchangeable terms.</a:t>
            </a:r>
          </a:p>
          <a:p xmlns:a="http://schemas.openxmlformats.org/drawingml/2006/main">
            <a:r>
              <a:t/>
            </a:r>
          </a:p>
          <a:p xmlns:a="http://schemas.openxmlformats.org/drawingml/2006/main">
            <a:r>
              <a:t>Filter: keep records that meet a condition</a:t>
            </a:r>
          </a:p>
          <a:p xmlns:a="http://schemas.openxmlformats.org/drawingml/2006/main">
            <a:r>
              <a:t>Count: report how many records meet it</a:t>
            </a:r>
          </a:p>
          <a:p xmlns:a="http://schemas.openxmlformats.org/drawingml/2006/main">
            <a:r>
              <a:t>Sort: order records, including those a filter might remove</a:t>
            </a:r>
          </a:p>
          <a:p xmlns:a="http://schemas.openxmlformats.org/drawingml/2006/main">
            <a:r>
              <a:t/>
            </a:r>
          </a:p>
          <a:p xmlns:a="http://schemas.openxmlformats.org/drawingml/2006/main">
            <a:r>
              <a:t/>
            </a:r>
          </a:p>
          <a:p xmlns:a="http://schemas.openxmlformats.org/drawingml/2006/main">
            <a:r>
              <a:t>Source: Bomfim et al., Digital Society for the IB Diploma, Hodder, 2022. Printed pages cited per slide. Original paraphrase. Textbook connection: pp. 84.</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Efficiency concerns resources used to perform a task. A linear search can be compared by its number of comparisons on a particular list. A different search may need sorted input, which itself takes work. Timing a program also depends on hardware and implementation. A procedure can be extremely fast while excluding a group unfairly. It can be transparent while using an unsuitable objective. In a judgement, identify the relevant efficiency measure and the social criterion instead of collapsing both into “better”.</a:t>
            </a:r>
          </a:p>
          <a:p xmlns:a="http://schemas.openxmlformats.org/drawingml/2006/main">
            <a:r>
              <a:t/>
            </a:r>
          </a:p>
          <a:p xmlns:a="http://schemas.openxmlformats.org/drawingml/2006/main">
            <a:r>
              <a:t>Possible measures: comparisons, time or memory</a:t>
            </a:r>
          </a:p>
          <a:p xmlns:a="http://schemas.openxmlformats.org/drawingml/2006/main">
            <a:r>
              <a:t>Input size and assumptions affect the result</a:t>
            </a:r>
          </a:p>
          <a:p xmlns:a="http://schemas.openxmlformats.org/drawingml/2006/main">
            <a:r>
              <a:t>Fast execution and a fair decision are separate tests</a:t>
            </a:r>
          </a:p>
          <a:p xmlns:a="http://schemas.openxmlformats.org/drawingml/2006/main">
            <a:r>
              <a:t/>
            </a:r>
          </a:p>
          <a:p xmlns:a="http://schemas.openxmlformats.org/drawingml/2006/main">
            <a:r>
              <a:t>Checkpoint: A faster hiring rule excludes qualified applicants. What has speed established?</a:t>
            </a:r>
          </a:p>
          <a:p xmlns:a="http://schemas.openxmlformats.org/drawingml/2006/main">
            <a:r>
              <a:t>Options: That the rule is fair / An improvement in one efficiency measure / That human review is unnecessary</a:t>
            </a:r>
          </a:p>
          <a:p xmlns:a="http://schemas.openxmlformats.org/drawingml/2006/main">
            <a:r>
              <a:t>Practice answer: An improvement in one efficiency measure. An efficiency result does not establish fairness, accuracy or an appropriate purpose.</a:t>
            </a:r>
          </a:p>
          <a:p xmlns:a="http://schemas.openxmlformats.org/drawingml/2006/main">
            <a:r>
              <a:t/>
            </a:r>
          </a:p>
          <a:p xmlns:a="http://schemas.openxmlformats.org/drawingml/2006/main">
            <a:r>
              <a:t>Source: Bomfim et al., Digital Society for the IB Diploma, Hodder, 2022. Printed pages cited per slide. Original paraphrase. Textbook connection: pp. 81, 84–86.</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invented museum feed has three items. Each has a completion rate c between zero and one and a new-topic flag m, either zero or one. We can favour familiarity or discovery by changing weights. The score is a classroom model, not an actual platform algorithm. The designer has chosen the signals, scale and goal. If two scores tie, item ID will decide their order here. That tie-break is also a design choice. A ranking is an output of these choices, not a direct measurement of quality.</a:t>
            </a:r>
          </a:p>
          <a:p xmlns:a="http://schemas.openxmlformats.org/drawingml/2006/main">
            <a:r>
              <a:t/>
            </a:r>
          </a:p>
          <a:p xmlns:a="http://schemas.openxmlformats.org/drawingml/2006/main">
            <a:r>
              <a:t>A ranking score combines chosen signals</a:t>
            </a:r>
          </a:p>
          <a:p xmlns:a="http://schemas.openxmlformats.org/drawingml/2006/main">
            <a:r>
              <a:t>Weights determine how strongly each signal counts</a:t>
            </a:r>
          </a:p>
          <a:p xmlns:a="http://schemas.openxmlformats.org/drawingml/2006/main">
            <a:r>
              <a:t>A tie-break makes equal scores reproducible</a:t>
            </a:r>
          </a:p>
          <a:p xmlns:a="http://schemas.openxmlformats.org/drawingml/2006/main">
            <a:r>
              <a:t/>
            </a:r>
          </a:p>
          <a:p xmlns:a="http://schemas.openxmlformats.org/drawingml/2006/main">
            <a:r>
              <a:t>Practice prompt: Which item should lead if discovering an unfamiliar topic is our priority?</a:t>
            </a:r>
          </a:p>
          <a:p xmlns:a="http://schemas.openxmlformats.org/drawingml/2006/main">
            <a:r>
              <a:t/>
            </a:r>
          </a:p>
          <a:p xmlns:a="http://schemas.openxmlformats.org/drawingml/2006/main">
            <a:r>
              <a:t>Source: Bomfim et al., Digital Society for the IB Diploma, Hodder, 2022. Printed pages cited per slide. Original paraphrase. Textbook connection: pp. 85.</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calculating, predict which rule is more likely to lift the new-topic item. Rule A gives the flag a contribution of two, while the completion contribution can be at most one. Rule B gives completion up to three, while the flag contributes only point two. Those scales matter. Copy the inputs from the previous slide and calculate all three scores for each rule. Write your prediction before moving on. If your prediction changes, identify which term in the calculation caused it.</a:t>
            </a:r>
          </a:p>
          <a:p xmlns:a="http://schemas.openxmlformats.org/drawingml/2006/main">
            <a:r>
              <a:t/>
            </a:r>
          </a:p>
          <a:p xmlns:a="http://schemas.openxmlformats.org/drawingml/2006/main">
            <a:r>
              <a:t>Rule A: score = c + 2m</a:t>
            </a:r>
          </a:p>
          <a:p xmlns:a="http://schemas.openxmlformats.org/drawingml/2006/main">
            <a:r>
              <a:t>Rule B: score = 3c + 0.2m</a:t>
            </a:r>
          </a:p>
          <a:p xmlns:a="http://schemas.openxmlformats.org/drawingml/2006/main">
            <a:r>
              <a:t>Use the same inputs to compare the rules</a:t>
            </a:r>
          </a:p>
          <a:p xmlns:a="http://schemas.openxmlformats.org/drawingml/2006/main">
            <a:r>
              <a:t/>
            </a:r>
          </a:p>
          <a:p xmlns:a="http://schemas.openxmlformats.org/drawingml/2006/main">
            <a:r>
              <a:t>Practice prompt: Calculate M1, M2 and M3 for both rules. Record your prediction before revealing the next slide.</a:t>
            </a:r>
          </a:p>
          <a:p xmlns:a="http://schemas.openxmlformats.org/drawingml/2006/main">
            <a:r>
              <a:t/>
            </a:r>
          </a:p>
          <a:p xmlns:a="http://schemas.openxmlformats.org/drawingml/2006/main">
            <a:r>
              <a:t>Source: Bomfim et al., Digital Society for the IB Diploma, Hodder, 2022. Printed pages cited per slide. Original paraphrase. Textbook connection: pp. 85.</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Rule A, M1 scores zero point eight plus two, which equals two point eight. M2 scores zero point nine, and M3 scores zero point five. For Rule B, M1 scores two point four plus point two, or two point six. M2 scores two point seven, and M3 scores one point five. M2 overtakes M1. The arithmetic supports a conclusion about this ranking. It does not measure satisfaction, creator income or actual cultural diversity. Those consequences need further data and evidence. Explain the calculation before discussing a possible stakeholder effect.</a:t>
            </a:r>
          </a:p>
          <a:p xmlns:a="http://schemas.openxmlformats.org/drawingml/2006/main">
            <a:r>
              <a:t/>
            </a:r>
          </a:p>
          <a:p xmlns:a="http://schemas.openxmlformats.org/drawingml/2006/main">
            <a:r>
              <a:t>Rule A ranks M1 first</a:t>
            </a:r>
          </a:p>
          <a:p xmlns:a="http://schemas.openxmlformats.org/drawingml/2006/main">
            <a:r>
              <a:t>Rule B ranks M2 first</a:t>
            </a:r>
          </a:p>
          <a:p xmlns:a="http://schemas.openxmlformats.org/drawingml/2006/main">
            <a:r>
              <a:t>The changed weights alter whose item receives exposure</a:t>
            </a:r>
          </a:p>
          <a:p xmlns:a="http://schemas.openxmlformats.org/drawingml/2006/main">
            <a:r>
              <a:t/>
            </a:r>
          </a:p>
          <a:p xmlns:a="http://schemas.openxmlformats.org/drawingml/2006/main">
            <a:r>
              <a:t>Practice prompt: Explain why M2 overtakes M1. Name one outcome this chart cannot establish.</a:t>
            </a:r>
          </a:p>
          <a:p xmlns:a="http://schemas.openxmlformats.org/drawingml/2006/main">
            <a:r>
              <a:t/>
            </a:r>
          </a:p>
          <a:p xmlns:a="http://schemas.openxmlformats.org/drawingml/2006/main">
            <a:r>
              <a:t>Source: Bomfim et al., Digital Society for the IB Diploma, Hodder, 2022. Printed pages cited per slide. Original paraphrase. Textbook connection: pp. 85.</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priority rule could classify tickets as high, medium or low urgency. An association rule could identify that customers who buy bread also often buy soup. The first assigns a label, while the second describes a relationship in data. A shop might use that association to place items together, but the purchases could reflect weather, promotions or customer habits. The association alone does not establish that buying bread causes soup purchases. These distinctions also matter when a system predicts interests or labels a person as risky.</a:t>
            </a:r>
          </a:p>
          <a:p xmlns:a="http://schemas.openxmlformats.org/drawingml/2006/main">
            <a:r>
              <a:t/>
            </a:r>
          </a:p>
          <a:p xmlns:a="http://schemas.openxmlformats.org/drawingml/2006/main">
            <a:r>
              <a:t>Classifying assigns records to a category</a:t>
            </a:r>
          </a:p>
          <a:p xmlns:a="http://schemas.openxmlformats.org/drawingml/2006/main">
            <a:r>
              <a:t>Associating identifies patterns of items occurring together</a:t>
            </a:r>
          </a:p>
          <a:p xmlns:a="http://schemas.openxmlformats.org/drawingml/2006/main">
            <a:r>
              <a:t>A pattern can guide a decision without proving its cause</a:t>
            </a:r>
          </a:p>
          <a:p xmlns:a="http://schemas.openxmlformats.org/drawingml/2006/main">
            <a:r>
              <a:t/>
            </a:r>
          </a:p>
          <a:p xmlns:a="http://schemas.openxmlformats.org/drawingml/2006/main">
            <a:r>
              <a:t>Checkpoint: A database shows two products are often bought together. What does this support?</a:t>
            </a:r>
          </a:p>
          <a:p xmlns:a="http://schemas.openxmlformats.org/drawingml/2006/main">
            <a:r>
              <a:t>Options: An association in the observed data / Proof that one purchase causes the other / A guaranteed future purchase</a:t>
            </a:r>
          </a:p>
          <a:p xmlns:a="http://schemas.openxmlformats.org/drawingml/2006/main">
            <a:r>
              <a:t>Practice answer: An association in the observed data. Co-occurrence supports a pattern. Causal claims need more evidence.</a:t>
            </a:r>
          </a:p>
          <a:p xmlns:a="http://schemas.openxmlformats.org/drawingml/2006/main">
            <a:r>
              <a:t/>
            </a:r>
          </a:p>
          <a:p xmlns:a="http://schemas.openxmlformats.org/drawingml/2006/main">
            <a:r>
              <a:t>Source: Bomfim et al., Digital Society for the IB Diploma, Hodder, 2022. Printed pages cited per slide. Original paraphrase. Textbook connection: pp. 85.</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score formula has explicit weights that we selected. A machine-learning system can instead fit parameters to examples. A neural network is one family of learned models. You do not need its detailed mathematics this week. You do need to explain that people choose the training data, the objective and the measures used to judge success. A learned result does not escape human decisions. We return to model training in chapter 3.6. This slide establishes the connection between data, algorithms and artificial intelligence required by the chapter reflection.</a:t>
            </a:r>
          </a:p>
          <a:p xmlns:a="http://schemas.openxmlformats.org/drawingml/2006/main">
            <a:r>
              <a:t/>
            </a:r>
          </a:p>
          <a:p xmlns:a="http://schemas.openxmlformats.org/drawingml/2006/main">
            <a:r>
              <a:t>A hand-written rule specifies the calculation</a:t>
            </a:r>
          </a:p>
          <a:p xmlns:a="http://schemas.openxmlformats.org/drawingml/2006/main">
            <a:r>
              <a:t>A learned model uses data to adjust internal parameters</a:t>
            </a:r>
          </a:p>
          <a:p xmlns:a="http://schemas.openxmlformats.org/drawingml/2006/main">
            <a:r>
              <a:t>Both depend on chosen data, objectives and evaluation</a:t>
            </a:r>
          </a:p>
          <a:p xmlns:a="http://schemas.openxmlformats.org/drawingml/2006/main">
            <a:r>
              <a:t/>
            </a:r>
          </a:p>
          <a:p xmlns:a="http://schemas.openxmlformats.org/drawingml/2006/main">
            <a:r>
              <a:t/>
            </a:r>
          </a:p>
          <a:p xmlns:a="http://schemas.openxmlformats.org/drawingml/2006/main">
            <a:r>
              <a:t>Source: IB Digital Society guide, local April 2026 revision, sections 3.1H, 3.2A–E and 4.2A–D. Assessment authority. Textbook connection: pp. 85, 91.</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recommender involves several algorithms and human decisions rather than one magical rule. A system might validate records, remove ineligible items, score the remaining items, sort them and display a selection. The display creates new interactions that can be recorded for later recommendations. A software developer has to implement and test this pipeline. The model can change over time. When explaining a real system, distinguish steps established by a source from steps that you infer or propose. Our simplified model lets us practise tracing, but it does not reveal a platform’s private code.</a:t>
            </a:r>
          </a:p>
          <a:p xmlns:a="http://schemas.openxmlformats.org/drawingml/2006/main">
            <a:r>
              <a:t/>
            </a:r>
          </a:p>
          <a:p xmlns:a="http://schemas.openxmlformats.org/drawingml/2006/main">
            <a:r>
              <a:t>Collect and validate the input</a:t>
            </a:r>
          </a:p>
          <a:p xmlns:a="http://schemas.openxmlformats.org/drawingml/2006/main">
            <a:r>
              <a:t>Apply eligibility rules and calculate scores</a:t>
            </a:r>
          </a:p>
          <a:p xmlns:a="http://schemas.openxmlformats.org/drawingml/2006/main">
            <a:r>
              <a:t>Order results, present them and record the response</a:t>
            </a:r>
          </a:p>
          <a:p xmlns:a="http://schemas.openxmlformats.org/drawingml/2006/main">
            <a:r>
              <a:t/>
            </a:r>
          </a:p>
          <a:p xmlns:a="http://schemas.openxmlformats.org/drawingml/2006/main">
            <a:r>
              <a:t>Practice prompt: Identify where a missing value could change this pipeline.</a:t>
            </a:r>
          </a:p>
          <a:p xmlns:a="http://schemas.openxmlformats.org/drawingml/2006/main">
            <a:r>
              <a:t/>
            </a:r>
          </a:p>
          <a:p xmlns:a="http://schemas.openxmlformats.org/drawingml/2006/main">
            <a:r>
              <a:t>Source: Bomfim et al., Digital Society for the IB Diploma, Hodder, 2022. Printed pages cited per slide. Original paraphrase. Textbook connection: pp. 84–85, 91.</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your notes before trying this changed context. A library has more requests than available copies. It can favour earliest requests, longest waiting time or students whose course requires the book. Choose an objective and describe a finite rule. Do not copy the museum formula without checking whether its inputs make sense. Explain one group that might lose priority and one piece of evidence you would need to judge the result. This is practice for transfer. Your teacher will use your explanation to identify the next teaching step.</a:t>
            </a:r>
          </a:p>
          <a:p xmlns:a="http://schemas.openxmlformats.org/drawingml/2006/main">
            <a:r>
              <a:t/>
            </a:r>
          </a:p>
          <a:p xmlns:a="http://schemas.openxmlformats.org/drawingml/2006/main">
            <a:r>
              <a:t>A school library prioritizes reservation requests</a:t>
            </a:r>
          </a:p>
          <a:p xmlns:a="http://schemas.openxmlformats.org/drawingml/2006/main">
            <a:r>
              <a:t>Propose one input, one condition and a stopping rule</a:t>
            </a:r>
          </a:p>
          <a:p xmlns:a="http://schemas.openxmlformats.org/drawingml/2006/main">
            <a:r>
              <a:t>Explain a possible loss caused by your chosen priority</a:t>
            </a:r>
          </a:p>
          <a:p xmlns:a="http://schemas.openxmlformats.org/drawingml/2006/main">
            <a:r>
              <a:t/>
            </a:r>
          </a:p>
          <a:p xmlns:a="http://schemas.openxmlformats.org/drawingml/2006/main">
            <a:r>
              <a:t>Practice prompt: Explain your proposed rule in four sentences. Keep the input, procedure, output and trade-off distinct.</a:t>
            </a:r>
          </a:p>
          <a:p xmlns:a="http://schemas.openxmlformats.org/drawingml/2006/main">
            <a:r>
              <a:t/>
            </a:r>
          </a:p>
          <a:p xmlns:a="http://schemas.openxmlformats.org/drawingml/2006/main">
            <a:r>
              <a:t>Source: Bomfim et al., Digital Society for the IB Diploma, Hodder, 2022. Printed pages cited per slide. Original paraphrase. Textbook connection: pp. 81–85.</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half of chapter 3.2 gives us the vocabulary and mechanisms needed for the second half. A strong answer can trace a decision using a specific input, then explain an effect for a stakeholder and judge the rule against a criterion. The next deck teaches bias, human judgement, transparency and accountability. Chapter pages 90 and 91 add HL extension activities, CAS and reflection. This SL route uses the reflection connections but does not assign the HL tasks. Return to a slide you could not explain without notes and try a new example after a delay.</a:t>
            </a:r>
          </a:p>
          <a:p xmlns:a="http://schemas.openxmlformats.org/drawingml/2006/main">
            <a:r>
              <a:t/>
            </a:r>
          </a:p>
          <a:p xmlns:a="http://schemas.openxmlformats.org/drawingml/2006/main">
            <a:r>
              <a:t>Describe characteristics and components</a:t>
            </a:r>
          </a:p>
          <a:p xmlns:a="http://schemas.openxmlformats.org/drawingml/2006/main">
            <a:r>
              <a:t>Trace a representation and explain its use</a:t>
            </a:r>
          </a:p>
          <a:p xmlns:a="http://schemas.openxmlformats.org/drawingml/2006/main">
            <a:r>
              <a:t>Evaluate the decisions and dilemmas behind a result</a:t>
            </a:r>
          </a:p>
          <a:p xmlns:a="http://schemas.openxmlformats.org/drawingml/2006/main">
            <a:r>
              <a:t/>
            </a:r>
          </a:p>
          <a:p xmlns:a="http://schemas.openxmlformats.org/drawingml/2006/main">
            <a:r>
              <a:t>Checkpoint: Which explanation demonstrates a mechanism?</a:t>
            </a:r>
          </a:p>
          <a:p xmlns:a="http://schemas.openxmlformats.org/drawingml/2006/main">
            <a:r>
              <a:t>Options: Algorithms have a large impact / A larger discovery weight lifts M1, so it is displayed before M2 / Platforms are powerful</a:t>
            </a:r>
          </a:p>
          <a:p xmlns:a="http://schemas.openxmlformats.org/drawingml/2006/main">
            <a:r>
              <a:t>Practice answer: A larger discovery weight lifts M1, so it is displayed before M2. The explanation connects a specific change in the rule to an observable output.</a:t>
            </a:r>
          </a:p>
          <a:p xmlns:a="http://schemas.openxmlformats.org/drawingml/2006/main">
            <a:r>
              <a:t>Related browser practice: ../paper-practice.html</a:t>
            </a:r>
          </a:p>
          <a:p xmlns:a="http://schemas.openxmlformats.org/drawingml/2006/main">
            <a:r>
              <a:t/>
            </a:r>
          </a:p>
          <a:p xmlns:a="http://schemas.openxmlformats.org/drawingml/2006/main">
            <a:r>
              <a:t>Source: Bomfim et al., Digital Society for the IB Diploma, Hodder, 2022. Printed pages cited per slide. Original paraphrase. Textbook connection: pp. 81–91.</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f86d8470e640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2593fb424141b2" /><Relationship Type="http://schemas.openxmlformats.org/officeDocument/2006/relationships/slideLayout" Target="/ppt/slideLayouts/slideLayout1.xml" Id="R2a0f747598ec48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0f747598ec48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bd0a2840db49a8" /><Relationship Type="http://schemas.openxmlformats.org/officeDocument/2006/relationships/image" Target="/ppt/media/image.png" Id="R0595b4bdd2604af0" /><Relationship Type="http://schemas.openxmlformats.org/officeDocument/2006/relationships/notesSlide" Target="/ppt/notesSlides/notesSlide1.xml" Id="Ra469fe26f8b34b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cb506936e94d08" /><Relationship Type="http://schemas.openxmlformats.org/officeDocument/2006/relationships/notesSlide" Target="/ppt/notesSlides/notesSlide2.xml" Id="R6cfa4469c1be4a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c068a1dfcb4cc6" /><Relationship Type="http://schemas.openxmlformats.org/officeDocument/2006/relationships/notesSlide" Target="/ppt/notesSlides/notesSlide3.xml" Id="Rf8ed4ea8ced645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7ba56c6aa54e40" /><Relationship Type="http://schemas.openxmlformats.org/officeDocument/2006/relationships/notesSlide" Target="/ppt/notesSlides/notesSlide4.xml" Id="Rc304489fb1a64b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87d62fb597a451f" /><Relationship Type="http://schemas.openxmlformats.org/officeDocument/2006/relationships/notesSlide" Target="/ppt/notesSlides/notesSlide5.xml" Id="R62d77d952f8d44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80e0489a45446d" /><Relationship Type="http://schemas.openxmlformats.org/officeDocument/2006/relationships/notesSlide" Target="/ppt/notesSlides/notesSlide6.xml" Id="Rc737c985c1ac4c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13579206e94304" /><Relationship Type="http://schemas.openxmlformats.org/officeDocument/2006/relationships/image" Target="/ppt/media/image2.png" Id="Rf718e044bb1746ad" /><Relationship Type="http://schemas.openxmlformats.org/officeDocument/2006/relationships/notesSlide" Target="/ppt/notesSlides/notesSlide7.xml" Id="R6af7e74b2bc442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74a42a4a3940fa" /><Relationship Type="http://schemas.openxmlformats.org/officeDocument/2006/relationships/notesSlide" Target="/ppt/notesSlides/notesSlide8.xml" Id="Rf16285c08b4b4b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9f7de4bffaa4aba" /><Relationship Type="http://schemas.openxmlformats.org/officeDocument/2006/relationships/notesSlide" Target="/ppt/notesSlides/notesSlide9.xml" Id="Rc1bd8942319a44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aaf8606b5f24b25" /><Relationship Type="http://schemas.openxmlformats.org/officeDocument/2006/relationships/notesSlide" Target="/ppt/notesSlides/notesSlide10.xml" Id="Rf937dd68d5fa44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ae8f9359fd44507" /><Relationship Type="http://schemas.openxmlformats.org/officeDocument/2006/relationships/notesSlide" Target="/ppt/notesSlides/notesSlide11.xml" Id="R9d3d2675800f45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342171bac4740aa" /><Relationship Type="http://schemas.openxmlformats.org/officeDocument/2006/relationships/notesSlide" Target="/ppt/notesSlides/notesSlide12.xml" Id="Ree90f7e5cbef47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5fa517d646b4200" /><Relationship Type="http://schemas.openxmlformats.org/officeDocument/2006/relationships/notesSlide" Target="/ppt/notesSlides/notesSlide13.xml" Id="Racd582f0fcbc4b0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6c5796a99094b1b" /><Relationship Type="http://schemas.openxmlformats.org/officeDocument/2006/relationships/notesSlide" Target="/ppt/notesSlides/notesSlide14.xml" Id="Raaad90c818404b7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96290075d934acf" /><Relationship Type="http://schemas.openxmlformats.org/officeDocument/2006/relationships/chart" Target="/ppt/slides/charts/chart1.xml" Id="R0d366e4fa7da4b7c" /><Relationship Type="http://schemas.openxmlformats.org/officeDocument/2006/relationships/notesSlide" Target="/ppt/notesSlides/notesSlide15.xml" Id="Rc5212d480ec04a7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d927522a95e45f0" /><Relationship Type="http://schemas.openxmlformats.org/officeDocument/2006/relationships/notesSlide" Target="/ppt/notesSlides/notesSlide16.xml" Id="R992332f7a9e245a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1a02001e419482e" /><Relationship Type="http://schemas.openxmlformats.org/officeDocument/2006/relationships/notesSlide" Target="/ppt/notesSlides/notesSlide17.xml" Id="R4dd5b817e2204c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4ac4ee86ec047bc" /><Relationship Type="http://schemas.openxmlformats.org/officeDocument/2006/relationships/image" Target="/ppt/media/image3.png" Id="R81662b259aa446be" /><Relationship Type="http://schemas.openxmlformats.org/officeDocument/2006/relationships/notesSlide" Target="/ppt/notesSlides/notesSlide18.xml" Id="Raad2dd105f27407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1155bdea00245bc" /><Relationship Type="http://schemas.openxmlformats.org/officeDocument/2006/relationships/notesSlide" Target="/ppt/notesSlides/notesSlide19.xml" Id="Rd99dc273b622486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8ed3e18352a4fb4" /><Relationship Type="http://schemas.openxmlformats.org/officeDocument/2006/relationships/notesSlide" Target="/ppt/notesSlides/notesSlide20.xml" Id="Rf3ee392e59c54b7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Synthetic score (invented teaching data)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plotArea>
      <c:barChart>
        <c:barDir val="col"/>
        <c:grouping val="clustered"/>
        <c:varyColors val="0"/>
        <c:ser>
          <c:idx val="0"/>
          <c:order val="0"/>
          <c:tx>
            <c:v>Rule A</c:v>
          </c:tx>
          <c:spPr>
            <a:solidFill xmlns:a="http://schemas.openxmlformats.org/drawingml/2006/main">
              <a:srgbClr val="167C76"/>
            </a:solidFill>
          </c:spPr>
          <c:cat>
            <c:strRef>
              <c:f>'Chart Data'!$A$2:$A$4</c:f>
              <c:strCache>
                <c:ptCount val="3"/>
                <c:pt idx="0">
                  <c:v>M1</c:v>
                </c:pt>
                <c:pt idx="1">
                  <c:v>M2</c:v>
                </c:pt>
                <c:pt idx="2">
                  <c:v>M3</c:v>
                </c:pt>
              </c:strCache>
            </c:strRef>
          </c:cat>
          <c:val>
            <c:numRef>
              <c:f>'Chart Data'!$B$2:$B$4</c:f>
              <c:numCache>
                <c:formatCode>0.0</c:formatCode>
                <c:ptCount val="3"/>
                <c:pt idx="0">
                  <c:v>2.8</c:v>
                </c:pt>
                <c:pt idx="1">
                  <c:v>0.9</c:v>
                </c:pt>
                <c:pt idx="2">
                  <c:v>0.5</c:v>
                </c:pt>
              </c:numCache>
            </c:numRef>
          </c:val>
        </c:ser>
        <c:ser>
          <c:idx val="1"/>
          <c:order val="1"/>
          <c:tx>
            <c:v>Rule B</c:v>
          </c:tx>
          <c:spPr>
            <a:solidFill xmlns:a="http://schemas.openxmlformats.org/drawingml/2006/main">
              <a:srgbClr val="D98E3D"/>
            </a:solidFill>
          </c:spPr>
          <c:cat>
            <c:strRef>
              <c:f>'Chart Data'!$C$2:$C$4</c:f>
              <c:strCache>
                <c:ptCount val="3"/>
                <c:pt idx="0">
                  <c:v>M1</c:v>
                </c:pt>
                <c:pt idx="1">
                  <c:v>M2</c:v>
                </c:pt>
                <c:pt idx="2">
                  <c:v>M3</c:v>
                </c:pt>
              </c:strCache>
            </c:strRef>
          </c:cat>
          <c:val>
            <c:numRef>
              <c:f>'Chart Data'!$D$2:$D$4</c:f>
              <c:numCache>
                <c:formatCode>0.0</c:formatCode>
                <c:ptCount val="3"/>
                <c:pt idx="0">
                  <c:v>2.6</c:v>
                </c:pt>
                <c:pt idx="1">
                  <c:v>2.7</c:v>
                </c:pt>
                <c:pt idx="2">
                  <c:v>1.5</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7F5EE"/>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7F5E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0B77A6-A4E9-4AB3-B0E3-E3BDAD66406F}"/>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F6D41390-E18E-41AA-8267-B82FBCDBE5CD}"/>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 feed is a sequence of decisions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595b4bdd2604af0"/>
          <a:stretch xmlns:a="http://schemas.openxmlformats.org/drawingml/2006/main"/>
        </p:blipFill>
        <p:spPr>
          <a:xfrm xmlns:a="http://schemas.openxmlformats.org/drawingml/2006/main">
            <a:off x="3054721" y="1657350"/>
            <a:ext cx="6082558"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09F991E-29A7-430A-96C4-30CFD9CBCED4}"/>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C76"/>
                </a:solidFill>
                <a:latin typeface="Helvetica Neue"/>
                <a:ea typeface="Helvetica Neue"/>
                <a:cs typeface="Helvetica Neue"/>
              </a:defRPr>
            </a:pPr>
            <a:r>
              <a:rPr sz="2025" b="1">
                <a:solidFill>
                  <a:srgbClr val="167C76"/>
                </a:solidFill>
                <a:latin typeface="Helvetica Neue"/>
                <a:ea typeface="Helvetica Neue"/>
                <a:cs typeface="Helvetica Neue"/>
              </a:rPr>
              <a:t>Which items are available?</a:t>
            </a:r>
          </a:p>
        </p:txBody>
      </p:sp>
      <p:sp>
        <p:nvSpPr>
          <p:cNvPr id="5" name="">
            <a:extLst xmlns:a="http://schemas.openxmlformats.org/drawingml/2006/main">
              <a:ext uri="{FF2B5EF4-FFF2-40B4-BE49-F238E27FC236}">
                <a16:creationId xmlns:a16="http://schemas.microsoft.com/office/drawing/2014/main" id="{80AB742B-9AD7-4B18-B606-39363AB8B624}"/>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Predict one input and one output of the school feed.</a:t>
            </a:r>
          </a:p>
        </p:txBody>
      </p:sp>
      <p:sp>
        <p:nvSpPr>
          <p:cNvPr id="6" name="">
            <a:extLst xmlns:a="http://schemas.openxmlformats.org/drawingml/2006/main">
              <a:ext uri="{FF2B5EF4-FFF2-40B4-BE49-F238E27FC236}">
                <a16:creationId xmlns:a16="http://schemas.microsoft.com/office/drawing/2014/main" id="{904BABBC-9E9E-4457-963F-618E75E480A4}"/>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81  /  Original teaching explanation</a:t>
            </a:r>
          </a:p>
        </p:txBody>
      </p:sp>
      <p:sp>
        <p:nvSpPr>
          <p:cNvPr id="7" name="">
            <a:extLst xmlns:a="http://schemas.openxmlformats.org/drawingml/2006/main">
              <a:ext uri="{FF2B5EF4-FFF2-40B4-BE49-F238E27FC236}">
                <a16:creationId xmlns:a16="http://schemas.microsoft.com/office/drawing/2014/main" id="{1EC9BA0E-0E85-4C95-AB84-1EB995CA4C79}"/>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01 / 20</a:t>
            </a:r>
          </a:p>
        </p:txBody>
      </p:sp>
    </p:spTree>
    <p:extLst>
      <p:ext uri="{BB962C8B-B14F-4D97-AF65-F5344CB8AC3E}">
        <p14:creationId xmlns:p14="http://schemas.microsoft.com/office/powerpoint/2010/main" val="1198590640"/>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661F9C-1EAC-4D4B-B2F4-70DD9447F42C}"/>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F4D59F17-4102-4CA3-9764-F48C3F49684F}"/>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An algorithm</a:t>
            </a:r>
          </a:p>
        </p:txBody>
      </p:sp>
      <p:sp>
        <p:nvSpPr>
          <p:cNvPr id="3" name="">
            <a:extLst xmlns:a="http://schemas.openxmlformats.org/drawingml/2006/main">
              <a:ext uri="{FF2B5EF4-FFF2-40B4-BE49-F238E27FC236}">
                <a16:creationId xmlns:a16="http://schemas.microsoft.com/office/drawing/2014/main" id="{22816896-0DA5-4406-B4B5-736E3EB2A5AF}"/>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6"/>
                </a:solidFill>
                <a:latin typeface="Helvetica Neue"/>
                <a:ea typeface="Helvetica Neue"/>
                <a:cs typeface="Helvetica Neue"/>
              </a:defRPr>
            </a:pPr>
            <a:r>
              <a:rPr sz="2700" b="1">
                <a:solidFill>
                  <a:srgbClr val="167C76"/>
                </a:solidFill>
                <a:latin typeface="Helvetica Neue"/>
                <a:ea typeface="Helvetica Neue"/>
                <a:cs typeface="Helvetica Neue"/>
              </a:rPr>
              <a:t>A precise sequence of instructions for a task</a:t>
            </a:r>
          </a:p>
        </p:txBody>
      </p:sp>
      <p:sp>
        <p:nvSpPr>
          <p:cNvPr id="4" name="">
            <a:extLst xmlns:a="http://schemas.openxmlformats.org/drawingml/2006/main">
              <a:ext uri="{FF2B5EF4-FFF2-40B4-BE49-F238E27FC236}">
                <a16:creationId xmlns:a16="http://schemas.microsoft.com/office/drawing/2014/main" id="{19171DCF-83C9-4D08-8609-B5C174DEEFA0}"/>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Input: the information available to the rule</a:t>
            </a:r>
          </a:p>
        </p:txBody>
      </p:sp>
      <p:sp>
        <p:nvSpPr>
          <p:cNvPr id="5" name="">
            <a:extLst xmlns:a="http://schemas.openxmlformats.org/drawingml/2006/main">
              <a:ext uri="{FF2B5EF4-FFF2-40B4-BE49-F238E27FC236}">
                <a16:creationId xmlns:a16="http://schemas.microsoft.com/office/drawing/2014/main" id="{6D00912C-314E-4B4B-8FDE-6C12788D0F82}"/>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Output: the result produced by the instructions</a:t>
            </a:r>
          </a:p>
        </p:txBody>
      </p:sp>
      <p:sp>
        <p:nvSpPr>
          <p:cNvPr id="6" name="">
            <a:extLst xmlns:a="http://schemas.openxmlformats.org/drawingml/2006/main">
              <a:ext uri="{FF2B5EF4-FFF2-40B4-BE49-F238E27FC236}">
                <a16:creationId xmlns:a16="http://schemas.microsoft.com/office/drawing/2014/main" id="{84C32C3D-DCA6-405E-AEB9-3A6F98212EDA}"/>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81–82  /  Original teaching explanation</a:t>
            </a:r>
          </a:p>
        </p:txBody>
      </p:sp>
      <p:sp>
        <p:nvSpPr>
          <p:cNvPr id="7" name="">
            <a:extLst xmlns:a="http://schemas.openxmlformats.org/drawingml/2006/main">
              <a:ext uri="{FF2B5EF4-FFF2-40B4-BE49-F238E27FC236}">
                <a16:creationId xmlns:a16="http://schemas.microsoft.com/office/drawing/2014/main" id="{F9231FE9-65D5-4384-A5BA-1DB482398082}"/>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02 / 20</a:t>
            </a:r>
          </a:p>
        </p:txBody>
      </p:sp>
    </p:spTree>
    <p:extLst>
      <p:ext uri="{BB962C8B-B14F-4D97-AF65-F5344CB8AC3E}">
        <p14:creationId xmlns:p14="http://schemas.microsoft.com/office/powerpoint/2010/main" val="1238541264"/>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53ED43-1F78-4D3C-8354-A9198AFDBDDE}"/>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1D007CAD-2AFC-4DFE-A2A3-44A00593A0C6}"/>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Characteristics of a usable algorithm</a:t>
            </a:r>
          </a:p>
        </p:txBody>
      </p:sp>
      <p:sp>
        <p:nvSpPr>
          <p:cNvPr id="3" name="">
            <a:extLst xmlns:a="http://schemas.openxmlformats.org/drawingml/2006/main">
              <a:ext uri="{FF2B5EF4-FFF2-40B4-BE49-F238E27FC236}">
                <a16:creationId xmlns:a16="http://schemas.microsoft.com/office/drawing/2014/main" id="{3DB9335D-0493-42EA-A873-3A49F8CBE627}"/>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6"/>
                </a:solidFill>
                <a:latin typeface="Helvetica Neue"/>
                <a:ea typeface="Helvetica Neue"/>
                <a:cs typeface="Helvetica Neue"/>
              </a:defRPr>
            </a:pPr>
            <a:r>
              <a:rPr sz="2700" b="1">
                <a:solidFill>
                  <a:srgbClr val="167C76"/>
                </a:solidFill>
                <a:latin typeface="Helvetica Neue"/>
                <a:ea typeface="Helvetica Neue"/>
                <a:cs typeface="Helvetica Neue"/>
              </a:rPr>
              <a:t>Unambiguous: each instruction has one clear meaning</a:t>
            </a:r>
          </a:p>
        </p:txBody>
      </p:sp>
      <p:sp>
        <p:nvSpPr>
          <p:cNvPr id="4" name="">
            <a:extLst xmlns:a="http://schemas.openxmlformats.org/drawingml/2006/main">
              <a:ext uri="{FF2B5EF4-FFF2-40B4-BE49-F238E27FC236}">
                <a16:creationId xmlns:a16="http://schemas.microsoft.com/office/drawing/2014/main" id="{47156E36-ABC8-44D3-AD0A-1FB0FD9333AE}"/>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Finite: the procedure eventually stops</a:t>
            </a:r>
          </a:p>
        </p:txBody>
      </p:sp>
      <p:sp>
        <p:nvSpPr>
          <p:cNvPr id="5" name="">
            <a:extLst xmlns:a="http://schemas.openxmlformats.org/drawingml/2006/main">
              <a:ext uri="{FF2B5EF4-FFF2-40B4-BE49-F238E27FC236}">
                <a16:creationId xmlns:a16="http://schemas.microsoft.com/office/drawing/2014/main" id="{52536E1D-3663-4E0E-98F5-26CFD8C1FFD1}"/>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Well defined and feasible: inputs, outputs and steps are possible</a:t>
            </a:r>
          </a:p>
        </p:txBody>
      </p:sp>
      <p:sp>
        <p:nvSpPr>
          <p:cNvPr id="6" name="">
            <a:extLst xmlns:a="http://schemas.openxmlformats.org/drawingml/2006/main">
              <a:ext uri="{FF2B5EF4-FFF2-40B4-BE49-F238E27FC236}">
                <a16:creationId xmlns:a16="http://schemas.microsoft.com/office/drawing/2014/main" id="{3DC43594-27E1-40C2-9D87-008019DCF341}"/>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Repair “keep checking until you find a good item.” Define good and a stopping rule.</a:t>
            </a:r>
          </a:p>
        </p:txBody>
      </p:sp>
      <p:sp>
        <p:nvSpPr>
          <p:cNvPr id="7" name="">
            <a:extLst xmlns:a="http://schemas.openxmlformats.org/drawingml/2006/main">
              <a:ext uri="{FF2B5EF4-FFF2-40B4-BE49-F238E27FC236}">
                <a16:creationId xmlns:a16="http://schemas.microsoft.com/office/drawing/2014/main" id="{1BD37380-BC79-4473-8467-D19653B35822}"/>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81–82  /  Original teaching explanation</a:t>
            </a:r>
          </a:p>
        </p:txBody>
      </p:sp>
      <p:sp>
        <p:nvSpPr>
          <p:cNvPr id="8" name="">
            <a:extLst xmlns:a="http://schemas.openxmlformats.org/drawingml/2006/main">
              <a:ext uri="{FF2B5EF4-FFF2-40B4-BE49-F238E27FC236}">
                <a16:creationId xmlns:a16="http://schemas.microsoft.com/office/drawing/2014/main" id="{20EEE71F-CB64-4DB9-A7FC-BD96F545DAF4}"/>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03 / 20</a:t>
            </a:r>
          </a:p>
        </p:txBody>
      </p:sp>
    </p:spTree>
    <p:extLst>
      <p:ext uri="{BB962C8B-B14F-4D97-AF65-F5344CB8AC3E}">
        <p14:creationId xmlns:p14="http://schemas.microsoft.com/office/powerpoint/2010/main" val="125093907"/>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F6CE9D-53C0-414B-921E-71333A95752A}"/>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4B4ACE79-5298-495E-87FC-F8B7F0A0AB9F}"/>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Variables hold values</a:t>
            </a:r>
          </a:p>
        </p:txBody>
      </p:sp>
      <p:sp>
        <p:nvSpPr>
          <p:cNvPr id="3" name="">
            <a:extLst xmlns:a="http://schemas.openxmlformats.org/drawingml/2006/main">
              <a:ext uri="{FF2B5EF4-FFF2-40B4-BE49-F238E27FC236}">
                <a16:creationId xmlns:a16="http://schemas.microsoft.com/office/drawing/2014/main" id="{E96839A6-7F4D-4449-8DFB-17A77F665D68}"/>
              </a:ext>
            </a:extLst>
          </p:cNvPr>
          <p:cNvSpPr>
            <a:spLocks xmlns:a="http://schemas.openxmlformats.org/drawingml/2006/main" noGrp="1"/>
          </p:cNvSpPr>
          <p:nvPr/>
        </p:nvSpPr>
        <p:spPr>
          <a:xfrm xmlns:a="http://schemas.openxmlformats.org/drawingml/2006/main">
            <a:off x="609600" y="1676400"/>
            <a:ext cx="4476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A variable is a named place for a value</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Its value may change as the rule runs</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A trace records those changes in order</a:t>
            </a:r>
          </a:p>
        </p:txBody>
      </p:sp>
      <p:graphicFrame>
        <p:nvGraphicFramePr>
          <p:cNvPr id="11" name=""/>
          <p:cNvGraphicFramePr/>
          <p:nvPr/>
        </p:nvGraphicFramePr>
        <p:xfrm>
          <a:off xmlns:a="http://schemas.openxmlformats.org/drawingml/2006/main" x="5429250" y="1752600"/>
          <a:ext xmlns:a="http://schemas.openxmlformats.org/drawingml/2006/main" cx="6153150" cy="2476500"/>
        </p:xfrm>
        <a:graphic xmlns:a="http://schemas.openxmlformats.org/drawingml/2006/main">
          <a:graphicData uri="http://schemas.openxmlformats.org/drawingml/2006/table">
            <a:tbl>
              <a:tblPr firstRow="1" bandRow="0"/>
              <a:tblGrid>
                <a:gridCol w="2051050"/>
                <a:gridCol w="2051050"/>
                <a:gridCol w="2051050"/>
              </a:tblGrid>
              <a:tr h="619125">
                <a:tc>
                  <a:txBody>
                    <a:bodyPr/>
                    <a:lstStyle/>
                    <a:p>
                      <a:r>
                        <a:rPr sz="1800" b="1">
                          <a:solidFill>
                            <a:srgbClr val="FFFFFF"/>
                          </a:solidFill>
                          <a:latin typeface="Helvetica Neue"/>
                          <a:ea typeface="Helvetica Neue"/>
                          <a:cs typeface="Helvetica Neue"/>
                        </a:rPr>
                        <a:t>Step</a:t>
                      </a:r>
                    </a:p>
                  </a:txBody>
                  <a:tcPr marL="91440" marR="91440" marT="45720" marB="45720">
                    <a:solidFill>
                      <a:srgbClr val="167C76"/>
                    </a:solidFill>
                  </a:tcPr>
                </a:tc>
                <a:tc>
                  <a:txBody>
                    <a:bodyPr/>
                    <a:lstStyle/>
                    <a:p>
                      <a:r>
                        <a:rPr sz="1800" b="1">
                          <a:solidFill>
                            <a:srgbClr val="FFFFFF"/>
                          </a:solidFill>
                          <a:latin typeface="Helvetica Neue"/>
                          <a:ea typeface="Helvetica Neue"/>
                          <a:cs typeface="Helvetica Neue"/>
                        </a:rPr>
                        <a:t>Instruction</a:t>
                      </a:r>
                    </a:p>
                  </a:txBody>
                  <a:tcPr marL="91440" marR="91440" marT="45720" marB="45720">
                    <a:solidFill>
                      <a:srgbClr val="167C76"/>
                    </a:solidFill>
                  </a:tcPr>
                </a:tc>
                <a:tc>
                  <a:txBody>
                    <a:bodyPr/>
                    <a:lstStyle/>
                    <a:p>
                      <a:r>
                        <a:rPr sz="1800" b="1">
                          <a:solidFill>
                            <a:srgbClr val="FFFFFF"/>
                          </a:solidFill>
                          <a:latin typeface="Helvetica Neue"/>
                          <a:ea typeface="Helvetica Neue"/>
                          <a:cs typeface="Helvetica Neue"/>
                        </a:rPr>
                        <a:t>total</a:t>
                      </a:r>
                    </a:p>
                  </a:txBody>
                  <a:tcPr marL="91440" marR="91440" marT="45720" marB="45720">
                    <a:solidFill>
                      <a:srgbClr val="167C76"/>
                    </a:solidFill>
                  </a:tcPr>
                </a:tc>
              </a:tr>
              <a:tr h="619125">
                <a:tc>
                  <a:txBody>
                    <a:bodyPr/>
                    <a:lstStyle/>
                    <a:p>
                      <a:r>
                        <a:rPr sz="1800" b="0">
                          <a:solidFill>
                            <a:srgbClr val="16333E"/>
                          </a:solidFill>
                          <a:latin typeface="Helvetica Neue"/>
                          <a:ea typeface="Helvetica Neue"/>
                          <a:cs typeface="Helvetica Neue"/>
                        </a:rPr>
                        <a:t>Start</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Set total to 0</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0</a:t>
                      </a:r>
                    </a:p>
                  </a:txBody>
                  <a:tcPr marL="91440" marR="91440" marT="45720" marB="45720">
                    <a:solidFill>
                      <a:srgbClr val="FFFFFF"/>
                    </a:solidFill>
                  </a:tcPr>
                </a:tc>
              </a:tr>
              <a:tr h="619125">
                <a:tc>
                  <a:txBody>
                    <a:bodyPr/>
                    <a:lstStyle/>
                    <a:p>
                      <a:r>
                        <a:rPr sz="1800" b="0">
                          <a:solidFill>
                            <a:srgbClr val="16333E"/>
                          </a:solidFill>
                          <a:latin typeface="Helvetica Neue"/>
                          <a:ea typeface="Helvetica Neue"/>
                          <a:cs typeface="Helvetica Neue"/>
                        </a:rPr>
                        <a:t>Item A</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Add 1</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1</a:t>
                      </a:r>
                    </a:p>
                  </a:txBody>
                  <a:tcPr marL="91440" marR="91440" marT="45720" marB="45720">
                    <a:solidFill>
                      <a:srgbClr val="FFFFFF"/>
                    </a:solidFill>
                  </a:tcPr>
                </a:tc>
              </a:tr>
              <a:tr h="619125">
                <a:tc>
                  <a:txBody>
                    <a:bodyPr/>
                    <a:lstStyle/>
                    <a:p>
                      <a:r>
                        <a:rPr sz="1800" b="0">
                          <a:solidFill>
                            <a:srgbClr val="16333E"/>
                          </a:solidFill>
                          <a:latin typeface="Helvetica Neue"/>
                          <a:ea typeface="Helvetica Neue"/>
                          <a:cs typeface="Helvetica Neue"/>
                        </a:rPr>
                        <a:t>Item B</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Add 1</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2</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484700E-9371-434A-88DE-865B8BA8FEC3}"/>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Checkpoint: Which best explains a variable?</a:t>
            </a:r>
          </a:p>
        </p:txBody>
      </p:sp>
      <p:sp>
        <p:nvSpPr>
          <p:cNvPr id="6" name="">
            <a:extLst xmlns:a="http://schemas.openxmlformats.org/drawingml/2006/main">
              <a:ext uri="{FF2B5EF4-FFF2-40B4-BE49-F238E27FC236}">
                <a16:creationId xmlns:a16="http://schemas.microsoft.com/office/drawing/2014/main" id="{E01E2A52-D62B-4020-A209-3A54CFE5DAC3}"/>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82  /  Original teaching explanation</a:t>
            </a:r>
          </a:p>
        </p:txBody>
      </p:sp>
      <p:sp>
        <p:nvSpPr>
          <p:cNvPr id="7" name="">
            <a:extLst xmlns:a="http://schemas.openxmlformats.org/drawingml/2006/main">
              <a:ext uri="{FF2B5EF4-FFF2-40B4-BE49-F238E27FC236}">
                <a16:creationId xmlns:a16="http://schemas.microsoft.com/office/drawing/2014/main" id="{C5B9E038-B250-4017-B828-482E415D0786}"/>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04 / 20</a:t>
            </a:r>
          </a:p>
        </p:txBody>
      </p:sp>
    </p:spTree>
    <p:extLst>
      <p:ext uri="{BB962C8B-B14F-4D97-AF65-F5344CB8AC3E}">
        <p14:creationId xmlns:p14="http://schemas.microsoft.com/office/powerpoint/2010/main" val="719058888"/>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79789F-A396-495E-A397-28450822C669}"/>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14EF3893-1AA6-4DE4-AB50-43D8332D30A5}"/>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Conditionals choose a branch</a:t>
            </a:r>
          </a:p>
        </p:txBody>
      </p:sp>
      <p:sp>
        <p:nvSpPr>
          <p:cNvPr id="3" name="">
            <a:extLst xmlns:a="http://schemas.openxmlformats.org/drawingml/2006/main">
              <a:ext uri="{FF2B5EF4-FFF2-40B4-BE49-F238E27FC236}">
                <a16:creationId xmlns:a16="http://schemas.microsoft.com/office/drawing/2014/main" id="{9CE18E74-4267-40E0-B200-6E723C8EED2C}"/>
              </a:ext>
            </a:extLst>
          </p:cNvPr>
          <p:cNvSpPr>
            <a:spLocks xmlns:a="http://schemas.openxmlformats.org/drawingml/2006/main" noGrp="1"/>
          </p:cNvSpPr>
          <p:nvPr/>
        </p:nvSpPr>
        <p:spPr>
          <a:xfrm xmlns:a="http://schemas.openxmlformats.org/drawingml/2006/main">
            <a:off x="609600" y="1752600"/>
            <a:ext cx="4572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IF a test is true, follow one branch</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ELSE, follow the other branch</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The boundary value matters</a:t>
            </a:r>
          </a:p>
        </p:txBody>
      </p:sp>
      <p:sp>
        <p:nvSpPr>
          <p:cNvPr id="4" name="">
            <a:extLst xmlns:a="http://schemas.openxmlformats.org/drawingml/2006/main">
              <a:ext uri="{FF2B5EF4-FFF2-40B4-BE49-F238E27FC236}">
                <a16:creationId xmlns:a16="http://schemas.microsoft.com/office/drawing/2014/main" id="{DC3675BA-487B-4E0C-AFC6-F2AF6F9891D1}"/>
              </a:ext>
            </a:extLst>
          </p:cNvPr>
          <p:cNvSpPr>
            <a:spLocks xmlns:a="http://schemas.openxmlformats.org/drawingml/2006/main" noGrp="1"/>
          </p:cNvSpPr>
          <p:nvPr/>
        </p:nvSpPr>
        <p:spPr>
          <a:xfrm xmlns:a="http://schemas.openxmlformats.org/drawingml/2006/main">
            <a:off x="5562600" y="1866900"/>
            <a:ext cx="60198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7C76"/>
                </a:solidFill>
                <a:latin typeface="Helvetica Neue"/>
                <a:ea typeface="Helvetica Neue"/>
                <a:cs typeface="Helvetica Neue"/>
              </a:defRPr>
            </a:pPr>
            <a:r>
              <a:rPr sz="2400" b="1">
                <a:solidFill>
                  <a:srgbClr val="167C76"/>
                </a:solidFill>
                <a:latin typeface="Helvetica Neue"/>
                <a:ea typeface="Helvetica Neue"/>
                <a:cs typeface="Helvetica Neue"/>
              </a:rPr>
              <a:t>IF duration &lt;= 60</a:t>
            </a:r>
          </a:p>
          <a:p xmlns:a="http://schemas.openxmlformats.org/drawingml/2006/main">
            <a:pPr>
              <a:defRPr sz="2400" b="1">
                <a:solidFill>
                  <a:srgbClr val="167C76"/>
                </a:solidFill>
                <a:latin typeface="Helvetica Neue"/>
                <a:ea typeface="Helvetica Neue"/>
                <a:cs typeface="Helvetica Neue"/>
              </a:defRPr>
            </a:pPr>
            <a:r>
              <a:rPr sz="2400" b="1">
                <a:solidFill>
                  <a:srgbClr val="167C76"/>
                </a:solidFill>
                <a:latin typeface="Helvetica Neue"/>
                <a:ea typeface="Helvetica Neue"/>
                <a:cs typeface="Helvetica Neue"/>
              </a:rPr>
              <a:t>    include item</a:t>
            </a:r>
          </a:p>
          <a:p xmlns:a="http://schemas.openxmlformats.org/drawingml/2006/main">
            <a:pPr>
              <a:defRPr sz="2400" b="1">
                <a:solidFill>
                  <a:srgbClr val="167C76"/>
                </a:solidFill>
                <a:latin typeface="Helvetica Neue"/>
                <a:ea typeface="Helvetica Neue"/>
                <a:cs typeface="Helvetica Neue"/>
              </a:defRPr>
            </a:pPr>
            <a:r>
              <a:rPr sz="2400" b="1">
                <a:solidFill>
                  <a:srgbClr val="167C76"/>
                </a:solidFill>
                <a:latin typeface="Helvetica Neue"/>
                <a:ea typeface="Helvetica Neue"/>
                <a:cs typeface="Helvetica Neue"/>
              </a:rPr>
              <a:t>ELSE</a:t>
            </a:r>
          </a:p>
          <a:p xmlns:a="http://schemas.openxmlformats.org/drawingml/2006/main">
            <a:pPr>
              <a:defRPr sz="2400" b="1">
                <a:solidFill>
                  <a:srgbClr val="167C76"/>
                </a:solidFill>
                <a:latin typeface="Helvetica Neue"/>
                <a:ea typeface="Helvetica Neue"/>
                <a:cs typeface="Helvetica Neue"/>
              </a:defRPr>
            </a:pPr>
            <a:r>
              <a:rPr sz="2400" b="1">
                <a:solidFill>
                  <a:srgbClr val="167C76"/>
                </a:solidFill>
                <a:latin typeface="Helvetica Neue"/>
                <a:ea typeface="Helvetica Neue"/>
                <a:cs typeface="Helvetica Neue"/>
              </a:rPr>
              <a:t>    exclude item</a:t>
            </a:r>
          </a:p>
        </p:txBody>
      </p:sp>
      <p:sp>
        <p:nvSpPr>
          <p:cNvPr id="5" name="">
            <a:extLst xmlns:a="http://schemas.openxmlformats.org/drawingml/2006/main">
              <a:ext uri="{FF2B5EF4-FFF2-40B4-BE49-F238E27FC236}">
                <a16:creationId xmlns:a16="http://schemas.microsoft.com/office/drawing/2014/main" id="{69A92307-C895-4B20-A2DE-93EDC56078E3}"/>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What happens to an item lasting exactly 60 seconds? What if duration is missing?</a:t>
            </a:r>
          </a:p>
        </p:txBody>
      </p:sp>
      <p:sp>
        <p:nvSpPr>
          <p:cNvPr id="6" name="">
            <a:extLst xmlns:a="http://schemas.openxmlformats.org/drawingml/2006/main">
              <a:ext uri="{FF2B5EF4-FFF2-40B4-BE49-F238E27FC236}">
                <a16:creationId xmlns:a16="http://schemas.microsoft.com/office/drawing/2014/main" id="{E48868A9-4DC7-44FA-9FEE-C27708280674}"/>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83  /  Original teaching explanation</a:t>
            </a:r>
          </a:p>
        </p:txBody>
      </p:sp>
      <p:sp>
        <p:nvSpPr>
          <p:cNvPr id="7" name="">
            <a:extLst xmlns:a="http://schemas.openxmlformats.org/drawingml/2006/main">
              <a:ext uri="{FF2B5EF4-FFF2-40B4-BE49-F238E27FC236}">
                <a16:creationId xmlns:a16="http://schemas.microsoft.com/office/drawing/2014/main" id="{E38527D4-D955-4355-B3E2-F78782DB8E2D}"/>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05 / 20</a:t>
            </a:r>
          </a:p>
        </p:txBody>
      </p:sp>
    </p:spTree>
    <p:extLst>
      <p:ext uri="{BB962C8B-B14F-4D97-AF65-F5344CB8AC3E}">
        <p14:creationId xmlns:p14="http://schemas.microsoft.com/office/powerpoint/2010/main" val="676039435"/>
      </p:ext>
    </p:extLst>
  </p:cSld>
</p:sld>
</file>

<file path=ppt/slides/slide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0CDA2F-27B8-49A6-9980-7A524A2EB309}"/>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8D055AFE-2A41-46F4-A31A-6179D55D5009}"/>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Loops repeat a set of instructions</a:t>
            </a:r>
          </a:p>
        </p:txBody>
      </p:sp>
      <p:sp>
        <p:nvSpPr>
          <p:cNvPr id="3" name="">
            <a:extLst xmlns:a="http://schemas.openxmlformats.org/drawingml/2006/main">
              <a:ext uri="{FF2B5EF4-FFF2-40B4-BE49-F238E27FC236}">
                <a16:creationId xmlns:a16="http://schemas.microsoft.com/office/drawing/2014/main" id="{B02E67A5-BBEA-4A5B-8491-1D2ED341B3EE}"/>
              </a:ext>
            </a:extLst>
          </p:cNvPr>
          <p:cNvSpPr>
            <a:spLocks xmlns:a="http://schemas.openxmlformats.org/drawingml/2006/main" noGrp="1"/>
          </p:cNvSpPr>
          <p:nvPr/>
        </p:nvSpPr>
        <p:spPr>
          <a:xfrm xmlns:a="http://schemas.openxmlformats.org/drawingml/2006/main">
            <a:off x="609600" y="1752600"/>
            <a:ext cx="4572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FOR each item, apply the same test</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Update the trace after each item</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Stop when the finite list ends</a:t>
            </a:r>
          </a:p>
        </p:txBody>
      </p:sp>
      <p:sp>
        <p:nvSpPr>
          <p:cNvPr id="4" name="">
            <a:extLst xmlns:a="http://schemas.openxmlformats.org/drawingml/2006/main">
              <a:ext uri="{FF2B5EF4-FFF2-40B4-BE49-F238E27FC236}">
                <a16:creationId xmlns:a16="http://schemas.microsoft.com/office/drawing/2014/main" id="{5C405AD2-F449-4847-B178-60C667C3845F}"/>
              </a:ext>
            </a:extLst>
          </p:cNvPr>
          <p:cNvSpPr>
            <a:spLocks xmlns:a="http://schemas.openxmlformats.org/drawingml/2006/main" noGrp="1"/>
          </p:cNvSpPr>
          <p:nvPr/>
        </p:nvSpPr>
        <p:spPr>
          <a:xfrm xmlns:a="http://schemas.openxmlformats.org/drawingml/2006/main">
            <a:off x="5562600" y="1866900"/>
            <a:ext cx="60198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7C76"/>
                </a:solidFill>
                <a:latin typeface="Helvetica Neue"/>
                <a:ea typeface="Helvetica Neue"/>
                <a:cs typeface="Helvetica Neue"/>
              </a:defRPr>
            </a:pPr>
            <a:r>
              <a:rPr sz="2400" b="1">
                <a:solidFill>
                  <a:srgbClr val="167C76"/>
                </a:solidFill>
                <a:latin typeface="Helvetica Neue"/>
                <a:ea typeface="Helvetica Neue"/>
                <a:cs typeface="Helvetica Neue"/>
              </a:rPr>
              <a:t>total = 0</a:t>
            </a:r>
          </a:p>
          <a:p xmlns:a="http://schemas.openxmlformats.org/drawingml/2006/main">
            <a:pPr>
              <a:defRPr sz="2400" b="1">
                <a:solidFill>
                  <a:srgbClr val="167C76"/>
                </a:solidFill>
                <a:latin typeface="Helvetica Neue"/>
                <a:ea typeface="Helvetica Neue"/>
                <a:cs typeface="Helvetica Neue"/>
              </a:defRPr>
            </a:pPr>
            <a:r>
              <a:rPr sz="2400" b="1">
                <a:solidFill>
                  <a:srgbClr val="167C76"/>
                </a:solidFill>
                <a:latin typeface="Helvetica Neue"/>
                <a:ea typeface="Helvetica Neue"/>
                <a:cs typeface="Helvetica Neue"/>
              </a:rPr>
              <a:t>FOR each item in the list</a:t>
            </a:r>
          </a:p>
          <a:p xmlns:a="http://schemas.openxmlformats.org/drawingml/2006/main">
            <a:pPr>
              <a:defRPr sz="2400" b="1">
                <a:solidFill>
                  <a:srgbClr val="167C76"/>
                </a:solidFill>
                <a:latin typeface="Helvetica Neue"/>
                <a:ea typeface="Helvetica Neue"/>
                <a:cs typeface="Helvetica Neue"/>
              </a:defRPr>
            </a:pPr>
            <a:r>
              <a:rPr sz="2400" b="1">
                <a:solidFill>
                  <a:srgbClr val="167C76"/>
                </a:solidFill>
                <a:latin typeface="Helvetica Neue"/>
                <a:ea typeface="Helvetica Neue"/>
                <a:cs typeface="Helvetica Neue"/>
              </a:rPr>
              <a:t>    IF duration &lt;= 60</a:t>
            </a:r>
          </a:p>
          <a:p xmlns:a="http://schemas.openxmlformats.org/drawingml/2006/main">
            <a:pPr>
              <a:defRPr sz="2400" b="1">
                <a:solidFill>
                  <a:srgbClr val="167C76"/>
                </a:solidFill>
                <a:latin typeface="Helvetica Neue"/>
                <a:ea typeface="Helvetica Neue"/>
                <a:cs typeface="Helvetica Neue"/>
              </a:defRPr>
            </a:pPr>
            <a:r>
              <a:rPr sz="2400" b="1">
                <a:solidFill>
                  <a:srgbClr val="167C76"/>
                </a:solidFill>
                <a:latin typeface="Helvetica Neue"/>
                <a:ea typeface="Helvetica Neue"/>
                <a:cs typeface="Helvetica Neue"/>
              </a:rPr>
              <a:t>        total = total + 1</a:t>
            </a:r>
          </a:p>
          <a:p xmlns:a="http://schemas.openxmlformats.org/drawingml/2006/main">
            <a:pPr>
              <a:defRPr sz="2400" b="1">
                <a:solidFill>
                  <a:srgbClr val="167C76"/>
                </a:solidFill>
                <a:latin typeface="Helvetica Neue"/>
                <a:ea typeface="Helvetica Neue"/>
                <a:cs typeface="Helvetica Neue"/>
              </a:defRPr>
            </a:pPr>
            <a:r>
              <a:rPr sz="2400" b="1">
                <a:solidFill>
                  <a:srgbClr val="167C76"/>
                </a:solidFill>
                <a:latin typeface="Helvetica Neue"/>
                <a:ea typeface="Helvetica Neue"/>
                <a:cs typeface="Helvetica Neue"/>
              </a:rPr>
              <a:t>OUTPUT total</a:t>
            </a:r>
          </a:p>
        </p:txBody>
      </p:sp>
      <p:sp>
        <p:nvSpPr>
          <p:cNvPr id="5" name="">
            <a:extLst xmlns:a="http://schemas.openxmlformats.org/drawingml/2006/main">
              <a:ext uri="{FF2B5EF4-FFF2-40B4-BE49-F238E27FC236}">
                <a16:creationId xmlns:a16="http://schemas.microsoft.com/office/drawing/2014/main" id="{5D31791A-E790-409E-9D24-AFEFF6313B48}"/>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Trace durations 30, 75 and 60. How many items pass?</a:t>
            </a:r>
          </a:p>
        </p:txBody>
      </p:sp>
      <p:sp>
        <p:nvSpPr>
          <p:cNvPr id="6" name="">
            <a:extLst xmlns:a="http://schemas.openxmlformats.org/drawingml/2006/main">
              <a:ext uri="{FF2B5EF4-FFF2-40B4-BE49-F238E27FC236}">
                <a16:creationId xmlns:a16="http://schemas.microsoft.com/office/drawing/2014/main" id="{D1CE17F0-7311-4F4D-A122-33A0B5E540B4}"/>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83  /  Original teaching explanation</a:t>
            </a:r>
          </a:p>
        </p:txBody>
      </p:sp>
      <p:sp>
        <p:nvSpPr>
          <p:cNvPr id="7" name="">
            <a:extLst xmlns:a="http://schemas.openxmlformats.org/drawingml/2006/main">
              <a:ext uri="{FF2B5EF4-FFF2-40B4-BE49-F238E27FC236}">
                <a16:creationId xmlns:a16="http://schemas.microsoft.com/office/drawing/2014/main" id="{7ED9E3E5-F7BB-4B47-840B-D16A8D8C9FB1}"/>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06 / 20</a:t>
            </a:r>
          </a:p>
        </p:txBody>
      </p:sp>
    </p:spTree>
    <p:extLst>
      <p:ext uri="{BB962C8B-B14F-4D97-AF65-F5344CB8AC3E}">
        <p14:creationId xmlns:p14="http://schemas.microsoft.com/office/powerpoint/2010/main" val="2063840754"/>
      </p:ext>
    </p:extLst>
  </p:cSld>
</p:sld>
</file>

<file path=ppt/slides/slide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95C74E-7170-42EB-95D5-4CB5BDF658E2}"/>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C2E33348-DE1E-43EF-A6E3-4981AB20D55E}"/>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One procedure, several representations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718e044bb1746ad"/>
          <a:stretch xmlns:a="http://schemas.openxmlformats.org/drawingml/2006/main"/>
        </p:blipFill>
        <p:spPr>
          <a:xfrm xmlns:a="http://schemas.openxmlformats.org/drawingml/2006/main">
            <a:off x="3032695" y="1657350"/>
            <a:ext cx="6126610"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2CEFFF4-6037-43C8-A3D1-DE94A64CDFBE}"/>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C76"/>
                </a:solidFill>
                <a:latin typeface="Helvetica Neue"/>
                <a:ea typeface="Helvetica Neue"/>
                <a:cs typeface="Helvetica Neue"/>
              </a:defRPr>
            </a:pPr>
            <a:r>
              <a:rPr sz="2025" b="1">
                <a:solidFill>
                  <a:srgbClr val="167C76"/>
                </a:solidFill>
                <a:latin typeface="Helvetica Neue"/>
                <a:ea typeface="Helvetica Neue"/>
                <a:cs typeface="Helvetica Neue"/>
              </a:rPr>
              <a:t>Natural language explains a procedure in words</a:t>
            </a:r>
          </a:p>
        </p:txBody>
      </p:sp>
      <p:sp>
        <p:nvSpPr>
          <p:cNvPr id="5" name="">
            <a:extLst xmlns:a="http://schemas.openxmlformats.org/drawingml/2006/main">
              <a:ext uri="{FF2B5EF4-FFF2-40B4-BE49-F238E27FC236}">
                <a16:creationId xmlns:a16="http://schemas.microsoft.com/office/drawing/2014/main" id="{1A88A710-A550-44F2-A4E4-17C5E81CB3A7}"/>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Trace the YES and NO paths. Which shape holds the condition? Keep the boundary identical.</a:t>
            </a:r>
          </a:p>
        </p:txBody>
      </p:sp>
      <p:sp>
        <p:nvSpPr>
          <p:cNvPr id="6" name="">
            <a:extLst xmlns:a="http://schemas.openxmlformats.org/drawingml/2006/main">
              <a:ext uri="{FF2B5EF4-FFF2-40B4-BE49-F238E27FC236}">
                <a16:creationId xmlns:a16="http://schemas.microsoft.com/office/drawing/2014/main" id="{5C24A6FF-C89E-4175-9A9D-4AB3863E4722}"/>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83  /  Original teaching explanation</a:t>
            </a:r>
          </a:p>
        </p:txBody>
      </p:sp>
      <p:sp>
        <p:nvSpPr>
          <p:cNvPr id="7" name="">
            <a:extLst xmlns:a="http://schemas.openxmlformats.org/drawingml/2006/main">
              <a:ext uri="{FF2B5EF4-FFF2-40B4-BE49-F238E27FC236}">
                <a16:creationId xmlns:a16="http://schemas.microsoft.com/office/drawing/2014/main" id="{B0FF82D9-8F35-4B5B-936B-8C0CD82F7307}"/>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07 / 20</a:t>
            </a:r>
          </a:p>
        </p:txBody>
      </p:sp>
    </p:spTree>
    <p:extLst>
      <p:ext uri="{BB962C8B-B14F-4D97-AF65-F5344CB8AC3E}">
        <p14:creationId xmlns:p14="http://schemas.microsoft.com/office/powerpoint/2010/main" val="1444428553"/>
      </p:ext>
    </p:extLst>
  </p:cSld>
</p:sld>
</file>

<file path=ppt/slides/slide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203011-5C0B-4618-8936-739716049C27}"/>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0D97E40D-BA27-4E52-AF17-E9E10C67CBB1}"/>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Algorithm, pseudocode and code</a:t>
            </a:r>
          </a:p>
        </p:txBody>
      </p:sp>
      <p:sp>
        <p:nvSpPr>
          <p:cNvPr id="3" name="">
            <a:extLst xmlns:a="http://schemas.openxmlformats.org/drawingml/2006/main">
              <a:ext uri="{FF2B5EF4-FFF2-40B4-BE49-F238E27FC236}">
                <a16:creationId xmlns:a16="http://schemas.microsoft.com/office/drawing/2014/main" id="{939CA1E8-8D00-4787-935B-22C08C9A6047}"/>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6"/>
                </a:solidFill>
                <a:latin typeface="Helvetica Neue"/>
                <a:ea typeface="Helvetica Neue"/>
                <a:cs typeface="Helvetica Neue"/>
              </a:defRPr>
            </a:pPr>
            <a:r>
              <a:rPr sz="2700" b="1">
                <a:solidFill>
                  <a:srgbClr val="167C76"/>
                </a:solidFill>
                <a:latin typeface="Helvetica Neue"/>
                <a:ea typeface="Helvetica Neue"/>
                <a:cs typeface="Helvetica Neue"/>
              </a:rPr>
              <a:t>Algorithm: the underlying procedure</a:t>
            </a:r>
          </a:p>
        </p:txBody>
      </p:sp>
      <p:sp>
        <p:nvSpPr>
          <p:cNvPr id="4" name="">
            <a:extLst xmlns:a="http://schemas.openxmlformats.org/drawingml/2006/main">
              <a:ext uri="{FF2B5EF4-FFF2-40B4-BE49-F238E27FC236}">
                <a16:creationId xmlns:a16="http://schemas.microsoft.com/office/drawing/2014/main" id="{AAB9572A-72BB-4B19-90C1-B78DE05B5A89}"/>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Pseudocode: a readable planning representation</a:t>
            </a:r>
          </a:p>
        </p:txBody>
      </p:sp>
      <p:sp>
        <p:nvSpPr>
          <p:cNvPr id="5" name="">
            <a:extLst xmlns:a="http://schemas.openxmlformats.org/drawingml/2006/main">
              <a:ext uri="{FF2B5EF4-FFF2-40B4-BE49-F238E27FC236}">
                <a16:creationId xmlns:a16="http://schemas.microsoft.com/office/drawing/2014/main" id="{393F023F-AF8E-42B8-8756-B4A1B0451360}"/>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Code: instructions written for a language and runtime</a:t>
            </a:r>
          </a:p>
        </p:txBody>
      </p:sp>
      <p:sp>
        <p:nvSpPr>
          <p:cNvPr id="6" name="">
            <a:extLst xmlns:a="http://schemas.openxmlformats.org/drawingml/2006/main">
              <a:ext uri="{FF2B5EF4-FFF2-40B4-BE49-F238E27FC236}">
                <a16:creationId xmlns:a16="http://schemas.microsoft.com/office/drawing/2014/main" id="{4B4755D7-989E-4AF2-A021-094FB80F4BF0}"/>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Checkpoint: Which should remain the same when a rule moves from prose to code?</a:t>
            </a:r>
          </a:p>
        </p:txBody>
      </p:sp>
      <p:sp>
        <p:nvSpPr>
          <p:cNvPr id="7" name="">
            <a:extLst xmlns:a="http://schemas.openxmlformats.org/drawingml/2006/main">
              <a:ext uri="{FF2B5EF4-FFF2-40B4-BE49-F238E27FC236}">
                <a16:creationId xmlns:a16="http://schemas.microsoft.com/office/drawing/2014/main" id="{1052F903-9653-43B6-9BD5-DFFAD26AD1E6}"/>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83–84  /  Original teaching explanation</a:t>
            </a:r>
          </a:p>
        </p:txBody>
      </p:sp>
      <p:sp>
        <p:nvSpPr>
          <p:cNvPr id="8" name="">
            <a:extLst xmlns:a="http://schemas.openxmlformats.org/drawingml/2006/main">
              <a:ext uri="{FF2B5EF4-FFF2-40B4-BE49-F238E27FC236}">
                <a16:creationId xmlns:a16="http://schemas.microsoft.com/office/drawing/2014/main" id="{BC8CDCFE-C3AC-444D-9C79-5FF0A2DAF767}"/>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08 / 20</a:t>
            </a:r>
          </a:p>
        </p:txBody>
      </p:sp>
    </p:spTree>
    <p:extLst>
      <p:ext uri="{BB962C8B-B14F-4D97-AF65-F5344CB8AC3E}">
        <p14:creationId xmlns:p14="http://schemas.microsoft.com/office/powerpoint/2010/main" val="163021641"/>
      </p:ext>
    </p:extLst>
  </p:cSld>
</p:sld>
</file>

<file path=ppt/slides/slide9.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256C372-70A0-4BFB-83DA-E8715DABCACF}"/>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3B4F85B7-48F6-467C-A19D-F4450CD275A0}"/>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Searching finds a target</a:t>
            </a:r>
          </a:p>
        </p:txBody>
      </p:sp>
      <p:sp>
        <p:nvSpPr>
          <p:cNvPr id="3" name="">
            <a:extLst xmlns:a="http://schemas.openxmlformats.org/drawingml/2006/main">
              <a:ext uri="{FF2B5EF4-FFF2-40B4-BE49-F238E27FC236}">
                <a16:creationId xmlns:a16="http://schemas.microsoft.com/office/drawing/2014/main" id="{92865556-00E2-4B41-8961-9B2BCEEF6819}"/>
              </a:ext>
            </a:extLst>
          </p:cNvPr>
          <p:cNvSpPr>
            <a:spLocks xmlns:a="http://schemas.openxmlformats.org/drawingml/2006/main" noGrp="1"/>
          </p:cNvSpPr>
          <p:nvPr/>
        </p:nvSpPr>
        <p:spPr>
          <a:xfrm xmlns:a="http://schemas.openxmlformats.org/drawingml/2006/main">
            <a:off x="609600" y="1676400"/>
            <a:ext cx="4476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Linear search checks records one at a time</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Stop at the first match, or at the end</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A failed search must still terminate</a:t>
            </a:r>
          </a:p>
        </p:txBody>
      </p:sp>
      <p:graphicFrame>
        <p:nvGraphicFramePr>
          <p:cNvPr id="11" name=""/>
          <p:cNvGraphicFramePr/>
          <p:nvPr/>
        </p:nvGraphicFramePr>
        <p:xfrm>
          <a:off xmlns:a="http://schemas.openxmlformats.org/drawingml/2006/main" x="5429250" y="1752600"/>
          <a:ext xmlns:a="http://schemas.openxmlformats.org/drawingml/2006/main" cx="6153150" cy="2476500"/>
        </p:xfrm>
        <a:graphic xmlns:a="http://schemas.openxmlformats.org/drawingml/2006/main">
          <a:graphicData uri="http://schemas.openxmlformats.org/drawingml/2006/table">
            <a:tbl>
              <a:tblPr firstRow="1" bandRow="0"/>
              <a:tblGrid>
                <a:gridCol w="2051050"/>
                <a:gridCol w="2051050"/>
                <a:gridCol w="2051050"/>
              </a:tblGrid>
              <a:tr h="619125">
                <a:tc>
                  <a:txBody>
                    <a:bodyPr/>
                    <a:lstStyle/>
                    <a:p>
                      <a:r>
                        <a:rPr sz="1800" b="1">
                          <a:solidFill>
                            <a:srgbClr val="FFFFFF"/>
                          </a:solidFill>
                          <a:latin typeface="Helvetica Neue"/>
                          <a:ea typeface="Helvetica Neue"/>
                          <a:cs typeface="Helvetica Neue"/>
                        </a:rPr>
                        <a:t>Comparison</a:t>
                      </a:r>
                    </a:p>
                  </a:txBody>
                  <a:tcPr marL="91440" marR="91440" marT="45720" marB="45720">
                    <a:solidFill>
                      <a:srgbClr val="167C76"/>
                    </a:solidFill>
                  </a:tcPr>
                </a:tc>
                <a:tc>
                  <a:txBody>
                    <a:bodyPr/>
                    <a:lstStyle/>
                    <a:p>
                      <a:r>
                        <a:rPr sz="1800" b="1">
                          <a:solidFill>
                            <a:srgbClr val="FFFFFF"/>
                          </a:solidFill>
                          <a:latin typeface="Helvetica Neue"/>
                          <a:ea typeface="Helvetica Neue"/>
                          <a:cs typeface="Helvetica Neue"/>
                        </a:rPr>
                        <a:t>Record</a:t>
                      </a:r>
                    </a:p>
                  </a:txBody>
                  <a:tcPr marL="91440" marR="91440" marT="45720" marB="45720">
                    <a:solidFill>
                      <a:srgbClr val="167C76"/>
                    </a:solidFill>
                  </a:tcPr>
                </a:tc>
                <a:tc>
                  <a:txBody>
                    <a:bodyPr/>
                    <a:lstStyle/>
                    <a:p>
                      <a:r>
                        <a:rPr sz="1800" b="1">
                          <a:solidFill>
                            <a:srgbClr val="FFFFFF"/>
                          </a:solidFill>
                          <a:latin typeface="Helvetica Neue"/>
                          <a:ea typeface="Helvetica Neue"/>
                          <a:cs typeface="Helvetica Neue"/>
                        </a:rPr>
                        <a:t>Match B3?</a:t>
                      </a:r>
                    </a:p>
                  </a:txBody>
                  <a:tcPr marL="91440" marR="91440" marT="45720" marB="45720">
                    <a:solidFill>
                      <a:srgbClr val="167C76"/>
                    </a:solidFill>
                  </a:tcPr>
                </a:tc>
              </a:tr>
              <a:tr h="619125">
                <a:tc>
                  <a:txBody>
                    <a:bodyPr/>
                    <a:lstStyle/>
                    <a:p>
                      <a:r>
                        <a:rPr sz="1800" b="0">
                          <a:solidFill>
                            <a:srgbClr val="16333E"/>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B4</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No</a:t>
                      </a:r>
                    </a:p>
                  </a:txBody>
                  <a:tcPr marL="91440" marR="91440" marT="45720" marB="45720">
                    <a:solidFill>
                      <a:srgbClr val="FFFFFF"/>
                    </a:solidFill>
                  </a:tcPr>
                </a:tc>
              </a:tr>
              <a:tr h="619125">
                <a:tc>
                  <a:txBody>
                    <a:bodyPr/>
                    <a:lstStyle/>
                    <a:p>
                      <a:r>
                        <a:rPr sz="1800" b="0">
                          <a:solidFill>
                            <a:srgbClr val="16333E"/>
                          </a:solidFill>
                          <a:latin typeface="Helvetica Neue"/>
                          <a:ea typeface="Helvetica Neue"/>
                          <a:cs typeface="Helvetica Neue"/>
                        </a:rPr>
                        <a:t>2</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B1</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No</a:t>
                      </a:r>
                    </a:p>
                  </a:txBody>
                  <a:tcPr marL="91440" marR="91440" marT="45720" marB="45720">
                    <a:solidFill>
                      <a:srgbClr val="FFFFFF"/>
                    </a:solidFill>
                  </a:tcPr>
                </a:tc>
              </a:tr>
              <a:tr h="619125">
                <a:tc>
                  <a:txBody>
                    <a:bodyPr/>
                    <a:lstStyle/>
                    <a:p>
                      <a:r>
                        <a:rPr sz="1800" b="0">
                          <a:solidFill>
                            <a:srgbClr val="16333E"/>
                          </a:solidFill>
                          <a:latin typeface="Helvetica Neue"/>
                          <a:ea typeface="Helvetica Neue"/>
                          <a:cs typeface="Helvetica Neue"/>
                        </a:rPr>
                        <a:t>3</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B3</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Yes: stop</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6343479-AAFC-4D54-A23A-AA5826850B21}"/>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Predict the number of comparisons for B2 and for B9 before opening TraceLab.</a:t>
            </a:r>
          </a:p>
        </p:txBody>
      </p:sp>
      <p:sp>
        <p:nvSpPr>
          <p:cNvPr id="6" name="">
            <a:extLst xmlns:a="http://schemas.openxmlformats.org/drawingml/2006/main">
              <a:ext uri="{FF2B5EF4-FFF2-40B4-BE49-F238E27FC236}">
                <a16:creationId xmlns:a16="http://schemas.microsoft.com/office/drawing/2014/main" id="{F1D8FD65-EAD2-4CBF-9637-2DE13ABB0947}"/>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84  /  Original teaching explanation</a:t>
            </a:r>
          </a:p>
        </p:txBody>
      </p:sp>
      <p:sp>
        <p:nvSpPr>
          <p:cNvPr id="7" name="">
            <a:extLst xmlns:a="http://schemas.openxmlformats.org/drawingml/2006/main">
              <a:ext uri="{FF2B5EF4-FFF2-40B4-BE49-F238E27FC236}">
                <a16:creationId xmlns:a16="http://schemas.microsoft.com/office/drawing/2014/main" id="{AF7A437B-131C-4E94-9E1E-581207377ADD}"/>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09 / 20</a:t>
            </a:r>
          </a:p>
        </p:txBody>
      </p:sp>
    </p:spTree>
    <p:extLst>
      <p:ext uri="{BB962C8B-B14F-4D97-AF65-F5344CB8AC3E}">
        <p14:creationId xmlns:p14="http://schemas.microsoft.com/office/powerpoint/2010/main" val="1540723976"/>
      </p:ext>
    </p:extLst>
  </p:cSld>
</p:sld>
</file>

<file path=ppt/slides/slide10.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3D2EFB-8332-4A32-B103-79A70DA7FD22}"/>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2D378998-465E-4AB7-922E-C6071B9D9584}"/>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Sorting changes the order</a:t>
            </a:r>
          </a:p>
        </p:txBody>
      </p:sp>
      <p:sp>
        <p:nvSpPr>
          <p:cNvPr id="3" name="">
            <a:extLst xmlns:a="http://schemas.openxmlformats.org/drawingml/2006/main">
              <a:ext uri="{FF2B5EF4-FFF2-40B4-BE49-F238E27FC236}">
                <a16:creationId xmlns:a16="http://schemas.microsoft.com/office/drawing/2014/main" id="{558962FC-F84F-4F7E-853E-6391914CD993}"/>
              </a:ext>
            </a:extLst>
          </p:cNvPr>
          <p:cNvSpPr>
            <a:spLocks xmlns:a="http://schemas.openxmlformats.org/drawingml/2006/main" noGrp="1"/>
          </p:cNvSpPr>
          <p:nvPr/>
        </p:nvSpPr>
        <p:spPr>
          <a:xfrm xmlns:a="http://schemas.openxmlformats.org/drawingml/2006/main">
            <a:off x="609600" y="1676400"/>
            <a:ext cx="4476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Sort arranges existing items by a stated key</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Bubble sort compares adjacent values</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One pass may leave part of the list unsorted</a:t>
            </a:r>
          </a:p>
        </p:txBody>
      </p:sp>
      <p:graphicFrame>
        <p:nvGraphicFramePr>
          <p:cNvPr id="11" name=""/>
          <p:cNvGraphicFramePr/>
          <p:nvPr/>
        </p:nvGraphicFramePr>
        <p:xfrm>
          <a:off xmlns:a="http://schemas.openxmlformats.org/drawingml/2006/main" x="5429250" y="1752600"/>
          <a:ext xmlns:a="http://schemas.openxmlformats.org/drawingml/2006/main" cx="6153150" cy="2476500"/>
        </p:xfrm>
        <a:graphic xmlns:a="http://schemas.openxmlformats.org/drawingml/2006/main">
          <a:graphicData uri="http://schemas.openxmlformats.org/drawingml/2006/table">
            <a:tbl>
              <a:tblPr firstRow="1" bandRow="0"/>
              <a:tblGrid>
                <a:gridCol w="2051050"/>
                <a:gridCol w="2051050"/>
                <a:gridCol w="2051050"/>
              </a:tblGrid>
              <a:tr h="619125">
                <a:tc>
                  <a:txBody>
                    <a:bodyPr/>
                    <a:lstStyle/>
                    <a:p>
                      <a:r>
                        <a:rPr sz="1800" b="1">
                          <a:solidFill>
                            <a:srgbClr val="FFFFFF"/>
                          </a:solidFill>
                          <a:latin typeface="Helvetica Neue"/>
                          <a:ea typeface="Helvetica Neue"/>
                          <a:cs typeface="Helvetica Neue"/>
                        </a:rPr>
                        <a:t>State</a:t>
                      </a:r>
                    </a:p>
                  </a:txBody>
                  <a:tcPr marL="91440" marR="91440" marT="45720" marB="45720">
                    <a:solidFill>
                      <a:srgbClr val="167C76"/>
                    </a:solidFill>
                  </a:tcPr>
                </a:tc>
                <a:tc>
                  <a:txBody>
                    <a:bodyPr/>
                    <a:lstStyle/>
                    <a:p>
                      <a:r>
                        <a:rPr sz="1800" b="1">
                          <a:solidFill>
                            <a:srgbClr val="FFFFFF"/>
                          </a:solidFill>
                          <a:latin typeface="Helvetica Neue"/>
                          <a:ea typeface="Helvetica Neue"/>
                          <a:cs typeface="Helvetica Neue"/>
                        </a:rPr>
                        <a:t>Values</a:t>
                      </a:r>
                    </a:p>
                  </a:txBody>
                  <a:tcPr marL="91440" marR="91440" marT="45720" marB="45720">
                    <a:solidFill>
                      <a:srgbClr val="167C76"/>
                    </a:solidFill>
                  </a:tcPr>
                </a:tc>
                <a:tc>
                  <a:txBody>
                    <a:bodyPr/>
                    <a:lstStyle/>
                    <a:p>
                      <a:r>
                        <a:rPr sz="1800" b="1">
                          <a:solidFill>
                            <a:srgbClr val="FFFFFF"/>
                          </a:solidFill>
                          <a:latin typeface="Helvetica Neue"/>
                          <a:ea typeface="Helvetica Neue"/>
                          <a:cs typeface="Helvetica Neue"/>
                        </a:rPr>
                        <a:t>Action</a:t>
                      </a:r>
                    </a:p>
                  </a:txBody>
                  <a:tcPr marL="91440" marR="91440" marT="45720" marB="45720">
                    <a:solidFill>
                      <a:srgbClr val="167C76"/>
                    </a:solidFill>
                  </a:tcPr>
                </a:tc>
              </a:tr>
              <a:tr h="619125">
                <a:tc>
                  <a:txBody>
                    <a:bodyPr/>
                    <a:lstStyle/>
                    <a:p>
                      <a:r>
                        <a:rPr sz="1800" b="0">
                          <a:solidFill>
                            <a:srgbClr val="16333E"/>
                          </a:solidFill>
                          <a:latin typeface="Helvetica Neue"/>
                          <a:ea typeface="Helvetica Neue"/>
                          <a:cs typeface="Helvetica Neue"/>
                        </a:rPr>
                        <a:t>Start</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3, 1, 2</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Compare first pair</a:t>
                      </a:r>
                    </a:p>
                  </a:txBody>
                  <a:tcPr marL="91440" marR="91440" marT="45720" marB="45720">
                    <a:solidFill>
                      <a:srgbClr val="FFFFFF"/>
                    </a:solidFill>
                  </a:tcPr>
                </a:tc>
              </a:tr>
              <a:tr h="619125">
                <a:tc>
                  <a:txBody>
                    <a:bodyPr/>
                    <a:lstStyle/>
                    <a:p>
                      <a:r>
                        <a:rPr sz="1800" b="0">
                          <a:solidFill>
                            <a:srgbClr val="16333E"/>
                          </a:solidFill>
                          <a:latin typeface="Helvetica Neue"/>
                          <a:ea typeface="Helvetica Neue"/>
                          <a:cs typeface="Helvetica Neue"/>
                        </a:rPr>
                        <a:t>After swap</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1, 3, 2</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Compare next pair</a:t>
                      </a:r>
                    </a:p>
                  </a:txBody>
                  <a:tcPr marL="91440" marR="91440" marT="45720" marB="45720">
                    <a:solidFill>
                      <a:srgbClr val="FFFFFF"/>
                    </a:solidFill>
                  </a:tcPr>
                </a:tc>
              </a:tr>
              <a:tr h="619125">
                <a:tc>
                  <a:txBody>
                    <a:bodyPr/>
                    <a:lstStyle/>
                    <a:p>
                      <a:r>
                        <a:rPr sz="1800" b="0">
                          <a:solidFill>
                            <a:srgbClr val="16333E"/>
                          </a:solidFill>
                          <a:latin typeface="Helvetica Neue"/>
                          <a:ea typeface="Helvetica Neue"/>
                          <a:cs typeface="Helvetica Neue"/>
                        </a:rPr>
                        <a:t>After swap</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1, 2, 3</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End this pass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0154722-2E06-4262-9006-F6C2452ECB58}"/>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Try one pass on 4, 2, 3, 1. Has the whole list finished sorting?</a:t>
            </a:r>
          </a:p>
        </p:txBody>
      </p:sp>
      <p:sp>
        <p:nvSpPr>
          <p:cNvPr id="6" name="">
            <a:extLst xmlns:a="http://schemas.openxmlformats.org/drawingml/2006/main">
              <a:ext uri="{FF2B5EF4-FFF2-40B4-BE49-F238E27FC236}">
                <a16:creationId xmlns:a16="http://schemas.microsoft.com/office/drawing/2014/main" id="{92839FF0-7F80-497B-B99E-545930FB38BF}"/>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84  /  Original teaching explanation</a:t>
            </a:r>
          </a:p>
        </p:txBody>
      </p:sp>
      <p:sp>
        <p:nvSpPr>
          <p:cNvPr id="7" name="">
            <a:extLst xmlns:a="http://schemas.openxmlformats.org/drawingml/2006/main">
              <a:ext uri="{FF2B5EF4-FFF2-40B4-BE49-F238E27FC236}">
                <a16:creationId xmlns:a16="http://schemas.microsoft.com/office/drawing/2014/main" id="{460FBA58-ED4A-44A6-9E33-F975CBF5D8A1}"/>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10 / 20</a:t>
            </a:r>
          </a:p>
        </p:txBody>
      </p:sp>
    </p:spTree>
    <p:extLst>
      <p:ext uri="{BB962C8B-B14F-4D97-AF65-F5344CB8AC3E}">
        <p14:creationId xmlns:p14="http://schemas.microsoft.com/office/powerpoint/2010/main" val="571305440"/>
      </p:ext>
    </p:extLst>
  </p:cSld>
</p:sld>
</file>

<file path=ppt/slides/slide1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20D7F1-1035-4D4F-8A15-8C3F2B5D25F5}"/>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793BD54D-2522-40C4-A8B9-4B7D8D714886}"/>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Filtering and counting</a:t>
            </a:r>
          </a:p>
        </p:txBody>
      </p:sp>
      <p:sp>
        <p:nvSpPr>
          <p:cNvPr id="3" name="">
            <a:extLst xmlns:a="http://schemas.openxmlformats.org/drawingml/2006/main">
              <a:ext uri="{FF2B5EF4-FFF2-40B4-BE49-F238E27FC236}">
                <a16:creationId xmlns:a16="http://schemas.microsoft.com/office/drawing/2014/main" id="{6773EA40-A5DA-4B76-AC2C-A9E711E622FB}"/>
              </a:ext>
            </a:extLst>
          </p:cNvPr>
          <p:cNvSpPr>
            <a:spLocks xmlns:a="http://schemas.openxmlformats.org/drawingml/2006/main" noGrp="1"/>
          </p:cNvSpPr>
          <p:nvPr/>
        </p:nvSpPr>
        <p:spPr>
          <a:xfrm xmlns:a="http://schemas.openxmlformats.org/drawingml/2006/main">
            <a:off x="609600" y="1676400"/>
            <a:ext cx="4476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Filter: keep records that meet a condition</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Count: report how many records meet it</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Sort: order records, including those a filter might remove</a:t>
            </a:r>
          </a:p>
        </p:txBody>
      </p:sp>
      <p:graphicFrame>
        <p:nvGraphicFramePr>
          <p:cNvPr id="10" name=""/>
          <p:cNvGraphicFramePr/>
          <p:nvPr/>
        </p:nvGraphicFramePr>
        <p:xfrm>
          <a:off xmlns:a="http://schemas.openxmlformats.org/drawingml/2006/main" x="5429250" y="1752600"/>
          <a:ext xmlns:a="http://schemas.openxmlformats.org/drawingml/2006/main" cx="6153150" cy="2476500"/>
        </p:xfrm>
        <a:graphic xmlns:a="http://schemas.openxmlformats.org/drawingml/2006/main">
          <a:graphicData uri="http://schemas.openxmlformats.org/drawingml/2006/table">
            <a:tbl>
              <a:tblPr firstRow="1" bandRow="0"/>
              <a:tblGrid>
                <a:gridCol w="3076575"/>
                <a:gridCol w="3076575"/>
              </a:tblGrid>
              <a:tr h="619125">
                <a:tc>
                  <a:txBody>
                    <a:bodyPr/>
                    <a:lstStyle/>
                    <a:p>
                      <a:r>
                        <a:rPr sz="1800" b="1">
                          <a:solidFill>
                            <a:srgbClr val="FFFFFF"/>
                          </a:solidFill>
                          <a:latin typeface="Helvetica Neue"/>
                          <a:ea typeface="Helvetica Neue"/>
                          <a:cs typeface="Helvetica Neue"/>
                        </a:rPr>
                        <a:t>Task</a:t>
                      </a:r>
                    </a:p>
                  </a:txBody>
                  <a:tcPr marL="91440" marR="91440" marT="45720" marB="45720">
                    <a:solidFill>
                      <a:srgbClr val="167C76"/>
                    </a:solidFill>
                  </a:tcPr>
                </a:tc>
                <a:tc>
                  <a:txBody>
                    <a:bodyPr/>
                    <a:lstStyle/>
                    <a:p>
                      <a:r>
                        <a:rPr sz="1800" b="1">
                          <a:solidFill>
                            <a:srgbClr val="FFFFFF"/>
                          </a:solidFill>
                          <a:latin typeface="Helvetica Neue"/>
                          <a:ea typeface="Helvetica Neue"/>
                          <a:cs typeface="Helvetica Neue"/>
                        </a:rPr>
                        <a:t>Output</a:t>
                      </a:r>
                    </a:p>
                  </a:txBody>
                  <a:tcPr marL="91440" marR="91440" marT="45720" marB="45720">
                    <a:solidFill>
                      <a:srgbClr val="167C76"/>
                    </a:solidFill>
                  </a:tcPr>
                </a:tc>
              </a:tr>
              <a:tr h="619125">
                <a:tc>
                  <a:txBody>
                    <a:bodyPr/>
                    <a:lstStyle/>
                    <a:p>
                      <a:r>
                        <a:rPr sz="1800" b="0">
                          <a:solidFill>
                            <a:srgbClr val="16333E"/>
                          </a:solidFill>
                          <a:latin typeface="Helvetica Neue"/>
                          <a:ea typeface="Helvetica Neue"/>
                          <a:cs typeface="Helvetica Neue"/>
                        </a:rPr>
                        <a:t>Filter loans &gt;= 10</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A and C</a:t>
                      </a:r>
                    </a:p>
                  </a:txBody>
                  <a:tcPr marL="91440" marR="91440" marT="45720" marB="45720">
                    <a:solidFill>
                      <a:srgbClr val="FFFFFF"/>
                    </a:solidFill>
                  </a:tcPr>
                </a:tc>
              </a:tr>
              <a:tr h="619125">
                <a:tc>
                  <a:txBody>
                    <a:bodyPr/>
                    <a:lstStyle/>
                    <a:p>
                      <a:r>
                        <a:rPr sz="1800" b="0">
                          <a:solidFill>
                            <a:srgbClr val="16333E"/>
                          </a:solidFill>
                          <a:latin typeface="Helvetica Neue"/>
                          <a:ea typeface="Helvetica Neue"/>
                          <a:cs typeface="Helvetica Neue"/>
                        </a:rPr>
                        <a:t>Count matches</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2 records</a:t>
                      </a:r>
                    </a:p>
                  </a:txBody>
                  <a:tcPr marL="91440" marR="91440" marT="45720" marB="45720">
                    <a:solidFill>
                      <a:srgbClr val="FFFFFF"/>
                    </a:solidFill>
                  </a:tcPr>
                </a:tc>
              </a:tr>
              <a:tr h="619125">
                <a:tc>
                  <a:txBody>
                    <a:bodyPr/>
                    <a:lstStyle/>
                    <a:p>
                      <a:r>
                        <a:rPr sz="1800" b="0">
                          <a:solidFill>
                            <a:srgbClr val="16333E"/>
                          </a:solidFill>
                          <a:latin typeface="Helvetica Neue"/>
                          <a:ea typeface="Helvetica Neue"/>
                          <a:cs typeface="Helvetica Neue"/>
                        </a:rPr>
                        <a:t>Sort all, descending loans</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C, A, B</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7D8ED36-70D7-4F03-AA7F-0C2BDF314151}"/>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84  /  Original teaching explanation</a:t>
            </a:r>
          </a:p>
        </p:txBody>
      </p:sp>
      <p:sp>
        <p:nvSpPr>
          <p:cNvPr id="6" name="">
            <a:extLst xmlns:a="http://schemas.openxmlformats.org/drawingml/2006/main">
              <a:ext uri="{FF2B5EF4-FFF2-40B4-BE49-F238E27FC236}">
                <a16:creationId xmlns:a16="http://schemas.microsoft.com/office/drawing/2014/main" id="{369FE823-4777-4EFC-8D52-F1EB3DC0E93C}"/>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11 / 20</a:t>
            </a:r>
          </a:p>
        </p:txBody>
      </p:sp>
    </p:spTree>
    <p:extLst>
      <p:ext uri="{BB962C8B-B14F-4D97-AF65-F5344CB8AC3E}">
        <p14:creationId xmlns:p14="http://schemas.microsoft.com/office/powerpoint/2010/main" val="886471321"/>
      </p:ext>
    </p:extLst>
  </p:cSld>
</p:sld>
</file>

<file path=ppt/slides/slide1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C3A181B-ADB3-43F0-A252-BA6A1EB657B5}"/>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9DEA739F-00E6-4FB9-8360-92F4CEA55CC3}"/>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Efficiency needs a measure</a:t>
            </a:r>
          </a:p>
        </p:txBody>
      </p:sp>
      <p:sp>
        <p:nvSpPr>
          <p:cNvPr id="3" name="">
            <a:extLst xmlns:a="http://schemas.openxmlformats.org/drawingml/2006/main">
              <a:ext uri="{FF2B5EF4-FFF2-40B4-BE49-F238E27FC236}">
                <a16:creationId xmlns:a16="http://schemas.microsoft.com/office/drawing/2014/main" id="{64242DC9-2F60-4581-93A0-BA30C4D983F9}"/>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6"/>
                </a:solidFill>
                <a:latin typeface="Helvetica Neue"/>
                <a:ea typeface="Helvetica Neue"/>
                <a:cs typeface="Helvetica Neue"/>
              </a:defRPr>
            </a:pPr>
            <a:r>
              <a:rPr sz="2700" b="1">
                <a:solidFill>
                  <a:srgbClr val="167C76"/>
                </a:solidFill>
                <a:latin typeface="Helvetica Neue"/>
                <a:ea typeface="Helvetica Neue"/>
                <a:cs typeface="Helvetica Neue"/>
              </a:rPr>
              <a:t>Possible measures: comparisons, time or memory</a:t>
            </a:r>
          </a:p>
        </p:txBody>
      </p:sp>
      <p:sp>
        <p:nvSpPr>
          <p:cNvPr id="4" name="">
            <a:extLst xmlns:a="http://schemas.openxmlformats.org/drawingml/2006/main">
              <a:ext uri="{FF2B5EF4-FFF2-40B4-BE49-F238E27FC236}">
                <a16:creationId xmlns:a16="http://schemas.microsoft.com/office/drawing/2014/main" id="{DE75AC9D-21E4-4BAF-9715-47E68D729414}"/>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Input size and assumptions affect the result</a:t>
            </a:r>
          </a:p>
        </p:txBody>
      </p:sp>
      <p:sp>
        <p:nvSpPr>
          <p:cNvPr id="5" name="">
            <a:extLst xmlns:a="http://schemas.openxmlformats.org/drawingml/2006/main">
              <a:ext uri="{FF2B5EF4-FFF2-40B4-BE49-F238E27FC236}">
                <a16:creationId xmlns:a16="http://schemas.microsoft.com/office/drawing/2014/main" id="{E24E88F5-5BAA-4158-A890-31F2D5081EC8}"/>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Fast execution and a fair decision are separate tests</a:t>
            </a:r>
          </a:p>
        </p:txBody>
      </p:sp>
      <p:sp>
        <p:nvSpPr>
          <p:cNvPr id="6" name="">
            <a:extLst xmlns:a="http://schemas.openxmlformats.org/drawingml/2006/main">
              <a:ext uri="{FF2B5EF4-FFF2-40B4-BE49-F238E27FC236}">
                <a16:creationId xmlns:a16="http://schemas.microsoft.com/office/drawing/2014/main" id="{EE3D9856-A6EA-47EA-8DFD-EE812B27552D}"/>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Checkpoint: A faster hiring rule excludes qualified applicants. What has speed established?</a:t>
            </a:r>
          </a:p>
        </p:txBody>
      </p:sp>
      <p:sp>
        <p:nvSpPr>
          <p:cNvPr id="7" name="">
            <a:extLst xmlns:a="http://schemas.openxmlformats.org/drawingml/2006/main">
              <a:ext uri="{FF2B5EF4-FFF2-40B4-BE49-F238E27FC236}">
                <a16:creationId xmlns:a16="http://schemas.microsoft.com/office/drawing/2014/main" id="{BE2D44D3-F1A5-4DF9-8C1A-BD92A149D0D2}"/>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81, 84–86  /  Original teaching explanation</a:t>
            </a:r>
          </a:p>
        </p:txBody>
      </p:sp>
      <p:sp>
        <p:nvSpPr>
          <p:cNvPr id="8" name="">
            <a:extLst xmlns:a="http://schemas.openxmlformats.org/drawingml/2006/main">
              <a:ext uri="{FF2B5EF4-FFF2-40B4-BE49-F238E27FC236}">
                <a16:creationId xmlns:a16="http://schemas.microsoft.com/office/drawing/2014/main" id="{8596A18A-5870-426D-B451-130B241650BE}"/>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12 / 20</a:t>
            </a:r>
          </a:p>
        </p:txBody>
      </p:sp>
    </p:spTree>
    <p:extLst>
      <p:ext uri="{BB962C8B-B14F-4D97-AF65-F5344CB8AC3E}">
        <p14:creationId xmlns:p14="http://schemas.microsoft.com/office/powerpoint/2010/main" val="1969813958"/>
      </p:ext>
    </p:extLst>
  </p:cSld>
</p:sld>
</file>

<file path=ppt/slides/slide1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E49241-DA28-40F5-90EE-05A94A75FF11}"/>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323552CD-858B-41B5-A7A8-639A031780ED}"/>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Prioritizing turns a goal into an order</a:t>
            </a:r>
          </a:p>
        </p:txBody>
      </p:sp>
      <p:sp>
        <p:nvSpPr>
          <p:cNvPr id="3" name="">
            <a:extLst xmlns:a="http://schemas.openxmlformats.org/drawingml/2006/main">
              <a:ext uri="{FF2B5EF4-FFF2-40B4-BE49-F238E27FC236}">
                <a16:creationId xmlns:a16="http://schemas.microsoft.com/office/drawing/2014/main" id="{D27305F5-4E6A-42C0-8514-95D8AD3EF5B6}"/>
              </a:ext>
            </a:extLst>
          </p:cNvPr>
          <p:cNvSpPr>
            <a:spLocks xmlns:a="http://schemas.openxmlformats.org/drawingml/2006/main" noGrp="1"/>
          </p:cNvSpPr>
          <p:nvPr/>
        </p:nvSpPr>
        <p:spPr>
          <a:xfrm xmlns:a="http://schemas.openxmlformats.org/drawingml/2006/main">
            <a:off x="609600" y="1676400"/>
            <a:ext cx="4476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A ranking score combines chosen signals</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Weights determine how strongly each signal counts</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A tie-break makes equal scores reproducible</a:t>
            </a:r>
          </a:p>
        </p:txBody>
      </p:sp>
      <p:graphicFrame>
        <p:nvGraphicFramePr>
          <p:cNvPr id="11" name=""/>
          <p:cNvGraphicFramePr/>
          <p:nvPr/>
        </p:nvGraphicFramePr>
        <p:xfrm>
          <a:off xmlns:a="http://schemas.openxmlformats.org/drawingml/2006/main" x="5429250" y="1752600"/>
          <a:ext xmlns:a="http://schemas.openxmlformats.org/drawingml/2006/main" cx="6153150" cy="2476500"/>
        </p:xfrm>
        <a:graphic xmlns:a="http://schemas.openxmlformats.org/drawingml/2006/main">
          <a:graphicData uri="http://schemas.openxmlformats.org/drawingml/2006/table">
            <a:tbl>
              <a:tblPr firstRow="1" bandRow="0"/>
              <a:tblGrid>
                <a:gridCol w="2051050"/>
                <a:gridCol w="2051050"/>
                <a:gridCol w="2051050"/>
              </a:tblGrid>
              <a:tr h="619125">
                <a:tc>
                  <a:txBody>
                    <a:bodyPr/>
                    <a:lstStyle/>
                    <a:p>
                      <a:r>
                        <a:rPr sz="1800" b="1">
                          <a:solidFill>
                            <a:srgbClr val="FFFFFF"/>
                          </a:solidFill>
                          <a:latin typeface="Helvetica Neue"/>
                          <a:ea typeface="Helvetica Neue"/>
                          <a:cs typeface="Helvetica Neue"/>
                        </a:rPr>
                        <a:t>Item</a:t>
                      </a:r>
                    </a:p>
                  </a:txBody>
                  <a:tcPr marL="91440" marR="91440" marT="45720" marB="45720">
                    <a:solidFill>
                      <a:srgbClr val="167C76"/>
                    </a:solidFill>
                  </a:tcPr>
                </a:tc>
                <a:tc>
                  <a:txBody>
                    <a:bodyPr/>
                    <a:lstStyle/>
                    <a:p>
                      <a:r>
                        <a:rPr sz="1800" b="1">
                          <a:solidFill>
                            <a:srgbClr val="FFFFFF"/>
                          </a:solidFill>
                          <a:latin typeface="Helvetica Neue"/>
                          <a:ea typeface="Helvetica Neue"/>
                          <a:cs typeface="Helvetica Neue"/>
                        </a:rPr>
                        <a:t>Completion c</a:t>
                      </a:r>
                    </a:p>
                  </a:txBody>
                  <a:tcPr marL="91440" marR="91440" marT="45720" marB="45720">
                    <a:solidFill>
                      <a:srgbClr val="167C76"/>
                    </a:solidFill>
                  </a:tcPr>
                </a:tc>
                <a:tc>
                  <a:txBody>
                    <a:bodyPr/>
                    <a:lstStyle/>
                    <a:p>
                      <a:r>
                        <a:rPr sz="1800" b="1">
                          <a:solidFill>
                            <a:srgbClr val="FFFFFF"/>
                          </a:solidFill>
                          <a:latin typeface="Helvetica Neue"/>
                          <a:ea typeface="Helvetica Neue"/>
                          <a:cs typeface="Helvetica Neue"/>
                        </a:rPr>
                        <a:t>New topic m</a:t>
                      </a:r>
                    </a:p>
                  </a:txBody>
                  <a:tcPr marL="91440" marR="91440" marT="45720" marB="45720">
                    <a:solidFill>
                      <a:srgbClr val="167C76"/>
                    </a:solidFill>
                  </a:tcPr>
                </a:tc>
              </a:tr>
              <a:tr h="619125">
                <a:tc>
                  <a:txBody>
                    <a:bodyPr/>
                    <a:lstStyle/>
                    <a:p>
                      <a:r>
                        <a:rPr sz="1800" b="0">
                          <a:solidFill>
                            <a:srgbClr val="16333E"/>
                          </a:solidFill>
                          <a:latin typeface="Helvetica Neue"/>
                          <a:ea typeface="Helvetica Neue"/>
                          <a:cs typeface="Helvetica Neue"/>
                        </a:rPr>
                        <a:t>M1</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0.8</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1</a:t>
                      </a:r>
                    </a:p>
                  </a:txBody>
                  <a:tcPr marL="91440" marR="91440" marT="45720" marB="45720">
                    <a:solidFill>
                      <a:srgbClr val="FFFFFF"/>
                    </a:solidFill>
                  </a:tcPr>
                </a:tc>
              </a:tr>
              <a:tr h="619125">
                <a:tc>
                  <a:txBody>
                    <a:bodyPr/>
                    <a:lstStyle/>
                    <a:p>
                      <a:r>
                        <a:rPr sz="1800" b="0">
                          <a:solidFill>
                            <a:srgbClr val="16333E"/>
                          </a:solidFill>
                          <a:latin typeface="Helvetica Neue"/>
                          <a:ea typeface="Helvetica Neue"/>
                          <a:cs typeface="Helvetica Neue"/>
                        </a:rPr>
                        <a:t>M2</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0.9</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0</a:t>
                      </a:r>
                    </a:p>
                  </a:txBody>
                  <a:tcPr marL="91440" marR="91440" marT="45720" marB="45720">
                    <a:solidFill>
                      <a:srgbClr val="FFFFFF"/>
                    </a:solidFill>
                  </a:tcPr>
                </a:tc>
              </a:tr>
              <a:tr h="619125">
                <a:tc>
                  <a:txBody>
                    <a:bodyPr/>
                    <a:lstStyle/>
                    <a:p>
                      <a:r>
                        <a:rPr sz="1800" b="0">
                          <a:solidFill>
                            <a:srgbClr val="16333E"/>
                          </a:solidFill>
                          <a:latin typeface="Helvetica Neue"/>
                          <a:ea typeface="Helvetica Neue"/>
                          <a:cs typeface="Helvetica Neue"/>
                        </a:rPr>
                        <a:t>M3</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0.5</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0</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BD43E0A-8719-4768-B329-57EFF2B2FBBD}"/>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Which item should lead if discovering an unfamiliar topic is our priority?</a:t>
            </a:r>
          </a:p>
        </p:txBody>
      </p:sp>
      <p:sp>
        <p:nvSpPr>
          <p:cNvPr id="6" name="">
            <a:extLst xmlns:a="http://schemas.openxmlformats.org/drawingml/2006/main">
              <a:ext uri="{FF2B5EF4-FFF2-40B4-BE49-F238E27FC236}">
                <a16:creationId xmlns:a16="http://schemas.microsoft.com/office/drawing/2014/main" id="{3589753B-8B13-406F-9DAC-2A3D9A5F0F46}"/>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85  /  Original teaching explanation</a:t>
            </a:r>
          </a:p>
        </p:txBody>
      </p:sp>
      <p:sp>
        <p:nvSpPr>
          <p:cNvPr id="7" name="">
            <a:extLst xmlns:a="http://schemas.openxmlformats.org/drawingml/2006/main">
              <a:ext uri="{FF2B5EF4-FFF2-40B4-BE49-F238E27FC236}">
                <a16:creationId xmlns:a16="http://schemas.microsoft.com/office/drawing/2014/main" id="{72BCDDA7-6774-4E3F-8A02-EB9925BC7621}"/>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13 / 20</a:t>
            </a:r>
          </a:p>
        </p:txBody>
      </p:sp>
    </p:spTree>
    <p:extLst>
      <p:ext uri="{BB962C8B-B14F-4D97-AF65-F5344CB8AC3E}">
        <p14:creationId xmlns:p14="http://schemas.microsoft.com/office/powerpoint/2010/main" val="1505493039"/>
      </p:ext>
    </p:extLst>
  </p:cSld>
</p:sld>
</file>

<file path=ppt/slides/slide1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CFF13E-69A1-4ED4-8845-3D8FBD086310}"/>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F45E2613-FA08-4F76-8598-E2C2345A1733}"/>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 changed objective: prediction</a:t>
            </a:r>
          </a:p>
        </p:txBody>
      </p:sp>
      <p:sp>
        <p:nvSpPr>
          <p:cNvPr id="3" name="">
            <a:extLst xmlns:a="http://schemas.openxmlformats.org/drawingml/2006/main">
              <a:ext uri="{FF2B5EF4-FFF2-40B4-BE49-F238E27FC236}">
                <a16:creationId xmlns:a16="http://schemas.microsoft.com/office/drawing/2014/main" id="{A643843F-9125-480C-86CD-25B1873ACCD0}"/>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6"/>
                </a:solidFill>
                <a:latin typeface="Helvetica Neue"/>
                <a:ea typeface="Helvetica Neue"/>
                <a:cs typeface="Helvetica Neue"/>
              </a:defRPr>
            </a:pPr>
            <a:r>
              <a:rPr sz="2700" b="1">
                <a:solidFill>
                  <a:srgbClr val="167C76"/>
                </a:solidFill>
                <a:latin typeface="Helvetica Neue"/>
                <a:ea typeface="Helvetica Neue"/>
                <a:cs typeface="Helvetica Neue"/>
              </a:rPr>
              <a:t>Rule A: score = c + 2m</a:t>
            </a:r>
          </a:p>
        </p:txBody>
      </p:sp>
      <p:sp>
        <p:nvSpPr>
          <p:cNvPr id="4" name="">
            <a:extLst xmlns:a="http://schemas.openxmlformats.org/drawingml/2006/main">
              <a:ext uri="{FF2B5EF4-FFF2-40B4-BE49-F238E27FC236}">
                <a16:creationId xmlns:a16="http://schemas.microsoft.com/office/drawing/2014/main" id="{2856D090-48FE-4538-A801-7CBE7D9E4067}"/>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Rule B: score = 3c + 0.2m</a:t>
            </a:r>
          </a:p>
        </p:txBody>
      </p:sp>
      <p:sp>
        <p:nvSpPr>
          <p:cNvPr id="5" name="">
            <a:extLst xmlns:a="http://schemas.openxmlformats.org/drawingml/2006/main">
              <a:ext uri="{FF2B5EF4-FFF2-40B4-BE49-F238E27FC236}">
                <a16:creationId xmlns:a16="http://schemas.microsoft.com/office/drawing/2014/main" id="{FE7445B4-6129-423A-A705-9D8AC620B96B}"/>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Use the same inputs to compare the rules</a:t>
            </a:r>
          </a:p>
        </p:txBody>
      </p:sp>
      <p:sp>
        <p:nvSpPr>
          <p:cNvPr id="6" name="">
            <a:extLst xmlns:a="http://schemas.openxmlformats.org/drawingml/2006/main">
              <a:ext uri="{FF2B5EF4-FFF2-40B4-BE49-F238E27FC236}">
                <a16:creationId xmlns:a16="http://schemas.microsoft.com/office/drawing/2014/main" id="{A8FB424D-3388-43A1-A7C5-9E036FBAAA19}"/>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Calculate M1, M2 and M3 for both rules. Record your prediction before revealing the next slide.</a:t>
            </a:r>
          </a:p>
        </p:txBody>
      </p:sp>
      <p:sp>
        <p:nvSpPr>
          <p:cNvPr id="7" name="">
            <a:extLst xmlns:a="http://schemas.openxmlformats.org/drawingml/2006/main">
              <a:ext uri="{FF2B5EF4-FFF2-40B4-BE49-F238E27FC236}">
                <a16:creationId xmlns:a16="http://schemas.microsoft.com/office/drawing/2014/main" id="{466DBA87-ADC2-464E-88D8-F4A4715BC494}"/>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85  /  Original teaching explanation</a:t>
            </a:r>
          </a:p>
        </p:txBody>
      </p:sp>
      <p:sp>
        <p:nvSpPr>
          <p:cNvPr id="8" name="">
            <a:extLst xmlns:a="http://schemas.openxmlformats.org/drawingml/2006/main">
              <a:ext uri="{FF2B5EF4-FFF2-40B4-BE49-F238E27FC236}">
                <a16:creationId xmlns:a16="http://schemas.microsoft.com/office/drawing/2014/main" id="{662974BB-239E-4CE0-AEBD-1EA1935F1DD1}"/>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14 / 20</a:t>
            </a:r>
          </a:p>
        </p:txBody>
      </p:sp>
    </p:spTree>
    <p:extLst>
      <p:ext uri="{BB962C8B-B14F-4D97-AF65-F5344CB8AC3E}">
        <p14:creationId xmlns:p14="http://schemas.microsoft.com/office/powerpoint/2010/main" val="1008036641"/>
      </p:ext>
    </p:extLst>
  </p:cSld>
</p:sld>
</file>

<file path=ppt/slides/slide1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4EAB3E-3DE8-4776-9892-5D9FE3B191E7}"/>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7FA2CA06-8EC8-437C-9DAD-290E328B78FE}"/>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 changed objective: worked result</a:t>
            </a:r>
          </a:p>
        </p:txBody>
      </p:sp>
      <p:sp>
        <p:nvSpPr>
          <p:cNvPr id="3" name="">
            <a:extLst xmlns:a="http://schemas.openxmlformats.org/drawingml/2006/main">
              <a:ext uri="{FF2B5EF4-FFF2-40B4-BE49-F238E27FC236}">
                <a16:creationId xmlns:a16="http://schemas.microsoft.com/office/drawing/2014/main" id="{4C59794C-E9DF-4372-9D53-64CBEDD0AA29}"/>
              </a:ext>
            </a:extLst>
          </p:cNvPr>
          <p:cNvSpPr>
            <a:spLocks xmlns:a="http://schemas.openxmlformats.org/drawingml/2006/main" noGrp="1"/>
          </p:cNvSpPr>
          <p:nvPr/>
        </p:nvSpPr>
        <p:spPr>
          <a:xfrm xmlns:a="http://schemas.openxmlformats.org/drawingml/2006/main">
            <a:off x="609600" y="1590675"/>
            <a:ext cx="10972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33E"/>
                </a:solidFill>
                <a:latin typeface="Helvetica Neue"/>
                <a:ea typeface="Helvetica Neue"/>
                <a:cs typeface="Helvetica Neue"/>
              </a:defRPr>
            </a:pPr>
            <a:r>
              <a:rPr sz="2100" b="0">
                <a:solidFill>
                  <a:srgbClr val="16333E"/>
                </a:solidFill>
                <a:latin typeface="Helvetica Neue"/>
                <a:ea typeface="Helvetica Neue"/>
                <a:cs typeface="Helvetica Neue"/>
              </a:rPr>
              <a:t>Rule A ranks M1 first</a:t>
            </a:r>
          </a:p>
          <a:p xmlns:a="http://schemas.openxmlformats.org/drawingml/2006/main">
            <a:pPr>
              <a:defRPr sz="2100" b="0">
                <a:solidFill>
                  <a:srgbClr val="16333E"/>
                </a:solidFill>
                <a:latin typeface="Helvetica Neue"/>
                <a:ea typeface="Helvetica Neue"/>
                <a:cs typeface="Helvetica Neue"/>
              </a:defRPr>
            </a:pPr>
            <a:r>
              <a:rPr sz="2100" b="0">
                <a:solidFill>
                  <a:srgbClr val="16333E"/>
                </a:solidFill>
                <a:latin typeface="Helvetica Neue"/>
                <a:ea typeface="Helvetica Neue"/>
                <a:cs typeface="Helvetica Neue"/>
              </a:rPr>
              <a:t>Rule B ranks M2 first</a:t>
            </a:r>
          </a:p>
          <a:p xmlns:a="http://schemas.openxmlformats.org/drawingml/2006/main">
            <a:pPr>
              <a:defRPr sz="2100" b="0">
                <a:solidFill>
                  <a:srgbClr val="16333E"/>
                </a:solidFill>
                <a:latin typeface="Helvetica Neue"/>
                <a:ea typeface="Helvetica Neue"/>
                <a:cs typeface="Helvetica Neue"/>
              </a:defRPr>
            </a:pPr>
            <a:r>
              <a:rPr sz="2100" b="0">
                <a:solidFill>
                  <a:srgbClr val="16333E"/>
                </a:solidFill>
                <a:latin typeface="Helvetica Neue"/>
                <a:ea typeface="Helvetica Neue"/>
                <a:cs typeface="Helvetica Neue"/>
              </a:rPr>
              <a:t>The changed weights alter whose item receives exposure</a:t>
            </a:r>
          </a:p>
        </p:txBody>
      </p:sp>
      <p:graphicFrame>
        <p:nvGraphicFramePr>
          <p:cNvPr id="11" name="Chart"/>
          <p:cNvGraphicFramePr/>
          <p:nvPr/>
        </p:nvGraphicFramePr>
        <p:xfrm>
          <a:off xmlns:a="http://schemas.openxmlformats.org/drawingml/2006/main" x="609600" y="2905125"/>
          <a:ext xmlns:a="http://schemas.openxmlformats.org/drawingml/2006/main" cx="10972800" cy="2628900"/>
        </p:xfrm>
        <a:graphic xmlns:a="http://schemas.openxmlformats.org/drawingml/2006/main">
          <a:graphicData uri="http://schemas.openxmlformats.org/drawingml/2006/chart">
            <c:chart xmlns:r="http://schemas.openxmlformats.org/officeDocument/2006/relationships" xmlns:c="http://schemas.openxmlformats.org/drawingml/2006/chart" r:id="R0d366e4fa7da4b7c"/>
          </a:graphicData>
        </a:graphic>
      </p:graphicFrame>
      <p:sp>
        <p:nvSpPr>
          <p:cNvPr id="5" name="">
            <a:extLst xmlns:a="http://schemas.openxmlformats.org/drawingml/2006/main">
              <a:ext uri="{FF2B5EF4-FFF2-40B4-BE49-F238E27FC236}">
                <a16:creationId xmlns:a16="http://schemas.microsoft.com/office/drawing/2014/main" id="{A68AD5E2-E8C7-49D1-8BE6-0B16FAE0E347}"/>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Explain why M2 overtakes M1. Name one outcome this chart cannot establish.</a:t>
            </a:r>
          </a:p>
        </p:txBody>
      </p:sp>
      <p:sp>
        <p:nvSpPr>
          <p:cNvPr id="6" name="">
            <a:extLst xmlns:a="http://schemas.openxmlformats.org/drawingml/2006/main">
              <a:ext uri="{FF2B5EF4-FFF2-40B4-BE49-F238E27FC236}">
                <a16:creationId xmlns:a16="http://schemas.microsoft.com/office/drawing/2014/main" id="{1A939125-C9CC-4E72-AFE6-D46E9B258D95}"/>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85  /  Original teaching explanation</a:t>
            </a:r>
          </a:p>
        </p:txBody>
      </p:sp>
      <p:sp>
        <p:nvSpPr>
          <p:cNvPr id="7" name="">
            <a:extLst xmlns:a="http://schemas.openxmlformats.org/drawingml/2006/main">
              <a:ext uri="{FF2B5EF4-FFF2-40B4-BE49-F238E27FC236}">
                <a16:creationId xmlns:a16="http://schemas.microsoft.com/office/drawing/2014/main" id="{C1D70FB1-B8CF-420B-AFE1-A6A5AF6323AE}"/>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15 / 20</a:t>
            </a:r>
          </a:p>
        </p:txBody>
      </p:sp>
    </p:spTree>
    <p:extLst>
      <p:ext uri="{BB962C8B-B14F-4D97-AF65-F5344CB8AC3E}">
        <p14:creationId xmlns:p14="http://schemas.microsoft.com/office/powerpoint/2010/main" val="1973289247"/>
      </p:ext>
    </p:extLst>
  </p:cSld>
</p:sld>
</file>

<file path=ppt/slides/slide1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AB44A4-FE8E-4BB0-8CFE-BD1CF4A233E7}"/>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56877949-81D2-4CB5-946F-EDC189203328}"/>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Classifying and associating</a:t>
            </a:r>
          </a:p>
        </p:txBody>
      </p:sp>
      <p:sp>
        <p:nvSpPr>
          <p:cNvPr id="3" name="">
            <a:extLst xmlns:a="http://schemas.openxmlformats.org/drawingml/2006/main">
              <a:ext uri="{FF2B5EF4-FFF2-40B4-BE49-F238E27FC236}">
                <a16:creationId xmlns:a16="http://schemas.microsoft.com/office/drawing/2014/main" id="{6E011D19-AE9B-4F31-A41E-786F6384B25B}"/>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6"/>
                </a:solidFill>
                <a:latin typeface="Helvetica Neue"/>
                <a:ea typeface="Helvetica Neue"/>
                <a:cs typeface="Helvetica Neue"/>
              </a:defRPr>
            </a:pPr>
            <a:r>
              <a:rPr sz="2700" b="1">
                <a:solidFill>
                  <a:srgbClr val="167C76"/>
                </a:solidFill>
                <a:latin typeface="Helvetica Neue"/>
                <a:ea typeface="Helvetica Neue"/>
                <a:cs typeface="Helvetica Neue"/>
              </a:rPr>
              <a:t>Classifying assigns records to a category</a:t>
            </a:r>
          </a:p>
        </p:txBody>
      </p:sp>
      <p:sp>
        <p:nvSpPr>
          <p:cNvPr id="4" name="">
            <a:extLst xmlns:a="http://schemas.openxmlformats.org/drawingml/2006/main">
              <a:ext uri="{FF2B5EF4-FFF2-40B4-BE49-F238E27FC236}">
                <a16:creationId xmlns:a16="http://schemas.microsoft.com/office/drawing/2014/main" id="{D1A6761C-1B2C-4B5B-9DE8-D4835F90AB14}"/>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Associating identifies patterns of items occurring together</a:t>
            </a:r>
          </a:p>
        </p:txBody>
      </p:sp>
      <p:sp>
        <p:nvSpPr>
          <p:cNvPr id="5" name="">
            <a:extLst xmlns:a="http://schemas.openxmlformats.org/drawingml/2006/main">
              <a:ext uri="{FF2B5EF4-FFF2-40B4-BE49-F238E27FC236}">
                <a16:creationId xmlns:a16="http://schemas.microsoft.com/office/drawing/2014/main" id="{C75A532D-F7FF-47DB-8555-C9B464023248}"/>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A pattern can guide a decision without proving its cause</a:t>
            </a:r>
          </a:p>
        </p:txBody>
      </p:sp>
      <p:sp>
        <p:nvSpPr>
          <p:cNvPr id="6" name="">
            <a:extLst xmlns:a="http://schemas.openxmlformats.org/drawingml/2006/main">
              <a:ext uri="{FF2B5EF4-FFF2-40B4-BE49-F238E27FC236}">
                <a16:creationId xmlns:a16="http://schemas.microsoft.com/office/drawing/2014/main" id="{33C44C9B-F889-4A77-BB75-F06713E59EA6}"/>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Checkpoint: A database shows two products are often bought together. What does this support?</a:t>
            </a:r>
          </a:p>
        </p:txBody>
      </p:sp>
      <p:sp>
        <p:nvSpPr>
          <p:cNvPr id="7" name="">
            <a:extLst xmlns:a="http://schemas.openxmlformats.org/drawingml/2006/main">
              <a:ext uri="{FF2B5EF4-FFF2-40B4-BE49-F238E27FC236}">
                <a16:creationId xmlns:a16="http://schemas.microsoft.com/office/drawing/2014/main" id="{38E9BC1A-C2F9-44E5-B49C-5EB4B2D1F8C5}"/>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85  /  Original teaching explanation</a:t>
            </a:r>
          </a:p>
        </p:txBody>
      </p:sp>
      <p:sp>
        <p:nvSpPr>
          <p:cNvPr id="8" name="">
            <a:extLst xmlns:a="http://schemas.openxmlformats.org/drawingml/2006/main">
              <a:ext uri="{FF2B5EF4-FFF2-40B4-BE49-F238E27FC236}">
                <a16:creationId xmlns:a16="http://schemas.microsoft.com/office/drawing/2014/main" id="{E9B9A74E-681D-4535-B618-FFFCFBF31A8A}"/>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16 / 20</a:t>
            </a:r>
          </a:p>
        </p:txBody>
      </p:sp>
    </p:spTree>
    <p:extLst>
      <p:ext uri="{BB962C8B-B14F-4D97-AF65-F5344CB8AC3E}">
        <p14:creationId xmlns:p14="http://schemas.microsoft.com/office/powerpoint/2010/main" val="595304147"/>
      </p:ext>
    </p:extLst>
  </p:cSld>
</p:sld>
</file>

<file path=ppt/slides/slide1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10717E-A7A5-4254-8592-107F2B8572F9}"/>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83C4ECD2-BC14-40DA-AAC4-EB02BB567663}"/>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Rules and learned models</a:t>
            </a:r>
          </a:p>
        </p:txBody>
      </p:sp>
      <p:sp>
        <p:nvSpPr>
          <p:cNvPr id="3" name="">
            <a:extLst xmlns:a="http://schemas.openxmlformats.org/drawingml/2006/main">
              <a:ext uri="{FF2B5EF4-FFF2-40B4-BE49-F238E27FC236}">
                <a16:creationId xmlns:a16="http://schemas.microsoft.com/office/drawing/2014/main" id="{729717E4-0868-449C-A878-73A67973FA15}"/>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6"/>
                </a:solidFill>
                <a:latin typeface="Helvetica Neue"/>
                <a:ea typeface="Helvetica Neue"/>
                <a:cs typeface="Helvetica Neue"/>
              </a:defRPr>
            </a:pPr>
            <a:r>
              <a:rPr sz="2700" b="1">
                <a:solidFill>
                  <a:srgbClr val="167C76"/>
                </a:solidFill>
                <a:latin typeface="Helvetica Neue"/>
                <a:ea typeface="Helvetica Neue"/>
                <a:cs typeface="Helvetica Neue"/>
              </a:rPr>
              <a:t>A hand-written rule specifies the calculation</a:t>
            </a:r>
          </a:p>
        </p:txBody>
      </p:sp>
      <p:sp>
        <p:nvSpPr>
          <p:cNvPr id="4" name="">
            <a:extLst xmlns:a="http://schemas.openxmlformats.org/drawingml/2006/main">
              <a:ext uri="{FF2B5EF4-FFF2-40B4-BE49-F238E27FC236}">
                <a16:creationId xmlns:a16="http://schemas.microsoft.com/office/drawing/2014/main" id="{6B7C116C-D1FF-499A-87AF-D57D610FFA35}"/>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A learned model uses data to adjust internal parameters</a:t>
            </a:r>
          </a:p>
        </p:txBody>
      </p:sp>
      <p:sp>
        <p:nvSpPr>
          <p:cNvPr id="5" name="">
            <a:extLst xmlns:a="http://schemas.openxmlformats.org/drawingml/2006/main">
              <a:ext uri="{FF2B5EF4-FFF2-40B4-BE49-F238E27FC236}">
                <a16:creationId xmlns:a16="http://schemas.microsoft.com/office/drawing/2014/main" id="{2AFA17CC-A4FE-426A-B0AE-81A91F97629F}"/>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Both depend on chosen data, objectives and evaluation</a:t>
            </a:r>
          </a:p>
        </p:txBody>
      </p:sp>
      <p:sp>
        <p:nvSpPr>
          <p:cNvPr id="6" name="">
            <a:extLst xmlns:a="http://schemas.openxmlformats.org/drawingml/2006/main">
              <a:ext uri="{FF2B5EF4-FFF2-40B4-BE49-F238E27FC236}">
                <a16:creationId xmlns:a16="http://schemas.microsoft.com/office/drawing/2014/main" id="{A58D67C1-6344-4153-8AD2-E857E23824B5}"/>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85, 91  /  Current IB guide</a:t>
            </a:r>
          </a:p>
        </p:txBody>
      </p:sp>
      <p:sp>
        <p:nvSpPr>
          <p:cNvPr id="7" name="">
            <a:extLst xmlns:a="http://schemas.openxmlformats.org/drawingml/2006/main">
              <a:ext uri="{FF2B5EF4-FFF2-40B4-BE49-F238E27FC236}">
                <a16:creationId xmlns:a16="http://schemas.microsoft.com/office/drawing/2014/main" id="{886A7F31-17B3-4009-AF90-A9EA43457B2C}"/>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17 / 20</a:t>
            </a:r>
          </a:p>
        </p:txBody>
      </p:sp>
    </p:spTree>
    <p:extLst>
      <p:ext uri="{BB962C8B-B14F-4D97-AF65-F5344CB8AC3E}">
        <p14:creationId xmlns:p14="http://schemas.microsoft.com/office/powerpoint/2010/main" val="1684164018"/>
      </p:ext>
    </p:extLst>
  </p:cSld>
</p:sld>
</file>

<file path=ppt/slides/slide1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961C5A-2641-4CF3-85F3-3B6919079D61}"/>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B7B27D22-8669-4C3C-B9BC-203098C0B08A}"/>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The complete decision pipeline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1662b259aa446be"/>
          <a:stretch xmlns:a="http://schemas.openxmlformats.org/drawingml/2006/main"/>
        </p:blipFill>
        <p:spPr>
          <a:xfrm xmlns:a="http://schemas.openxmlformats.org/drawingml/2006/main">
            <a:off x="3054721" y="1657350"/>
            <a:ext cx="6082558"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8E28191-E27E-40A4-8598-43CC8EF932F6}"/>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C76"/>
                </a:solidFill>
                <a:latin typeface="Helvetica Neue"/>
                <a:ea typeface="Helvetica Neue"/>
                <a:cs typeface="Helvetica Neue"/>
              </a:defRPr>
            </a:pPr>
            <a:r>
              <a:rPr sz="2025" b="1">
                <a:solidFill>
                  <a:srgbClr val="167C76"/>
                </a:solidFill>
                <a:latin typeface="Helvetica Neue"/>
                <a:ea typeface="Helvetica Neue"/>
                <a:cs typeface="Helvetica Neue"/>
              </a:rPr>
              <a:t>Collect and validate the input</a:t>
            </a:r>
          </a:p>
        </p:txBody>
      </p:sp>
      <p:sp>
        <p:nvSpPr>
          <p:cNvPr id="5" name="">
            <a:extLst xmlns:a="http://schemas.openxmlformats.org/drawingml/2006/main">
              <a:ext uri="{FF2B5EF4-FFF2-40B4-BE49-F238E27FC236}">
                <a16:creationId xmlns:a16="http://schemas.microsoft.com/office/drawing/2014/main" id="{C252D0F1-0C26-4732-93DB-7EEC53A53ADA}"/>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Identify where a missing value could change this pipeline.</a:t>
            </a:r>
          </a:p>
        </p:txBody>
      </p:sp>
      <p:sp>
        <p:nvSpPr>
          <p:cNvPr id="6" name="">
            <a:extLst xmlns:a="http://schemas.openxmlformats.org/drawingml/2006/main">
              <a:ext uri="{FF2B5EF4-FFF2-40B4-BE49-F238E27FC236}">
                <a16:creationId xmlns:a16="http://schemas.microsoft.com/office/drawing/2014/main" id="{8C0763F4-6DFA-4F2F-9AE1-42F91E0BC14B}"/>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84–85, 91  /  Original teaching explanation</a:t>
            </a:r>
          </a:p>
        </p:txBody>
      </p:sp>
      <p:sp>
        <p:nvSpPr>
          <p:cNvPr id="7" name="">
            <a:extLst xmlns:a="http://schemas.openxmlformats.org/drawingml/2006/main">
              <a:ext uri="{FF2B5EF4-FFF2-40B4-BE49-F238E27FC236}">
                <a16:creationId xmlns:a16="http://schemas.microsoft.com/office/drawing/2014/main" id="{8C59D553-85F2-4564-969B-454DE860A351}"/>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18 / 20</a:t>
            </a:r>
          </a:p>
        </p:txBody>
      </p:sp>
    </p:spTree>
    <p:extLst>
      <p:ext uri="{BB962C8B-B14F-4D97-AF65-F5344CB8AC3E}">
        <p14:creationId xmlns:p14="http://schemas.microsoft.com/office/powerpoint/2010/main" val="2072628600"/>
      </p:ext>
    </p:extLst>
  </p:cSld>
</p:sld>
</file>

<file path=ppt/slides/slide19.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808642-D642-4200-B59F-C4BE7D005E2D}"/>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99E1F3D2-B66F-4C14-A365-F9F5DAE8A08C}"/>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Independent transfer: a library queue</a:t>
            </a:r>
          </a:p>
        </p:txBody>
      </p:sp>
      <p:sp>
        <p:nvSpPr>
          <p:cNvPr id="3" name="">
            <a:extLst xmlns:a="http://schemas.openxmlformats.org/drawingml/2006/main">
              <a:ext uri="{FF2B5EF4-FFF2-40B4-BE49-F238E27FC236}">
                <a16:creationId xmlns:a16="http://schemas.microsoft.com/office/drawing/2014/main" id="{B8217E0F-22D3-49BB-8158-5777C5FE8D7C}"/>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6"/>
                </a:solidFill>
                <a:latin typeface="Helvetica Neue"/>
                <a:ea typeface="Helvetica Neue"/>
                <a:cs typeface="Helvetica Neue"/>
              </a:defRPr>
            </a:pPr>
            <a:r>
              <a:rPr sz="2700" b="1">
                <a:solidFill>
                  <a:srgbClr val="167C76"/>
                </a:solidFill>
                <a:latin typeface="Helvetica Neue"/>
                <a:ea typeface="Helvetica Neue"/>
                <a:cs typeface="Helvetica Neue"/>
              </a:rPr>
              <a:t>A school library prioritizes reservation requests</a:t>
            </a:r>
          </a:p>
        </p:txBody>
      </p:sp>
      <p:sp>
        <p:nvSpPr>
          <p:cNvPr id="4" name="">
            <a:extLst xmlns:a="http://schemas.openxmlformats.org/drawingml/2006/main">
              <a:ext uri="{FF2B5EF4-FFF2-40B4-BE49-F238E27FC236}">
                <a16:creationId xmlns:a16="http://schemas.microsoft.com/office/drawing/2014/main" id="{FA429DB5-C1A2-43BE-9E55-C781509F8DBE}"/>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Propose one input, one condition and a stopping rule</a:t>
            </a:r>
          </a:p>
        </p:txBody>
      </p:sp>
      <p:sp>
        <p:nvSpPr>
          <p:cNvPr id="5" name="">
            <a:extLst xmlns:a="http://schemas.openxmlformats.org/drawingml/2006/main">
              <a:ext uri="{FF2B5EF4-FFF2-40B4-BE49-F238E27FC236}">
                <a16:creationId xmlns:a16="http://schemas.microsoft.com/office/drawing/2014/main" id="{5B57011F-F432-47AF-B09F-A2565E0AF942}"/>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Explain a possible loss caused by your chosen priority</a:t>
            </a:r>
          </a:p>
        </p:txBody>
      </p:sp>
      <p:sp>
        <p:nvSpPr>
          <p:cNvPr id="6" name="">
            <a:extLst xmlns:a="http://schemas.openxmlformats.org/drawingml/2006/main">
              <a:ext uri="{FF2B5EF4-FFF2-40B4-BE49-F238E27FC236}">
                <a16:creationId xmlns:a16="http://schemas.microsoft.com/office/drawing/2014/main" id="{B6AB837B-E63D-4A6F-AB8F-8E2D147891A3}"/>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Explain your proposed rule in four sentences. Keep the input, procedure, output and trade-off distinct.</a:t>
            </a:r>
          </a:p>
        </p:txBody>
      </p:sp>
      <p:sp>
        <p:nvSpPr>
          <p:cNvPr id="7" name="">
            <a:extLst xmlns:a="http://schemas.openxmlformats.org/drawingml/2006/main">
              <a:ext uri="{FF2B5EF4-FFF2-40B4-BE49-F238E27FC236}">
                <a16:creationId xmlns:a16="http://schemas.microsoft.com/office/drawing/2014/main" id="{6919389D-B2AF-4372-9313-AA9611DFD78E}"/>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81–85  /  Original teaching explanation</a:t>
            </a:r>
          </a:p>
        </p:txBody>
      </p:sp>
      <p:sp>
        <p:nvSpPr>
          <p:cNvPr id="8" name="">
            <a:extLst xmlns:a="http://schemas.openxmlformats.org/drawingml/2006/main">
              <a:ext uri="{FF2B5EF4-FFF2-40B4-BE49-F238E27FC236}">
                <a16:creationId xmlns:a16="http://schemas.microsoft.com/office/drawing/2014/main" id="{DE612616-89CF-4CB3-9157-1356E754E1E6}"/>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19 / 20</a:t>
            </a:r>
          </a:p>
        </p:txBody>
      </p:sp>
    </p:spTree>
    <p:extLst>
      <p:ext uri="{BB962C8B-B14F-4D97-AF65-F5344CB8AC3E}">
        <p14:creationId xmlns:p14="http://schemas.microsoft.com/office/powerpoint/2010/main" val="493899268"/>
      </p:ext>
    </p:extLst>
  </p:cSld>
</p:sld>
</file>

<file path=ppt/slides/slide20.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F7CADE-A50B-40DA-BEBA-3A79D30940EC}"/>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C76"/>
                </a:solidFill>
                <a:latin typeface="Helvetica Neue"/>
                <a:ea typeface="Helvetica Neue"/>
                <a:cs typeface="Helvetica Neue"/>
              </a:defRPr>
            </a:pPr>
            <a:r>
              <a:rPr sz="1275" b="1">
                <a:solidFill>
                  <a:srgbClr val="167C76"/>
                </a:solidFill>
                <a:latin typeface="Helvetica Neue"/>
                <a:ea typeface="Helvetica Neue"/>
                <a:cs typeface="Helvetica Neue"/>
              </a:rPr>
              <a:t>IB DIGITAL SOCIETY  /  3.2A–D · pp. 81–85; chapter connections pp. 90–91</a:t>
            </a:r>
          </a:p>
        </p:txBody>
      </p:sp>
      <p:sp>
        <p:nvSpPr>
          <p:cNvPr id="2" name="">
            <a:extLst xmlns:a="http://schemas.openxmlformats.org/drawingml/2006/main">
              <a:ext uri="{FF2B5EF4-FFF2-40B4-BE49-F238E27FC236}">
                <a16:creationId xmlns:a16="http://schemas.microsoft.com/office/drawing/2014/main" id="{AD4C4B99-7584-4B92-AB43-0C22D94D422A}"/>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Chapter 3.2: the knowledge to carry forward</a:t>
            </a:r>
          </a:p>
        </p:txBody>
      </p:sp>
      <p:sp>
        <p:nvSpPr>
          <p:cNvPr id="3" name="">
            <a:extLst xmlns:a="http://schemas.openxmlformats.org/drawingml/2006/main">
              <a:ext uri="{FF2B5EF4-FFF2-40B4-BE49-F238E27FC236}">
                <a16:creationId xmlns:a16="http://schemas.microsoft.com/office/drawing/2014/main" id="{7A1987E7-ACF6-4408-9E87-B5E29E9E716D}"/>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6"/>
                </a:solidFill>
                <a:latin typeface="Helvetica Neue"/>
                <a:ea typeface="Helvetica Neue"/>
                <a:cs typeface="Helvetica Neue"/>
              </a:defRPr>
            </a:pPr>
            <a:r>
              <a:rPr sz="2700" b="1">
                <a:solidFill>
                  <a:srgbClr val="167C76"/>
                </a:solidFill>
                <a:latin typeface="Helvetica Neue"/>
                <a:ea typeface="Helvetica Neue"/>
                <a:cs typeface="Helvetica Neue"/>
              </a:rPr>
              <a:t>Describe characteristics and components</a:t>
            </a:r>
          </a:p>
        </p:txBody>
      </p:sp>
      <p:sp>
        <p:nvSpPr>
          <p:cNvPr id="4" name="">
            <a:extLst xmlns:a="http://schemas.openxmlformats.org/drawingml/2006/main">
              <a:ext uri="{FF2B5EF4-FFF2-40B4-BE49-F238E27FC236}">
                <a16:creationId xmlns:a16="http://schemas.microsoft.com/office/drawing/2014/main" id="{B109ACFC-A10B-4850-8836-358F79038098}"/>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Trace a representation and explain its use</a:t>
            </a:r>
          </a:p>
        </p:txBody>
      </p:sp>
      <p:sp>
        <p:nvSpPr>
          <p:cNvPr id="5" name="">
            <a:extLst xmlns:a="http://schemas.openxmlformats.org/drawingml/2006/main">
              <a:ext uri="{FF2B5EF4-FFF2-40B4-BE49-F238E27FC236}">
                <a16:creationId xmlns:a16="http://schemas.microsoft.com/office/drawing/2014/main" id="{D854DE80-7B39-4553-92ED-A7298B2F5B56}"/>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Evaluate the decisions and dilemmas behind a result</a:t>
            </a:r>
          </a:p>
        </p:txBody>
      </p:sp>
      <p:sp>
        <p:nvSpPr>
          <p:cNvPr id="6" name="">
            <a:extLst xmlns:a="http://schemas.openxmlformats.org/drawingml/2006/main">
              <a:ext uri="{FF2B5EF4-FFF2-40B4-BE49-F238E27FC236}">
                <a16:creationId xmlns:a16="http://schemas.microsoft.com/office/drawing/2014/main" id="{98CF8954-082D-49E6-BA55-F574AD3C125F}"/>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6"/>
                </a:solidFill>
                <a:latin typeface="Helvetica Neue"/>
                <a:ea typeface="Helvetica Neue"/>
                <a:cs typeface="Helvetica Neue"/>
              </a:defRPr>
            </a:pPr>
            <a:r>
              <a:rPr sz="1800" b="1">
                <a:solidFill>
                  <a:srgbClr val="167C76"/>
                </a:solidFill>
                <a:latin typeface="Helvetica Neue"/>
                <a:ea typeface="Helvetica Neue"/>
                <a:cs typeface="Helvetica Neue"/>
              </a:rPr>
              <a:t>Checkpoint: Which explanation demonstrates a mechanism?</a:t>
            </a:r>
          </a:p>
        </p:txBody>
      </p:sp>
      <p:sp>
        <p:nvSpPr>
          <p:cNvPr id="7" name="">
            <a:extLst xmlns:a="http://schemas.openxmlformats.org/drawingml/2006/main">
              <a:ext uri="{FF2B5EF4-FFF2-40B4-BE49-F238E27FC236}">
                <a16:creationId xmlns:a16="http://schemas.microsoft.com/office/drawing/2014/main" id="{3A683900-1DEE-4F1D-A99A-DE1ABEBC57C2}"/>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81–91  /  Original teaching explanation</a:t>
            </a:r>
          </a:p>
        </p:txBody>
      </p:sp>
      <p:sp>
        <p:nvSpPr>
          <p:cNvPr id="8" name="">
            <a:extLst xmlns:a="http://schemas.openxmlformats.org/drawingml/2006/main">
              <a:ext uri="{FF2B5EF4-FFF2-40B4-BE49-F238E27FC236}">
                <a16:creationId xmlns:a16="http://schemas.microsoft.com/office/drawing/2014/main" id="{B33FFDB9-D614-4112-8C76-4A91F9E3E025}"/>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20 / 20</a:t>
            </a:r>
          </a:p>
        </p:txBody>
      </p:sp>
    </p:spTree>
    <p:extLst>
      <p:ext uri="{BB962C8B-B14F-4D97-AF65-F5344CB8AC3E}">
        <p14:creationId xmlns:p14="http://schemas.microsoft.com/office/powerpoint/2010/main" val="5911031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2026-10-05T10:35:04.9830000Z</dcterms:created>
  <dcterms:modified xsi:type="dcterms:W3CDTF">2026-10-05T10:35:04.9830000Z</dcterms:modified>
</coreProperties>
</file>