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098c900cab45c6" /><Relationship Type="http://schemas.openxmlformats.org/officeDocument/2006/relationships/extended-properties" Target="/docProps/app.xml" Id="R247c61ee26074510" /><Relationship Type="http://schemas.openxmlformats.org/officeDocument/2006/relationships/officeDocument" Target="/ppt/presentation.xml" Id="R97c9a22021044c67" /></Relationships>
</file>

<file path=ppt/presentation.xml><?xml version="1.0" encoding="utf-8"?>
<p:presentation xmlns:p="http://schemas.openxmlformats.org/presentationml/2006/main">
  <p:sldMasterIdLst>
    <p:sldMasterId xmlns:r="http://schemas.openxmlformats.org/officeDocument/2006/relationships" id="2147483648" r:id="R38235e60ec8a42bf"/>
  </p:sldMasterIdLst>
  <p:notesMasterIdLst>
    <p:notesMasterId xmlns:r="http://schemas.openxmlformats.org/officeDocument/2006/relationships" r:id="Rf62698ef2f524e17"/>
  </p:notesMasterIdLst>
  <p:sldIdLst>
    <p:sldId xmlns:r="http://schemas.openxmlformats.org/officeDocument/2006/relationships" id="256" r:id="Rc59ff1a2aa564e4b"/>
    <p:sldId xmlns:r="http://schemas.openxmlformats.org/officeDocument/2006/relationships" id="257" r:id="Rf006f23c32144c78"/>
    <p:sldId xmlns:r="http://schemas.openxmlformats.org/officeDocument/2006/relationships" id="258" r:id="R70ac62d890bf4dee"/>
    <p:sldId xmlns:r="http://schemas.openxmlformats.org/officeDocument/2006/relationships" id="259" r:id="R670692f98f70459f"/>
    <p:sldId xmlns:r="http://schemas.openxmlformats.org/officeDocument/2006/relationships" id="260" r:id="R2b46ebb001114046"/>
    <p:sldId xmlns:r="http://schemas.openxmlformats.org/officeDocument/2006/relationships" id="261" r:id="Rf6d018076a55493f"/>
    <p:sldId xmlns:r="http://schemas.openxmlformats.org/officeDocument/2006/relationships" id="262" r:id="R1e5c9bd69849415c"/>
    <p:sldId xmlns:r="http://schemas.openxmlformats.org/officeDocument/2006/relationships" id="263" r:id="R1b62277f047349f9"/>
    <p:sldId xmlns:r="http://schemas.openxmlformats.org/officeDocument/2006/relationships" id="264" r:id="R21cc723e3d4547aa"/>
    <p:sldId xmlns:r="http://schemas.openxmlformats.org/officeDocument/2006/relationships" id="265" r:id="Rc1f950eac4544f49"/>
    <p:sldId xmlns:r="http://schemas.openxmlformats.org/officeDocument/2006/relationships" id="266" r:id="Rf3c294f0bcfc4c80"/>
    <p:sldId xmlns:r="http://schemas.openxmlformats.org/officeDocument/2006/relationships" id="267" r:id="Rd237594910b6494d"/>
    <p:sldId xmlns:r="http://schemas.openxmlformats.org/officeDocument/2006/relationships" id="268" r:id="R884787df1be14d93"/>
    <p:sldId xmlns:r="http://schemas.openxmlformats.org/officeDocument/2006/relationships" id="269" r:id="R95c0fb1c5f5542c2"/>
    <p:sldId xmlns:r="http://schemas.openxmlformats.org/officeDocument/2006/relationships" id="270" r:id="R20782fd9780e4c37"/>
    <p:sldId xmlns:r="http://schemas.openxmlformats.org/officeDocument/2006/relationships" id="271" r:id="R2820f5e701804729"/>
    <p:sldId xmlns:r="http://schemas.openxmlformats.org/officeDocument/2006/relationships" id="272" r:id="Rc0c2b81799c74b96"/>
    <p:sldId xmlns:r="http://schemas.openxmlformats.org/officeDocument/2006/relationships" id="273" r:id="R0b896cab79984dce"/>
    <p:sldId xmlns:r="http://schemas.openxmlformats.org/officeDocument/2006/relationships" id="274" r:id="Rc91eb83dff874f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61f55087e54fd4" /><Relationship Type="http://schemas.openxmlformats.org/officeDocument/2006/relationships/slideMaster" Target="/ppt/slideMasters/slideMaster1.xml" Id="R38235e60ec8a42bf" /><Relationship Type="http://schemas.openxmlformats.org/officeDocument/2006/relationships/notesMaster" Target="/ppt/notesMasters/notesMaster1.xml" Id="Rf62698ef2f524e17" /><Relationship Type="http://schemas.openxmlformats.org/officeDocument/2006/relationships/presProps" Target="/ppt/presProps.xml" Id="R5ee637200e44406a" /><Relationship Type="http://schemas.openxmlformats.org/officeDocument/2006/relationships/tableStyles" Target="/ppt/tableStyles.xml" Id="Rb1a9cac98fed4ae4" /><Relationship Type="http://schemas.openxmlformats.org/officeDocument/2006/relationships/slide" Target="/ppt/slides/slide1.xml" Id="Rc59ff1a2aa564e4b" /><Relationship Type="http://schemas.openxmlformats.org/officeDocument/2006/relationships/slide" Target="/ppt/slides/slide2.xml" Id="Rf006f23c32144c78" /><Relationship Type="http://schemas.openxmlformats.org/officeDocument/2006/relationships/slide" Target="/ppt/slides/slide3.xml" Id="R70ac62d890bf4dee" /><Relationship Type="http://schemas.openxmlformats.org/officeDocument/2006/relationships/slide" Target="/ppt/slides/slide4.xml" Id="R670692f98f70459f" /><Relationship Type="http://schemas.openxmlformats.org/officeDocument/2006/relationships/slide" Target="/ppt/slides/slide5.xml" Id="R2b46ebb001114046" /><Relationship Type="http://schemas.openxmlformats.org/officeDocument/2006/relationships/slide" Target="/ppt/slides/slide6.xml" Id="Rf6d018076a55493f" /><Relationship Type="http://schemas.openxmlformats.org/officeDocument/2006/relationships/slide" Target="/ppt/slides/slide7.xml" Id="R1e5c9bd69849415c" /><Relationship Type="http://schemas.openxmlformats.org/officeDocument/2006/relationships/slide" Target="/ppt/slides/slide8.xml" Id="R1b62277f047349f9" /><Relationship Type="http://schemas.openxmlformats.org/officeDocument/2006/relationships/slide" Target="/ppt/slides/slide9.xml" Id="R21cc723e3d4547aa" /><Relationship Type="http://schemas.openxmlformats.org/officeDocument/2006/relationships/slide" Target="/ppt/slides/slide10.xml" Id="Rc1f950eac4544f49" /><Relationship Type="http://schemas.openxmlformats.org/officeDocument/2006/relationships/slide" Target="/ppt/slides/slide11.xml" Id="Rf3c294f0bcfc4c80" /><Relationship Type="http://schemas.openxmlformats.org/officeDocument/2006/relationships/slide" Target="/ppt/slides/slide12.xml" Id="Rd237594910b6494d" /><Relationship Type="http://schemas.openxmlformats.org/officeDocument/2006/relationships/slide" Target="/ppt/slides/slide13.xml" Id="R884787df1be14d93" /><Relationship Type="http://schemas.openxmlformats.org/officeDocument/2006/relationships/slide" Target="/ppt/slides/slide14.xml" Id="R95c0fb1c5f5542c2" /><Relationship Type="http://schemas.openxmlformats.org/officeDocument/2006/relationships/slide" Target="/ppt/slides/slide15.xml" Id="R20782fd9780e4c37" /><Relationship Type="http://schemas.openxmlformats.org/officeDocument/2006/relationships/slide" Target="/ppt/slides/slide16.xml" Id="R2820f5e701804729" /><Relationship Type="http://schemas.openxmlformats.org/officeDocument/2006/relationships/slide" Target="/ppt/slides/slide17.xml" Id="Rc0c2b81799c74b96" /><Relationship Type="http://schemas.openxmlformats.org/officeDocument/2006/relationships/slide" Target="/ppt/slides/slide18.xml" Id="R0b896cab79984dce" /><Relationship Type="http://schemas.openxmlformats.org/officeDocument/2006/relationships/slide" Target="/ppt/slides/slide19.xml" Id="Rc91eb83dff874f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9a5806e63f4b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622ecef9da4c4e" /><Relationship Type="http://schemas.openxmlformats.org/officeDocument/2006/relationships/notesMaster" Target="/ppt/notesMasters/notesMaster1.xml" Id="R365cd02d5ffc4b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d730d17bc140b1" /><Relationship Type="http://schemas.openxmlformats.org/officeDocument/2006/relationships/notesMaster" Target="/ppt/notesMasters/notesMaster1.xml" Id="R3c39e125d01c41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5fa9eb92824651" /><Relationship Type="http://schemas.openxmlformats.org/officeDocument/2006/relationships/notesMaster" Target="/ppt/notesMasters/notesMaster1.xml" Id="R71e34e70640740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bd9affcb414cd6" /><Relationship Type="http://schemas.openxmlformats.org/officeDocument/2006/relationships/notesMaster" Target="/ppt/notesMasters/notesMaster1.xml" Id="Rbd7a2e51524945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e9ce3c5a3d4bc0" /><Relationship Type="http://schemas.openxmlformats.org/officeDocument/2006/relationships/notesMaster" Target="/ppt/notesMasters/notesMaster1.xml" Id="R550ee87d69b348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fb050b583a44b8" /><Relationship Type="http://schemas.openxmlformats.org/officeDocument/2006/relationships/notesMaster" Target="/ppt/notesMasters/notesMaster1.xml" Id="R912de1c473ca4d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d72123f8384fa3" /><Relationship Type="http://schemas.openxmlformats.org/officeDocument/2006/relationships/notesMaster" Target="/ppt/notesMasters/notesMaster1.xml" Id="Rb1838e3dafe14c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76021809724b84" /><Relationship Type="http://schemas.openxmlformats.org/officeDocument/2006/relationships/notesMaster" Target="/ppt/notesMasters/notesMaster1.xml" Id="R38421639fa5e409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6a1d107b8d4bb0" /><Relationship Type="http://schemas.openxmlformats.org/officeDocument/2006/relationships/notesMaster" Target="/ppt/notesMasters/notesMaster1.xml" Id="R9696a4cfd9354c9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7b7fed8d25a4a3f" /><Relationship Type="http://schemas.openxmlformats.org/officeDocument/2006/relationships/notesMaster" Target="/ppt/notesMasters/notesMaster1.xml" Id="R0cb94b9e0456472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df37d10519d4a0a" /><Relationship Type="http://schemas.openxmlformats.org/officeDocument/2006/relationships/notesMaster" Target="/ppt/notesMasters/notesMaster1.xml" Id="R118f1a8fa65749e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f7b7f3d00e44ed2" /><Relationship Type="http://schemas.openxmlformats.org/officeDocument/2006/relationships/notesMaster" Target="/ppt/notesMasters/notesMaster1.xml" Id="Rcecff43cd366438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276a05827b140b9" /><Relationship Type="http://schemas.openxmlformats.org/officeDocument/2006/relationships/notesMaster" Target="/ppt/notesMasters/notesMaster1.xml" Id="R5aa01e5e8a5a40d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06e6e9f36f74549" /><Relationship Type="http://schemas.openxmlformats.org/officeDocument/2006/relationships/notesMaster" Target="/ppt/notesMasters/notesMaster1.xml" Id="R4489216397df4dd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f698701b5744148" /><Relationship Type="http://schemas.openxmlformats.org/officeDocument/2006/relationships/notesMaster" Target="/ppt/notesMasters/notesMaster1.xml" Id="R36546ea4048547f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a818006e99b4f64" /><Relationship Type="http://schemas.openxmlformats.org/officeDocument/2006/relationships/notesMaster" Target="/ppt/notesMasters/notesMaster1.xml" Id="R737c9ff92cab4cf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516428c16d74b8a" /><Relationship Type="http://schemas.openxmlformats.org/officeDocument/2006/relationships/notesMaster" Target="/ppt/notesMasters/notesMaster1.xml" Id="R84963823b3d2450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5ff2affa1d942f3" /><Relationship Type="http://schemas.openxmlformats.org/officeDocument/2006/relationships/notesMaster" Target="/ppt/notesMasters/notesMaster1.xml" Id="R7c231ef581d043c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6c0cf252a484407" /><Relationship Type="http://schemas.openxmlformats.org/officeDocument/2006/relationships/notesMaster" Target="/ppt/notesMasters/notesMaster1.xml" Id="R417089d18eaf49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economic context examines how people work and exchange goods and services. A business uses digital systems to coordinate employees, record transactions and understand demand. A platform can also decide which seller or creator a customer encounters. We will connect a system’s mechanism to opportunities and constraints for different people. A successful business outcome does not automatically mean every worker or customer benefits. This deck covers the assigned business and working-practice sections, and identifies the remainder of the economic chapter.</a:t>
            </a:r>
          </a:p>
          <a:p xmlns:a="http://schemas.openxmlformats.org/drawingml/2006/main">
            <a:r>
              <a:t/>
            </a:r>
          </a:p>
          <a:p xmlns:a="http://schemas.openxmlformats.org/drawingml/2006/main">
            <a:r>
              <a:t>Transactions create records for operations</a:t>
            </a:r>
          </a:p>
          <a:p xmlns:a="http://schemas.openxmlformats.org/drawingml/2006/main">
            <a:r>
              <a:t>Shared tools can coordinate people across places</a:t>
            </a:r>
          </a:p>
          <a:p xmlns:a="http://schemas.openxmlformats.org/drawingml/2006/main">
            <a:r>
              <a:t>Platform rules can distribute access to customers</a:t>
            </a:r>
          </a:p>
          <a:p xmlns:a="http://schemas.openxmlformats.org/drawingml/2006/main">
            <a:r>
              <a:t/>
            </a:r>
          </a:p>
          <a:p xmlns:a="http://schemas.openxmlformats.org/drawingml/2006/main">
            <a:r>
              <a:t>Practice prompt: Name one decision a business can make using transaction records.</a:t>
            </a:r>
          </a:p>
          <a:p xmlns:a="http://schemas.openxmlformats.org/drawingml/2006/main">
            <a:r>
              <a:t/>
            </a:r>
          </a:p>
          <a:p xmlns:a="http://schemas.openxmlformats.org/drawingml/2006/main">
            <a:r>
              <a:t>Source: Bomfim et al., Digital Society for the IB Diploma, Hodder, 2022. Printed pages cited per slide. Original paraphrase. Textbook connection: pp. 213.</a:t>
            </a:r>
          </a:p>
          <a:p xmlns:a="http://schemas.openxmlformats.org/drawingml/2006/main">
            <a:r>
              <a:t>Visual: Existing teaching image or native invented data chart. All synthetic values are labelled.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a school event shop. Each sale updates a transaction record. Summing sales by item can inform the next stock order. A shared calendar helps volunteers coordinate, and a shared document records decisions. The system connects information to action. The textbook describes movement towards more dynamic teams, but that is a possible organizational change rather than a universal outcome of using software. A company can adopt digital tools while retaining a strict hierarchy. Explain the specific change in the example you use.</a:t>
            </a:r>
          </a:p>
          <a:p xmlns:a="http://schemas.openxmlformats.org/drawingml/2006/main">
            <a:r>
              <a:t/>
            </a:r>
          </a:p>
          <a:p xmlns:a="http://schemas.openxmlformats.org/drawingml/2006/main">
            <a:r>
              <a:t>Shared calendars and files can coordinate a team</a:t>
            </a:r>
          </a:p>
          <a:p xmlns:a="http://schemas.openxmlformats.org/drawingml/2006/main">
            <a:r>
              <a:t>Databases and transaction systems record activity</a:t>
            </a:r>
          </a:p>
          <a:p xmlns:a="http://schemas.openxmlformats.org/drawingml/2006/main">
            <a:r>
              <a:t>Data analysis can support stock, staffing or service decisions</a:t>
            </a:r>
          </a:p>
          <a:p xmlns:a="http://schemas.openxmlformats.org/drawingml/2006/main">
            <a:r>
              <a:t/>
            </a:r>
          </a:p>
          <a:p xmlns:a="http://schemas.openxmlformats.org/drawingml/2006/main">
            <a:r>
              <a:t/>
            </a:r>
          </a:p>
          <a:p xmlns:a="http://schemas.openxmlformats.org/drawingml/2006/main">
            <a:r>
              <a:t>Source: Bomfim et al., Digital Society for the IB Diploma, Hodder, 2022. Printed pages cited per slide. Original paraphrase. Textbook connection: pp. 213–214.</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subscription service may value renewal, a marketplace may earn a commission on completed sales, and an advertising-funded service may gain from opportunities to show ads. These are possible incentives, not proof of the objective used by every business. A platform’s ranking choice can support one of those outcomes. Distinguish a claim about the business model from evidence about an actual ranking rule. Consider customer value, operating costs and other constraints as well as revenue.</a:t>
            </a:r>
          </a:p>
          <a:p xmlns:a="http://schemas.openxmlformats.org/drawingml/2006/main">
            <a:r>
              <a:t/>
            </a:r>
          </a:p>
          <a:p xmlns:a="http://schemas.openxmlformats.org/drawingml/2006/main">
            <a:r>
              <a:t>An organization may trade immediate profit for repeat use</a:t>
            </a:r>
          </a:p>
          <a:p xmlns:a="http://schemas.openxmlformats.org/drawingml/2006/main">
            <a:r>
              <a:t>Advertising, subscriptions and commissions reward different outcomes</a:t>
            </a:r>
          </a:p>
          <a:p xmlns:a="http://schemas.openxmlformats.org/drawingml/2006/main">
            <a:r>
              <a:t>The revenue model can influence what a system optimizes</a:t>
            </a:r>
          </a:p>
          <a:p xmlns:a="http://schemas.openxmlformats.org/drawingml/2006/main">
            <a:r>
              <a:t/>
            </a:r>
          </a:p>
          <a:p xmlns:a="http://schemas.openxmlformats.org/drawingml/2006/main">
            <a:r>
              <a:t>Practice prompt: Which evidence would connect a revenue model to a specific ranking choice?</a:t>
            </a:r>
          </a:p>
          <a:p xmlns:a="http://schemas.openxmlformats.org/drawingml/2006/main">
            <a:r>
              <a:t/>
            </a:r>
          </a:p>
          <a:p xmlns:a="http://schemas.openxmlformats.org/drawingml/2006/main">
            <a:r>
              <a:t>Source: Bomfim et al., Digital Society for the IB Diploma, Hodder, 2022. Printed pages cited per slide. Original paraphrase. Textbook connection: pp. 213–214.</a:t>
            </a:r>
          </a:p>
          <a:p xmlns:a="http://schemas.openxmlformats.org/drawingml/2006/main">
            <a:r>
              <a:t>Visual: Existing teaching image or native invented data chart. All synthetic values are labelled.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numbers are invented. Badges may have sold more because they were cheaper or available for longer. A manager might order more badges, but should check whether the poster stock ran out or whether a different audience will attend next time. The mechanism is transaction capture, aggregation, interpretation and a stock decision. The implication is conditional: if the pattern continues and the stock decision matches demand, waste may fall. Avoid turning a single descriptive total into a guaranteed forecast.</a:t>
            </a:r>
          </a:p>
          <a:p xmlns:a="http://schemas.openxmlformats.org/drawingml/2006/main">
            <a:r>
              <a:t/>
            </a:r>
          </a:p>
          <a:p xmlns:a="http://schemas.openxmlformats.org/drawingml/2006/main">
            <a:r>
              <a:t>An invented event shop records 12 badge sales and 4 poster sales</a:t>
            </a:r>
          </a:p>
          <a:p xmlns:a="http://schemas.openxmlformats.org/drawingml/2006/main">
            <a:r>
              <a:t>A stock decision can use those totals</a:t>
            </a:r>
          </a:p>
          <a:p xmlns:a="http://schemas.openxmlformats.org/drawingml/2006/main">
            <a:r>
              <a:t>The decision also needs context: stock, price and who attended</a:t>
            </a:r>
          </a:p>
          <a:p xmlns:a="http://schemas.openxmlformats.org/drawingml/2006/main">
            <a:r>
              <a:t/>
            </a:r>
          </a:p>
          <a:p xmlns:a="http://schemas.openxmlformats.org/drawingml/2006/main">
            <a:r>
              <a:t>Checkpoint: What does 12 badge sales establish?</a:t>
            </a:r>
          </a:p>
          <a:p xmlns:a="http://schemas.openxmlformats.org/drawingml/2006/main">
            <a:r>
              <a:t>Options: A recorded past total / Guaranteed demand at the next event / The only reason customers chose badges</a:t>
            </a:r>
          </a:p>
          <a:p xmlns:a="http://schemas.openxmlformats.org/drawingml/2006/main">
            <a:r>
              <a:t>Practice answer: A recorded past total. A total supports a description. Prediction and cause require more context.</a:t>
            </a:r>
          </a:p>
          <a:p xmlns:a="http://schemas.openxmlformats.org/drawingml/2006/main">
            <a:r>
              <a:t/>
            </a:r>
          </a:p>
          <a:p xmlns:a="http://schemas.openxmlformats.org/drawingml/2006/main">
            <a:r>
              <a:t>Source: Bomfim et al., Digital Society for the IB Diploma, Hodder, 2022. Printed pages cited per slide. Original paraphrase. Textbook connection: pp. 213–214.</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chapter uses diversity in two related but different senses. A business may diversify what it sells, and it may seek a diverse workforce. These should not be confused. An inclusive organization also examines whether people can participate effectively, rather than simply counting demographic categories. Digital recruitment can broaden access, but an unsuitable screening rule can exclude applicants. The next two slides explain the textbook’s four diversification categories using invented examples, before we return to hiring and power.</a:t>
            </a:r>
          </a:p>
          <a:p xmlns:a="http://schemas.openxmlformats.org/drawingml/2006/main">
            <a:r>
              <a:t/>
            </a:r>
          </a:p>
          <a:p xmlns:a="http://schemas.openxmlformats.org/drawingml/2006/main">
            <a:r>
              <a:t>Diversification changes products, markets or the supply chain</a:t>
            </a:r>
          </a:p>
          <a:p xmlns:a="http://schemas.openxmlformats.org/drawingml/2006/main">
            <a:r>
              <a:t>Workforce diversity concerns the people in an organization</a:t>
            </a:r>
          </a:p>
          <a:p xmlns:a="http://schemas.openxmlformats.org/drawingml/2006/main">
            <a:r>
              <a:t>Inclusion concerns whether people can participate and feel respected</a:t>
            </a:r>
          </a:p>
          <a:p xmlns:a="http://schemas.openxmlformats.org/drawingml/2006/main">
            <a:r>
              <a:t/>
            </a:r>
          </a:p>
          <a:p xmlns:a="http://schemas.openxmlformats.org/drawingml/2006/main">
            <a:r>
              <a:t/>
            </a:r>
          </a:p>
          <a:p xmlns:a="http://schemas.openxmlformats.org/drawingml/2006/main">
            <a:r>
              <a:t>Source: Bomfim et al., Digital Society for the IB Diploma, Hodder, 2022. Printed pages cited per slide. Original paraphrase. Textbook connection: pp. 214–215.</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Using the textbook’s terminology, a video platform adding a messaging service is horizontal diversification because it offers a complementary service. An online seller operating its own delivery fleet is vertical diversification because it takes over a part of its supply or delivery chain. These are invented illustrations. A firm can pursue more than one strategy, so explain which relationship a particular decision changes. Avoid memorizing a company name as if it always belongs to one category.</a:t>
            </a:r>
          </a:p>
          <a:p xmlns:a="http://schemas.openxmlformats.org/drawingml/2006/main">
            <a:r>
              <a:t/>
            </a:r>
          </a:p>
          <a:p xmlns:a="http://schemas.openxmlformats.org/drawingml/2006/main">
            <a:r>
              <a:t>Horizontal: add a complementary product or service</a:t>
            </a:r>
          </a:p>
          <a:p xmlns:a="http://schemas.openxmlformats.org/drawingml/2006/main">
            <a:r>
              <a:t>Vertical: take over another part of the supply or production chain</a:t>
            </a:r>
          </a:p>
          <a:p xmlns:a="http://schemas.openxmlformats.org/drawingml/2006/main">
            <a:r>
              <a:t>Classify the relationship, not merely the fact that a company grows</a:t>
            </a:r>
          </a:p>
          <a:p xmlns:a="http://schemas.openxmlformats.org/drawingml/2006/main">
            <a:r>
              <a:t/>
            </a:r>
          </a:p>
          <a:p xmlns:a="http://schemas.openxmlformats.org/drawingml/2006/main">
            <a:r>
              <a:t/>
            </a:r>
          </a:p>
          <a:p xmlns:a="http://schemas.openxmlformats.org/drawingml/2006/main">
            <a:r>
              <a:t>Source: Bomfim et al., Digital Society for the IB Diploma, Hodder, 2022. Printed pages cited per slide. Original paraphrase. Textbook connection: pp. 214.</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platform adapting its existing service for business accounts illustrates concentric diversification in this textbook. A game company entering an unrelated agricultural business illustrates conglomerate diversification. The examples clarify the relationship rather than asserting facts about a real company. The textbook’s inquiry on page 215 repeats the word conglomerate in a prompt whose description matches concentric. Use the definitions on page 214 to resolve that printing inconsistency. In a response, justify the category by the change being made.</a:t>
            </a:r>
          </a:p>
          <a:p xmlns:a="http://schemas.openxmlformats.org/drawingml/2006/main">
            <a:r>
              <a:t/>
            </a:r>
          </a:p>
          <a:p xmlns:a="http://schemas.openxmlformats.org/drawingml/2006/main">
            <a:r>
              <a:t>Concentric: adapt an existing line for a wider audience</a:t>
            </a:r>
          </a:p>
          <a:p xmlns:a="http://schemas.openxmlformats.org/drawingml/2006/main">
            <a:r>
              <a:t>Conglomerate: enter an unrelated product or industry</a:t>
            </a:r>
          </a:p>
          <a:p xmlns:a="http://schemas.openxmlformats.org/drawingml/2006/main">
            <a:r>
              <a:t>The distinction follows the textbook’s definitions</a:t>
            </a:r>
          </a:p>
          <a:p xmlns:a="http://schemas.openxmlformats.org/drawingml/2006/main">
            <a:r>
              <a:t/>
            </a:r>
          </a:p>
          <a:p xmlns:a="http://schemas.openxmlformats.org/drawingml/2006/main">
            <a:r>
              <a:t/>
            </a:r>
          </a:p>
          <a:p xmlns:a="http://schemas.openxmlformats.org/drawingml/2006/main">
            <a:r>
              <a:t>Source: Bomfim et al., Digital Society for the IB Diploma, Hodder, 2022. Printed pages cited per slide. Original paraphrase. Textbook connection: pp. 214–215.</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chapter discusses automated hiring and psychometric testing as historical examples. A psychometric survey aims to measure capabilities or behavioural characteristics. A screening system may reduce processing time, but its measures must relate to the role and work appropriately for different applicants. We do not treat the textbook’s descriptions of named vendors in 2022 as their current product specifications. For an inquiry, verify present practices and examine the evidence for validity, accessibility and unequal outcomes.</a:t>
            </a:r>
          </a:p>
          <a:p xmlns:a="http://schemas.openxmlformats.org/drawingml/2006/main">
            <a:r>
              <a:t/>
            </a:r>
          </a:p>
          <a:p xmlns:a="http://schemas.openxmlformats.org/drawingml/2006/main">
            <a:r>
              <a:t>A system can screen applicants quickly</a:t>
            </a:r>
          </a:p>
          <a:p xmlns:a="http://schemas.openxmlformats.org/drawingml/2006/main">
            <a:r>
              <a:t>Historical labels can preserve past exclusion</a:t>
            </a:r>
          </a:p>
          <a:p xmlns:a="http://schemas.openxmlformats.org/drawingml/2006/main">
            <a:r>
              <a:t>A relevant measure and a challenge route need evaluation</a:t>
            </a:r>
          </a:p>
          <a:p xmlns:a="http://schemas.openxmlformats.org/drawingml/2006/main">
            <a:r>
              <a:t/>
            </a:r>
          </a:p>
          <a:p xmlns:a="http://schemas.openxmlformats.org/drawingml/2006/main">
            <a:r>
              <a:t>Checkpoint: What most directly links hiring to algorithmic dilemmas?</a:t>
            </a:r>
          </a:p>
          <a:p xmlns:a="http://schemas.openxmlformats.org/drawingml/2006/main">
            <a:r>
              <a:t>Options: The appearance of an application page / The choice of data, labels and screening criteria / The fact that all firms use identical software</a:t>
            </a:r>
          </a:p>
          <a:p xmlns:a="http://schemas.openxmlformats.org/drawingml/2006/main">
            <a:r>
              <a:t>Practice answer: The choice of data, labels and screening criteria. These decisions can influence whose application is advanced or rejected.</a:t>
            </a:r>
          </a:p>
          <a:p xmlns:a="http://schemas.openxmlformats.org/drawingml/2006/main">
            <a:r>
              <a:t/>
            </a:r>
          </a:p>
          <a:p xmlns:a="http://schemas.openxmlformats.org/drawingml/2006/main">
            <a:r>
              <a:t>Source: Bomfim et al., Digital Society for the IB Diploma, Hodder, 2022. Printed pages cited per slide. Original paraphrase. Textbook connection: pp. 215–217.</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older account of facial or voice analysis cannot establish what a hiring service offers today. We can still learn from its dilemma: whether a measured signal validly supports a consequential employment decision. Label the date, separate the general idea from the vendor claim, and seek current documentation before writing a present-tense case. Our required real cases this week use the dated provider, regulator, YouTube and ILO sources in the case file. This prevents a vivid historical example from becoming an unsupported current assertion.</a:t>
            </a:r>
          </a:p>
          <a:p xmlns:a="http://schemas.openxmlformats.org/drawingml/2006/main">
            <a:r>
              <a:t/>
            </a:r>
          </a:p>
          <a:p xmlns:a="http://schemas.openxmlformats.org/drawingml/2006/main">
            <a:r>
              <a:t>Textbook examples establish the chapter’s original discussion</a:t>
            </a:r>
          </a:p>
          <a:p xmlns:a="http://schemas.openxmlformats.org/drawingml/2006/main">
            <a:r>
              <a:t>Current product details need a current primary source</a:t>
            </a:r>
          </a:p>
          <a:p xmlns:a="http://schemas.openxmlformats.org/drawingml/2006/main">
            <a:r>
              <a:t>The underlying dilemma can remain relevant after a product changes</a:t>
            </a:r>
          </a:p>
          <a:p xmlns:a="http://schemas.openxmlformats.org/drawingml/2006/main">
            <a:r>
              <a:t/>
            </a:r>
          </a:p>
          <a:p xmlns:a="http://schemas.openxmlformats.org/drawingml/2006/main">
            <a:r>
              <a:t>Practice prompt: Rewrite a historical product claim so its date and limit remain clear.</a:t>
            </a:r>
          </a:p>
          <a:p xmlns:a="http://schemas.openxmlformats.org/drawingml/2006/main">
            <a:r>
              <a:t/>
            </a:r>
          </a:p>
          <a:p xmlns:a="http://schemas.openxmlformats.org/drawingml/2006/main">
            <a:r>
              <a:t>Source: Bomfim et al., Digital Society for the IB Diploma, Hodder, 2022. Printed pages cited per slide. Original paraphrase. Textbook connection: pp. 216–217.</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textbook describes start-ups, office design and digital working practices. A start-up is an organization in an early stage of development. Funding and product uncertainty can affect workers. Flexible spaces and shared tools can support coordination, yet open rooms can also distract people and some tasks need privacy. The historical descriptions of particular company offices are not current evidence of employee experience. Judge the arrangement against the task and the people who use it, including access, concentration and boundaries between work and personal time.</a:t>
            </a:r>
          </a:p>
          <a:p xmlns:a="http://schemas.openxmlformats.org/drawingml/2006/main">
            <a:r>
              <a:t/>
            </a:r>
          </a:p>
          <a:p xmlns:a="http://schemas.openxmlformats.org/drawingml/2006/main">
            <a:r>
              <a:t>Digital tasks can change where and how work happens</a:t>
            </a:r>
          </a:p>
          <a:p xmlns:a="http://schemas.openxmlformats.org/drawingml/2006/main">
            <a:r>
              <a:t>Office design can support collaboration or quiet work</a:t>
            </a:r>
          </a:p>
          <a:p xmlns:a="http://schemas.openxmlformats.org/drawingml/2006/main">
            <a:r>
              <a:t>A flexible environment does not guarantee good working conditions</a:t>
            </a:r>
          </a:p>
          <a:p xmlns:a="http://schemas.openxmlformats.org/drawingml/2006/main">
            <a:r>
              <a:t/>
            </a:r>
          </a:p>
          <a:p xmlns:a="http://schemas.openxmlformats.org/drawingml/2006/main">
            <a:r>
              <a:t>Practice prompt: Which task benefits from a shared space? Which needs a quiet or private space?</a:t>
            </a:r>
          </a:p>
          <a:p xmlns:a="http://schemas.openxmlformats.org/drawingml/2006/main">
            <a:r>
              <a:t/>
            </a:r>
          </a:p>
          <a:p xmlns:a="http://schemas.openxmlformats.org/drawingml/2006/main">
            <a:r>
              <a:t>Source: Bomfim et al., Digital Society for the IB Diploma, Hodder, 2022. Printed pages cited per slide. Original paraphrase. Textbook connection: pp. 217.</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employee working from home can be remote without being a digital nomad. A person travelling while completing online work may be both. The system requires suitable devices, networks, access to files and ways to coordinate. That can expand location choices, but time zones, unreliable access and data handling can introduce costs. Permission to work across borders depends on the specific setting, so a course discussion should investigate the relevant rules rather than assume freedom to work anywhere.</a:t>
            </a:r>
          </a:p>
          <a:p xmlns:a="http://schemas.openxmlformats.org/drawingml/2006/main">
            <a:r>
              <a:t/>
            </a:r>
          </a:p>
          <a:p xmlns:a="http://schemas.openxmlformats.org/drawingml/2006/main">
            <a:r>
              <a:t>Remote work uses networks to complete work away from a central workplace</a:t>
            </a:r>
          </a:p>
          <a:p xmlns:a="http://schemas.openxmlformats.org/drawingml/2006/main">
            <a:r>
              <a:t>A digital nomad works remotely while moving between locations</a:t>
            </a:r>
          </a:p>
          <a:p xmlns:a="http://schemas.openxmlformats.org/drawingml/2006/main">
            <a:r>
              <a:t>Connectivity, access and security can constrain that flexibility</a:t>
            </a:r>
          </a:p>
          <a:p xmlns:a="http://schemas.openxmlformats.org/drawingml/2006/main">
            <a:r>
              <a:t/>
            </a:r>
          </a:p>
          <a:p xmlns:a="http://schemas.openxmlformats.org/drawingml/2006/main">
            <a:r>
              <a:t>Practice prompt: Both people work remotely. What makes the travel setting different? Explain one network dependency.</a:t>
            </a:r>
          </a:p>
          <a:p xmlns:a="http://schemas.openxmlformats.org/drawingml/2006/main">
            <a:r>
              <a:t/>
            </a:r>
          </a:p>
          <a:p xmlns:a="http://schemas.openxmlformats.org/drawingml/2006/main">
            <a:r>
              <a:t>Source: Bomfim et al., Digital Society for the IB Diploma, Hodder, 2022. Printed pages cited per slide. Original paraphrase. Textbook connection: pp. 217–218.</a:t>
            </a:r>
          </a:p>
          <a:p xmlns:a="http://schemas.openxmlformats.org/drawingml/2006/main">
            <a:r>
              <a:t>Visual: Existing teaching image or native invented data chart. All synthetic values are labelled.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group asking people to submit designs is crowdsourcing. A group asking for donations to produce an exhibition is crowdfunding. One gathers contributions of work or information, and the other gathers money. A crowdsourced collection may contain errors or uneven perspectives, so someone still needs to evaluate it. Crowdfunding does not guarantee a project will succeed. Use a specific example and identify what is being contributed. No account creation, payment or participation in a labour platform is required for this lesson.</a:t>
            </a:r>
          </a:p>
          <a:p xmlns:a="http://schemas.openxmlformats.org/drawingml/2006/main">
            <a:r>
              <a:t/>
            </a:r>
          </a:p>
          <a:p xmlns:a="http://schemas.openxmlformats.org/drawingml/2006/main">
            <a:r>
              <a:t>Crowdsourcing gathers contributions, information or work</a:t>
            </a:r>
          </a:p>
          <a:p xmlns:a="http://schemas.openxmlformats.org/drawingml/2006/main">
            <a:r>
              <a:t>Crowdfunding gathers money for a project or cause</a:t>
            </a:r>
          </a:p>
          <a:p xmlns:a="http://schemas.openxmlformats.org/drawingml/2006/main">
            <a:r>
              <a:t>Both need decisions about participation and use</a:t>
            </a:r>
          </a:p>
          <a:p xmlns:a="http://schemas.openxmlformats.org/drawingml/2006/main">
            <a:r>
              <a:t/>
            </a:r>
          </a:p>
          <a:p xmlns:a="http://schemas.openxmlformats.org/drawingml/2006/main">
            <a:r>
              <a:t>Checkpoint: A class requests volunteer translations of its event guide. What is being gathered?</a:t>
            </a:r>
          </a:p>
          <a:p xmlns:a="http://schemas.openxmlformats.org/drawingml/2006/main">
            <a:r>
              <a:t>Options: Crowdfunding money / Crowdsourced work / A guaranteed representative sample</a:t>
            </a:r>
          </a:p>
          <a:p xmlns:a="http://schemas.openxmlformats.org/drawingml/2006/main">
            <a:r>
              <a:t>Practice answer: Crowdsourced work. The contribution is work. Its quality and representation still need checking.</a:t>
            </a:r>
          </a:p>
          <a:p xmlns:a="http://schemas.openxmlformats.org/drawingml/2006/main">
            <a:r>
              <a:t/>
            </a:r>
          </a:p>
          <a:p xmlns:a="http://schemas.openxmlformats.org/drawingml/2006/main">
            <a:r>
              <a:t>Source: Bomfim et al., Digital Society for the IB Diploma, Hodder, 2022. Printed pages cited per slide. Original paraphrase. Textbook connection: pp. 218–219.</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categories can overlap, but they emphasize different features. Labelling individual images for payment is microwork. A platform matching a customer with someone to complete a delivery illustrates gig work. Renting access to equipment through a booking service illustrates a sharing arrangement. A creator earning advertising revenue is not automatically performing microwork. Explain the task, payment arrangement and platform’s role before drawing comparisons. Avoid assuming the same working conditions across all digital work.</a:t>
            </a:r>
          </a:p>
          <a:p xmlns:a="http://schemas.openxmlformats.org/drawingml/2006/main">
            <a:r>
              <a:t/>
            </a:r>
          </a:p>
          <a:p xmlns:a="http://schemas.openxmlformats.org/drawingml/2006/main">
            <a:r>
              <a:t>Microwork consists of small tasks completed for payment</a:t>
            </a:r>
          </a:p>
          <a:p xmlns:a="http://schemas.openxmlformats.org/drawingml/2006/main">
            <a:r>
              <a:t>Gig platforms match short-term service providers and customers</a:t>
            </a:r>
          </a:p>
          <a:p xmlns:a="http://schemas.openxmlformats.org/drawingml/2006/main">
            <a:r>
              <a:t>Sharing arrangements provide access to assets or services</a:t>
            </a:r>
          </a:p>
          <a:p xmlns:a="http://schemas.openxmlformats.org/drawingml/2006/main">
            <a:r>
              <a:t/>
            </a:r>
          </a:p>
          <a:p xmlns:a="http://schemas.openxmlformats.org/drawingml/2006/main">
            <a:r>
              <a:t>Practice prompt: Classify an invented paid image-labelling task and an equipment rental. Explain the distinction.</a:t>
            </a:r>
          </a:p>
          <a:p xmlns:a="http://schemas.openxmlformats.org/drawingml/2006/main">
            <a:r>
              <a:t/>
            </a:r>
          </a:p>
          <a:p xmlns:a="http://schemas.openxmlformats.org/drawingml/2006/main">
            <a:r>
              <a:t>Source: Bomfim et al., Digital Society for the IB Diploma, Hodder, 2022. Printed pages cited per slide. Original paraphrase. Textbook connection: pp. 219.</a:t>
            </a:r>
          </a:p>
          <a:p xmlns:a="http://schemas.openxmlformats.org/drawingml/2006/main">
            <a:r>
              <a:t>Visual: Existing teaching image or native invented data chart. All synthetic values are labelled.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matching platform reduces the effort needed to find a customer. It may also set the conditions under which a worker appears, receives a task or challenges a rating. That changes the power relationship. A numerical rating can affect visibility without revealing the context of a complaint. These are mechanisms to investigate in a specific case rather than universal findings about every platform. Trace the information that enters the allocation and identify who can change a record or contest the result.</a:t>
            </a:r>
          </a:p>
          <a:p xmlns:a="http://schemas.openxmlformats.org/drawingml/2006/main">
            <a:r>
              <a:t/>
            </a:r>
          </a:p>
          <a:p xmlns:a="http://schemas.openxmlformats.org/drawingml/2006/main">
            <a:r>
              <a:t>A platform can match a worker and a customer</a:t>
            </a:r>
          </a:p>
          <a:p xmlns:a="http://schemas.openxmlformats.org/drawingml/2006/main">
            <a:r>
              <a:t>Ratings and allocation rules can influence future access</a:t>
            </a:r>
          </a:p>
          <a:p xmlns:a="http://schemas.openxmlformats.org/drawingml/2006/main">
            <a:r>
              <a:t>Workers may have limited information or control</a:t>
            </a:r>
          </a:p>
          <a:p xmlns:a="http://schemas.openxmlformats.org/drawingml/2006/main">
            <a:r>
              <a:t/>
            </a:r>
          </a:p>
          <a:p xmlns:a="http://schemas.openxmlformats.org/drawingml/2006/main">
            <a:r>
              <a:t>Practice prompt: Identify an opportunity for the worker and a point where the platform exercises power.</a:t>
            </a:r>
          </a:p>
          <a:p xmlns:a="http://schemas.openxmlformats.org/drawingml/2006/main">
            <a:r>
              <a:t/>
            </a:r>
          </a:p>
          <a:p xmlns:a="http://schemas.openxmlformats.org/drawingml/2006/main">
            <a:r>
              <a:t>Source: Bomfim et al., Digital Society for the IB Diploma, Hodder, 2022. Printed pages cited per slide. Original paraphrase. Textbook connection: pp. 217–219.</a:t>
            </a:r>
          </a:p>
          <a:p xmlns:a="http://schemas.openxmlformats.org/drawingml/2006/main">
            <a:r>
              <a:t>Visual: Existing teaching image or native invented data chart. All synthetic values are labelled.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textbook explains employee organizations and collective bargaining, and raises the contrast between employment and contracted task provision. Digital coordination can help workers share information and organize. The applicable rights and benefits depend on law and the actual relationship in a particular jurisdiction. We will not label every gig worker the same way. An inquiry needs a defined place, period and source. The conceptual question is how the platform’s control and the worker’s ability to negotiate affect the distribution of benefits and risks.</a:t>
            </a:r>
          </a:p>
          <a:p xmlns:a="http://schemas.openxmlformats.org/drawingml/2006/main">
            <a:r>
              <a:t/>
            </a:r>
          </a:p>
          <a:p xmlns:a="http://schemas.openxmlformats.org/drawingml/2006/main">
            <a:r>
              <a:t>Workers can organize to seek better conditions</a:t>
            </a:r>
          </a:p>
          <a:p xmlns:a="http://schemas.openxmlformats.org/drawingml/2006/main">
            <a:r>
              <a:t>Collective bargaining represents a group in negotiation</a:t>
            </a:r>
          </a:p>
          <a:p xmlns:a="http://schemas.openxmlformats.org/drawingml/2006/main">
            <a:r>
              <a:t>A worker’s status and rights depend on the actual arrangement</a:t>
            </a:r>
          </a:p>
          <a:p xmlns:a="http://schemas.openxmlformats.org/drawingml/2006/main">
            <a:r>
              <a:t/>
            </a:r>
          </a:p>
          <a:p xmlns:a="http://schemas.openxmlformats.org/drawingml/2006/main">
            <a:r>
              <a:t>Practice prompt: What evidence would you need before comparing a platform employee with a contracted worker?</a:t>
            </a:r>
          </a:p>
          <a:p xmlns:a="http://schemas.openxmlformats.org/drawingml/2006/main">
            <a:r>
              <a:t/>
            </a:r>
          </a:p>
          <a:p xmlns:a="http://schemas.openxmlformats.org/drawingml/2006/main">
            <a:r>
              <a:t>Source: Bomfim et al., Digital Society for the IB Diploma, Hodder, 2022. Printed pages cited per slide. Original paraphrase. Textbook connection: pp. 219.</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provider’s earnings overview specifies a Watch Page share of 55 percent of net advertising revenue and a Shorts share of 45 percent of the revenue allocated from the Creator Pool. Those denominators differ. Comparing the percentages alone does not show which gives a particular creator more income. Income also depends on the eligible revenue, allocation and activity. Use the exact terms and source locator in the case file. This source supports the stated payment rules, not an independent finding about earnings stability.</a:t>
            </a:r>
          </a:p>
          <a:p xmlns:a="http://schemas.openxmlformats.org/drawingml/2006/main">
            <a:r>
              <a:t/>
            </a:r>
          </a:p>
          <a:p xmlns:a="http://schemas.openxmlformats.org/drawingml/2006/main">
            <a:r>
              <a:t>YouTube describes different payment bases for Watch Page and Shorts</a:t>
            </a:r>
          </a:p>
          <a:p xmlns:a="http://schemas.openxmlformats.org/drawingml/2006/main">
            <a:r>
              <a:t>A revenue-share rate needs its denominator</a:t>
            </a:r>
          </a:p>
          <a:p xmlns:a="http://schemas.openxmlformats.org/drawingml/2006/main">
            <a:r>
              <a:t>A share rate alone does not establish a creator’s income</a:t>
            </a:r>
          </a:p>
          <a:p xmlns:a="http://schemas.openxmlformats.org/drawingml/2006/main">
            <a:r>
              <a:t/>
            </a:r>
          </a:p>
          <a:p xmlns:a="http://schemas.openxmlformats.org/drawingml/2006/main">
            <a:r>
              <a:t>Checkpoint: Why can’t we compare 55% and 45% as if they were the same payment?</a:t>
            </a:r>
          </a:p>
          <a:p xmlns:a="http://schemas.openxmlformats.org/drawingml/2006/main">
            <a:r>
              <a:t>Options: The rates use different bases / Percentages never matter / The larger number guarantees higher income</a:t>
            </a:r>
          </a:p>
          <a:p xmlns:a="http://schemas.openxmlformats.org/drawingml/2006/main">
            <a:r>
              <a:t>Practice answer: The rates use different bases. The denominator and allocated amount are essential to the comparison.</a:t>
            </a:r>
          </a:p>
          <a:p xmlns:a="http://schemas.openxmlformats.org/drawingml/2006/main">
            <a:r>
              <a:t/>
            </a:r>
          </a:p>
          <a:p xmlns:a="http://schemas.openxmlformats.org/drawingml/2006/main">
            <a:r>
              <a:t>Source: YouTube Partner earnings overview, checked 5 October 2026. https://support.google.com/youtube/answer/72902 Textbook connection: pp. 213–219.</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ILO’s historical research summary considers platform work from a labour perspective. It helps us ask about access to work, working conditions and social protection. Its date and scope matter. Use it to frame a labour question and compare with an appropriate current case, not to calculate a creator’s present income. A source may be relevant to one part of an inquiry and insufficient for another. That is why the source passport ties usefulness to a specific claim.</a:t>
            </a:r>
          </a:p>
          <a:p xmlns:a="http://schemas.openxmlformats.org/drawingml/2006/main">
            <a:r>
              <a:t/>
            </a:r>
          </a:p>
          <a:p xmlns:a="http://schemas.openxmlformats.org/drawingml/2006/main">
            <a:r>
              <a:t>The ILO examines different forms of platform work</a:t>
            </a:r>
          </a:p>
          <a:p xmlns:a="http://schemas.openxmlformats.org/drawingml/2006/main">
            <a:r>
              <a:t>Its 2021 evidence is useful for historical context</a:t>
            </a:r>
          </a:p>
          <a:p xmlns:a="http://schemas.openxmlformats.org/drawingml/2006/main">
            <a:r>
              <a:t>It cannot establish a current TikTok creator’s earnings</a:t>
            </a:r>
          </a:p>
          <a:p xmlns:a="http://schemas.openxmlformats.org/drawingml/2006/main">
            <a:r>
              <a:t/>
            </a:r>
          </a:p>
          <a:p xmlns:a="http://schemas.openxmlformats.org/drawingml/2006/main">
            <a:r>
              <a:t>Practice prompt: Which part of a creator-income inquiry could this source inform? What evidence is still needed?</a:t>
            </a:r>
          </a:p>
          <a:p xmlns:a="http://schemas.openxmlformats.org/drawingml/2006/main">
            <a:r>
              <a:t>Related browser practice: ../case-file.html</a:t>
            </a:r>
          </a:p>
          <a:p xmlns:a="http://schemas.openxmlformats.org/drawingml/2006/main">
            <a:r>
              <a:t/>
            </a:r>
          </a:p>
          <a:p xmlns:a="http://schemas.openxmlformats.org/drawingml/2006/main">
            <a:r>
              <a:t>Source: ILO, 23 February 2021, historical research summary. https://www.ilo.org/resource/news/rapid-growth-digital-economy-calls-coherent-policy-response-0 Textbook connection: pp. 217–219.</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our invented museum feed. A discovery weight increases exposure for an unfamiliar topic. A possible immediate impact is that a new creator gains opportunities to be seen. A possible implication is a broader range of creators sustaining an audience, but that requires continued exposure and suitable income opportunities. The implication is not simply a more dramatic synonym for the impact. State the time horizon, the affected group and the conditions linking them. Your Friday response uses real evidence and must retain the limits of those sources.</a:t>
            </a:r>
          </a:p>
          <a:p xmlns:a="http://schemas.openxmlformats.org/drawingml/2006/main">
            <a:r>
              <a:t/>
            </a:r>
          </a:p>
          <a:p xmlns:a="http://schemas.openxmlformats.org/drawingml/2006/main">
            <a:r>
              <a:t>Mechanism: a rule changes visibility</a:t>
            </a:r>
          </a:p>
          <a:p xmlns:a="http://schemas.openxmlformats.org/drawingml/2006/main">
            <a:r>
              <a:t>Impact: a named group receives a changed opportunity</a:t>
            </a:r>
          </a:p>
          <a:p xmlns:a="http://schemas.openxmlformats.org/drawingml/2006/main">
            <a:r>
              <a:t>Implication: the longer-term significance depends on evidence and conditions</a:t>
            </a:r>
          </a:p>
          <a:p xmlns:a="http://schemas.openxmlformats.org/drawingml/2006/main">
            <a:r>
              <a:t/>
            </a:r>
          </a:p>
          <a:p xmlns:a="http://schemas.openxmlformats.org/drawingml/2006/main">
            <a:r>
              <a:t>Practice prompt: Build a different chain for a worker allocated fewer paid tasks. State one condition.</a:t>
            </a:r>
          </a:p>
          <a:p xmlns:a="http://schemas.openxmlformats.org/drawingml/2006/main">
            <a:r>
              <a:t/>
            </a:r>
          </a:p>
          <a:p xmlns:a="http://schemas.openxmlformats.org/drawingml/2006/main">
            <a:r>
              <a:t>Source: Bomfim et al., Digital Society for the IB Diploma, Hodder, 2022. Printed pages cited per slide. Original paraphrase. Textbook connection: pp. 213–219.</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teaches all assigned explanatory material from pages 213 to 219. It does not claim to finish the whole economic chapter. The plan assigns pages 220 to 227 in the following week. Automation also returns with AI and robots in Sprint 5. Later source work and Paper 2 diagnostics revisit the economic context. Understanding needs those encounters as well as a first explanation. Before leaving, explain a business incentive, a type of platform work and a power relationship without notes. Identify the one distinction you still need to revisit.</a:t>
            </a:r>
          </a:p>
          <a:p xmlns:a="http://schemas.openxmlformats.org/drawingml/2006/main">
            <a:r>
              <a:t/>
            </a:r>
          </a:p>
          <a:p xmlns:a="http://schemas.openxmlformats.org/drawingml/2006/main">
            <a:r>
              <a:t>pp. 220–221: automation and employment</a:t>
            </a:r>
          </a:p>
          <a:p xmlns:a="http://schemas.openxmlformats.org/drawingml/2006/main">
            <a:r>
              <a:t>pp. 221–225: goods, services, currencies and additive manufacturing</a:t>
            </a:r>
          </a:p>
          <a:p xmlns:a="http://schemas.openxmlformats.org/drawingml/2006/main">
            <a:r>
              <a:t>pp. 225–227: globalization and chapter reflection</a:t>
            </a:r>
          </a:p>
          <a:p xmlns:a="http://schemas.openxmlformats.org/drawingml/2006/main">
            <a:r>
              <a:t/>
            </a:r>
          </a:p>
          <a:p xmlns:a="http://schemas.openxmlformats.org/drawingml/2006/main">
            <a:r>
              <a:t>Checkpoint: Which route supports durable understanding?</a:t>
            </a:r>
          </a:p>
          <a:p xmlns:a="http://schemas.openxmlformats.org/drawingml/2006/main">
            <a:r>
              <a:t>Options: One slide pass followed by no return / Explicit teaching, guided application, independent transfer and later retrieval / Only a final assessment</a:t>
            </a:r>
          </a:p>
          <a:p xmlns:a="http://schemas.openxmlformats.org/drawingml/2006/main">
            <a:r>
              <a:t>Practice answer: Explicit teaching, guided application, independent transfer and later retrieval. The later encounters check and strengthen the knowledge in changed situations.</a:t>
            </a:r>
          </a:p>
          <a:p xmlns:a="http://schemas.openxmlformats.org/drawingml/2006/main">
            <a:r>
              <a:t>Related browser practice: ../paper-practice.html</a:t>
            </a:r>
          </a:p>
          <a:p xmlns:a="http://schemas.openxmlformats.org/drawingml/2006/main">
            <a:r>
              <a:t/>
            </a:r>
          </a:p>
          <a:p xmlns:a="http://schemas.openxmlformats.org/drawingml/2006/main">
            <a:r>
              <a:t>Source: Bomfim et al., Digital Society for the IB Diploma, Hodder, 2022. Printed pages cited per slide. Original paraphrase. Textbook connection: pp. 213–227.</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cd7c1ed43241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542a2075f145c0" /><Relationship Type="http://schemas.openxmlformats.org/officeDocument/2006/relationships/slideLayout" Target="/ppt/slideLayouts/slideLayout1.xml" Id="R1471f42d67ff42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71f42d67ff42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a0c77137192486d" /><Relationship Type="http://schemas.openxmlformats.org/officeDocument/2006/relationships/image" Target="/ppt/media/image.png" Id="R79e84bc82567434d" /><Relationship Type="http://schemas.openxmlformats.org/officeDocument/2006/relationships/notesSlide" Target="/ppt/notesSlides/notesSlide1.xml" Id="R1456dec795aa4a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c3b52519fd14ec8" /><Relationship Type="http://schemas.openxmlformats.org/officeDocument/2006/relationships/notesSlide" Target="/ppt/notesSlides/notesSlide2.xml" Id="R55e7deeab13a45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1035bab266446e5" /><Relationship Type="http://schemas.openxmlformats.org/officeDocument/2006/relationships/image" Target="/ppt/media/image2.png" Id="R827ce8ad455a467b" /><Relationship Type="http://schemas.openxmlformats.org/officeDocument/2006/relationships/notesSlide" Target="/ppt/notesSlides/notesSlide3.xml" Id="R296fc419920e44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732715990c24243" /><Relationship Type="http://schemas.openxmlformats.org/officeDocument/2006/relationships/notesSlide" Target="/ppt/notesSlides/notesSlide4.xml" Id="R8abfd96ad32d44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37fbfe53cf24ac3" /><Relationship Type="http://schemas.openxmlformats.org/officeDocument/2006/relationships/notesSlide" Target="/ppt/notesSlides/notesSlide5.xml" Id="R51f4076752e248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20b3af3c8d4788" /><Relationship Type="http://schemas.openxmlformats.org/officeDocument/2006/relationships/notesSlide" Target="/ppt/notesSlides/notesSlide6.xml" Id="R2b322becb2eb49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c38b1577a364f3c" /><Relationship Type="http://schemas.openxmlformats.org/officeDocument/2006/relationships/notesSlide" Target="/ppt/notesSlides/notesSlide7.xml" Id="R1e3d1f0b6ad541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6b46b9a022c4b0a" /><Relationship Type="http://schemas.openxmlformats.org/officeDocument/2006/relationships/notesSlide" Target="/ppt/notesSlides/notesSlide8.xml" Id="Re4045c2075b145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8b23685474349b6" /><Relationship Type="http://schemas.openxmlformats.org/officeDocument/2006/relationships/notesSlide" Target="/ppt/notesSlides/notesSlide9.xml" Id="R42d4c475e4d8462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0c21c01e8a74ba6" /><Relationship Type="http://schemas.openxmlformats.org/officeDocument/2006/relationships/notesSlide" Target="/ppt/notesSlides/notesSlide10.xml" Id="Ra6bb4fed7b38423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0ad50b89e59400d" /><Relationship Type="http://schemas.openxmlformats.org/officeDocument/2006/relationships/image" Target="/ppt/media/image3.png" Id="R20861cc2f3f84c0d" /><Relationship Type="http://schemas.openxmlformats.org/officeDocument/2006/relationships/notesSlide" Target="/ppt/notesSlides/notesSlide11.xml" Id="R6813c3c4e77b43e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e1a092b4b254e62" /><Relationship Type="http://schemas.openxmlformats.org/officeDocument/2006/relationships/notesSlide" Target="/ppt/notesSlides/notesSlide12.xml" Id="Rbefbcbc1b38c48a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59fffeadfe544b5" /><Relationship Type="http://schemas.openxmlformats.org/officeDocument/2006/relationships/image" Target="/ppt/media/image4.png" Id="R85c1b4cb87944cd5" /><Relationship Type="http://schemas.openxmlformats.org/officeDocument/2006/relationships/notesSlide" Target="/ppt/notesSlides/notesSlide13.xml" Id="Rf45d56d89f2d471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0482e0a245740fd" /><Relationship Type="http://schemas.openxmlformats.org/officeDocument/2006/relationships/image" Target="/ppt/media/image5.png" Id="R422487c3ab6341cb" /><Relationship Type="http://schemas.openxmlformats.org/officeDocument/2006/relationships/notesSlide" Target="/ppt/notesSlides/notesSlide14.xml" Id="Rbbd12aa8c76943b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79878b3822c4abe" /><Relationship Type="http://schemas.openxmlformats.org/officeDocument/2006/relationships/notesSlide" Target="/ppt/notesSlides/notesSlide15.xml" Id="R131adfef743846f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dd8abfcf0424f37" /><Relationship Type="http://schemas.openxmlformats.org/officeDocument/2006/relationships/notesSlide" Target="/ppt/notesSlides/notesSlide16.xml" Id="R686c5512a3d5486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a3abb03d5de4127" /><Relationship Type="http://schemas.openxmlformats.org/officeDocument/2006/relationships/notesSlide" Target="/ppt/notesSlides/notesSlide17.xml" Id="R48e970ba50f247c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bac6f7e954e465b" /><Relationship Type="http://schemas.openxmlformats.org/officeDocument/2006/relationships/notesSlide" Target="/ppt/notesSlides/notesSlide18.xml" Id="R3e59abc72cd34a7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ccc9f2eb073478e" /><Relationship Type="http://schemas.openxmlformats.org/officeDocument/2006/relationships/notesSlide" Target="/ppt/notesSlides/notesSlide19.xml" Id="Ra4db9040596b45bd" /></Relationships>
</file>

<file path=ppt/slides/slide1.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7CCAD2-5ACD-4D57-A3BA-C46C629514FB}"/>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70588B"/>
                </a:solidFill>
                <a:latin typeface="Helvetica Neue"/>
                <a:ea typeface="Helvetica Neue"/>
                <a:cs typeface="Helvetica Neue"/>
              </a:defRPr>
            </a:pPr>
            <a:r>
              <a:rPr sz="1275" b="1">
                <a:solidFill>
                  <a:srgbClr val="70588B"/>
                </a:solidFill>
                <a:latin typeface="Helvetica Neue"/>
                <a:ea typeface="Helvetica Neue"/>
                <a:cs typeface="Helvetica Neue"/>
              </a:rPr>
              <a:t>IB DIGITAL SOCIETY  /  4.2A and working-practice parts of 4.2B · pp. 213–219</a:t>
            </a:r>
          </a:p>
        </p:txBody>
      </p:sp>
      <p:sp>
        <p:nvSpPr>
          <p:cNvPr id="2" name="">
            <a:extLst xmlns:a="http://schemas.openxmlformats.org/drawingml/2006/main">
              <a:ext uri="{FF2B5EF4-FFF2-40B4-BE49-F238E27FC236}">
                <a16:creationId xmlns:a16="http://schemas.microsoft.com/office/drawing/2014/main" id="{F8037228-39C2-4223-AF3A-A99F78B671B7}"/>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Digital systems change how organizations work</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9e84bc82567434d"/>
          <a:stretch xmlns:a="http://schemas.openxmlformats.org/drawingml/2006/main"/>
        </p:blipFill>
        <p:spPr>
          <a:xfrm xmlns:a="http://schemas.openxmlformats.org/drawingml/2006/main">
            <a:off x="3054721" y="1657350"/>
            <a:ext cx="6082558" cy="3448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4CB257F-679E-49A9-8A51-32F1E74ED80F}"/>
              </a:ext>
            </a:extLst>
          </p:cNvPr>
          <p:cNvSpPr>
            <a:spLocks xmlns:a="http://schemas.openxmlformats.org/drawingml/2006/main" noGrp="1"/>
          </p:cNvSpPr>
          <p:nvPr/>
        </p:nvSpPr>
        <p:spPr>
          <a:xfrm xmlns:a="http://schemas.openxmlformats.org/drawingml/2006/main">
            <a:off x="609600" y="5229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0588B"/>
                </a:solidFill>
                <a:latin typeface="Helvetica Neue"/>
                <a:ea typeface="Helvetica Neue"/>
                <a:cs typeface="Helvetica Neue"/>
              </a:defRPr>
            </a:pPr>
            <a:r>
              <a:rPr sz="2025" b="1">
                <a:solidFill>
                  <a:srgbClr val="70588B"/>
                </a:solidFill>
                <a:latin typeface="Helvetica Neue"/>
                <a:ea typeface="Helvetica Neue"/>
                <a:cs typeface="Helvetica Neue"/>
              </a:rPr>
              <a:t>Transactions create records for operations</a:t>
            </a:r>
          </a:p>
        </p:txBody>
      </p:sp>
      <p:sp>
        <p:nvSpPr>
          <p:cNvPr id="5" name="">
            <a:extLst xmlns:a="http://schemas.openxmlformats.org/drawingml/2006/main">
              <a:ext uri="{FF2B5EF4-FFF2-40B4-BE49-F238E27FC236}">
                <a16:creationId xmlns:a16="http://schemas.microsoft.com/office/drawing/2014/main" id="{244F6259-7DD2-4494-BAC6-845919A6AA9B}"/>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588B"/>
                </a:solidFill>
                <a:latin typeface="Helvetica Neue"/>
                <a:ea typeface="Helvetica Neue"/>
                <a:cs typeface="Helvetica Neue"/>
              </a:defRPr>
            </a:pPr>
            <a:r>
              <a:rPr sz="1800" b="1">
                <a:solidFill>
                  <a:srgbClr val="70588B"/>
                </a:solidFill>
                <a:latin typeface="Helvetica Neue"/>
                <a:ea typeface="Helvetica Neue"/>
                <a:cs typeface="Helvetica Neue"/>
              </a:rPr>
              <a:t>Name one decision a business can make using transaction records.</a:t>
            </a:r>
          </a:p>
        </p:txBody>
      </p:sp>
      <p:sp>
        <p:nvSpPr>
          <p:cNvPr id="6" name="">
            <a:extLst xmlns:a="http://schemas.openxmlformats.org/drawingml/2006/main">
              <a:ext uri="{FF2B5EF4-FFF2-40B4-BE49-F238E27FC236}">
                <a16:creationId xmlns:a16="http://schemas.microsoft.com/office/drawing/2014/main" id="{A340BE93-4368-465C-8C82-118C549F1AC7}"/>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213  /  Original teaching explanation</a:t>
            </a:r>
          </a:p>
        </p:txBody>
      </p:sp>
      <p:sp>
        <p:nvSpPr>
          <p:cNvPr id="7" name="">
            <a:extLst xmlns:a="http://schemas.openxmlformats.org/drawingml/2006/main">
              <a:ext uri="{FF2B5EF4-FFF2-40B4-BE49-F238E27FC236}">
                <a16:creationId xmlns:a16="http://schemas.microsoft.com/office/drawing/2014/main" id="{356E06D1-0AEC-4ACD-A8E7-B97A61B4730F}"/>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01 / 19</a:t>
            </a:r>
          </a:p>
        </p:txBody>
      </p:sp>
    </p:spTree>
    <p:extLst>
      <p:ext uri="{BB962C8B-B14F-4D97-AF65-F5344CB8AC3E}">
        <p14:creationId xmlns:p14="http://schemas.microsoft.com/office/powerpoint/2010/main" val="1153905556"/>
      </p:ext>
    </p:extLst>
  </p:cSld>
</p:sld>
</file>

<file path=ppt/slides/slide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2D4522-ECBF-45C3-B2B5-26680E1F951C}"/>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70588B"/>
                </a:solidFill>
                <a:latin typeface="Helvetica Neue"/>
                <a:ea typeface="Helvetica Neue"/>
                <a:cs typeface="Helvetica Neue"/>
              </a:defRPr>
            </a:pPr>
            <a:r>
              <a:rPr sz="1275" b="1">
                <a:solidFill>
                  <a:srgbClr val="70588B"/>
                </a:solidFill>
                <a:latin typeface="Helvetica Neue"/>
                <a:ea typeface="Helvetica Neue"/>
                <a:cs typeface="Helvetica Neue"/>
              </a:rPr>
              <a:t>IB DIGITAL SOCIETY  /  4.2A and working-practice parts of 4.2B · pp. 213–219</a:t>
            </a:r>
          </a:p>
        </p:txBody>
      </p:sp>
      <p:sp>
        <p:nvSpPr>
          <p:cNvPr id="2" name="">
            <a:extLst xmlns:a="http://schemas.openxmlformats.org/drawingml/2006/main">
              <a:ext uri="{FF2B5EF4-FFF2-40B4-BE49-F238E27FC236}">
                <a16:creationId xmlns:a16="http://schemas.microsoft.com/office/drawing/2014/main" id="{06608942-E8D0-4197-B50A-D1C1EF25C943}"/>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Operation and organization of a business</a:t>
            </a:r>
          </a:p>
        </p:txBody>
      </p:sp>
      <p:sp>
        <p:nvSpPr>
          <p:cNvPr id="3" name="">
            <a:extLst xmlns:a="http://schemas.openxmlformats.org/drawingml/2006/main">
              <a:ext uri="{FF2B5EF4-FFF2-40B4-BE49-F238E27FC236}">
                <a16:creationId xmlns:a16="http://schemas.microsoft.com/office/drawing/2014/main" id="{460EBD72-1A47-436D-9553-0DF8E8C994E4}"/>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70588B"/>
                </a:solidFill>
                <a:latin typeface="Helvetica Neue"/>
                <a:ea typeface="Helvetica Neue"/>
                <a:cs typeface="Helvetica Neue"/>
              </a:defRPr>
            </a:pPr>
            <a:r>
              <a:rPr sz="2700" b="1">
                <a:solidFill>
                  <a:srgbClr val="70588B"/>
                </a:solidFill>
                <a:latin typeface="Helvetica Neue"/>
                <a:ea typeface="Helvetica Neue"/>
                <a:cs typeface="Helvetica Neue"/>
              </a:rPr>
              <a:t>Shared calendars and files can coordinate a team</a:t>
            </a:r>
          </a:p>
        </p:txBody>
      </p:sp>
      <p:sp>
        <p:nvSpPr>
          <p:cNvPr id="4" name="">
            <a:extLst xmlns:a="http://schemas.openxmlformats.org/drawingml/2006/main">
              <a:ext uri="{FF2B5EF4-FFF2-40B4-BE49-F238E27FC236}">
                <a16:creationId xmlns:a16="http://schemas.microsoft.com/office/drawing/2014/main" id="{7BD6E82F-78D4-4BC3-80D7-77A0EB04350E}"/>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Databases and transaction systems record activity</a:t>
            </a:r>
          </a:p>
        </p:txBody>
      </p:sp>
      <p:sp>
        <p:nvSpPr>
          <p:cNvPr id="5" name="">
            <a:extLst xmlns:a="http://schemas.openxmlformats.org/drawingml/2006/main">
              <a:ext uri="{FF2B5EF4-FFF2-40B4-BE49-F238E27FC236}">
                <a16:creationId xmlns:a16="http://schemas.microsoft.com/office/drawing/2014/main" id="{5ADB07EA-E9F3-4AB4-BDC4-B23D040A8A9E}"/>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Data analysis can support stock, staffing or service decisions</a:t>
            </a:r>
          </a:p>
        </p:txBody>
      </p:sp>
      <p:sp>
        <p:nvSpPr>
          <p:cNvPr id="6" name="">
            <a:extLst xmlns:a="http://schemas.openxmlformats.org/drawingml/2006/main">
              <a:ext uri="{FF2B5EF4-FFF2-40B4-BE49-F238E27FC236}">
                <a16:creationId xmlns:a16="http://schemas.microsoft.com/office/drawing/2014/main" id="{A0FDC9BC-E0A4-4265-9439-0366B2BAFA8A}"/>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213–214  /  Original teaching explanation</a:t>
            </a:r>
          </a:p>
        </p:txBody>
      </p:sp>
      <p:sp>
        <p:nvSpPr>
          <p:cNvPr id="7" name="">
            <a:extLst xmlns:a="http://schemas.openxmlformats.org/drawingml/2006/main">
              <a:ext uri="{FF2B5EF4-FFF2-40B4-BE49-F238E27FC236}">
                <a16:creationId xmlns:a16="http://schemas.microsoft.com/office/drawing/2014/main" id="{9E2BEB00-C2DE-492A-84CF-86A5C205C0D2}"/>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02 / 19</a:t>
            </a:r>
          </a:p>
        </p:txBody>
      </p:sp>
    </p:spTree>
    <p:extLst>
      <p:ext uri="{BB962C8B-B14F-4D97-AF65-F5344CB8AC3E}">
        <p14:creationId xmlns:p14="http://schemas.microsoft.com/office/powerpoint/2010/main" val="503805534"/>
      </p:ext>
    </p:extLst>
  </p:cSld>
</p:sld>
</file>

<file path=ppt/slides/slide3.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711E50-A6A1-4BC6-AC1F-1016D5C8DDB9}"/>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70588B"/>
                </a:solidFill>
                <a:latin typeface="Helvetica Neue"/>
                <a:ea typeface="Helvetica Neue"/>
                <a:cs typeface="Helvetica Neue"/>
              </a:defRPr>
            </a:pPr>
            <a:r>
              <a:rPr sz="1275" b="1">
                <a:solidFill>
                  <a:srgbClr val="70588B"/>
                </a:solidFill>
                <a:latin typeface="Helvetica Neue"/>
                <a:ea typeface="Helvetica Neue"/>
                <a:cs typeface="Helvetica Neue"/>
              </a:rPr>
              <a:t>IB DIGITAL SOCIETY  /  4.2A and working-practice parts of 4.2B · pp. 213–219</a:t>
            </a:r>
          </a:p>
        </p:txBody>
      </p:sp>
      <p:sp>
        <p:nvSpPr>
          <p:cNvPr id="2" name="">
            <a:extLst xmlns:a="http://schemas.openxmlformats.org/drawingml/2006/main">
              <a:ext uri="{FF2B5EF4-FFF2-40B4-BE49-F238E27FC236}">
                <a16:creationId xmlns:a16="http://schemas.microsoft.com/office/drawing/2014/main" id="{8B0D3ACC-79B3-4282-A72D-D755334444C6}"/>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Customer value and business incentives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27ce8ad455a467b"/>
          <a:stretch xmlns:a="http://schemas.openxmlformats.org/drawingml/2006/main"/>
        </p:blipFill>
        <p:spPr>
          <a:xfrm xmlns:a="http://schemas.openxmlformats.org/drawingml/2006/main">
            <a:off x="3054721" y="1657350"/>
            <a:ext cx="6082558" cy="3448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7C0DD61-9384-44AF-899E-6CC2A92C2AAE}"/>
              </a:ext>
            </a:extLst>
          </p:cNvPr>
          <p:cNvSpPr>
            <a:spLocks xmlns:a="http://schemas.openxmlformats.org/drawingml/2006/main" noGrp="1"/>
          </p:cNvSpPr>
          <p:nvPr/>
        </p:nvSpPr>
        <p:spPr>
          <a:xfrm xmlns:a="http://schemas.openxmlformats.org/drawingml/2006/main">
            <a:off x="609600" y="5229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0588B"/>
                </a:solidFill>
                <a:latin typeface="Helvetica Neue"/>
                <a:ea typeface="Helvetica Neue"/>
                <a:cs typeface="Helvetica Neue"/>
              </a:defRPr>
            </a:pPr>
            <a:r>
              <a:rPr sz="2025" b="1">
                <a:solidFill>
                  <a:srgbClr val="70588B"/>
                </a:solidFill>
                <a:latin typeface="Helvetica Neue"/>
                <a:ea typeface="Helvetica Neue"/>
                <a:cs typeface="Helvetica Neue"/>
              </a:rPr>
              <a:t>An organization may trade immediate profit for repeat use</a:t>
            </a:r>
          </a:p>
        </p:txBody>
      </p:sp>
      <p:sp>
        <p:nvSpPr>
          <p:cNvPr id="5" name="">
            <a:extLst xmlns:a="http://schemas.openxmlformats.org/drawingml/2006/main">
              <a:ext uri="{FF2B5EF4-FFF2-40B4-BE49-F238E27FC236}">
                <a16:creationId xmlns:a16="http://schemas.microsoft.com/office/drawing/2014/main" id="{89CDB033-8B80-4A7C-9CAC-2E628DFD565D}"/>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588B"/>
                </a:solidFill>
                <a:latin typeface="Helvetica Neue"/>
                <a:ea typeface="Helvetica Neue"/>
                <a:cs typeface="Helvetica Neue"/>
              </a:defRPr>
            </a:pPr>
            <a:r>
              <a:rPr sz="1800" b="1">
                <a:solidFill>
                  <a:srgbClr val="70588B"/>
                </a:solidFill>
                <a:latin typeface="Helvetica Neue"/>
                <a:ea typeface="Helvetica Neue"/>
                <a:cs typeface="Helvetica Neue"/>
              </a:rPr>
              <a:t>Which evidence would connect a revenue model to a specific ranking choice?</a:t>
            </a:r>
          </a:p>
        </p:txBody>
      </p:sp>
      <p:sp>
        <p:nvSpPr>
          <p:cNvPr id="6" name="">
            <a:extLst xmlns:a="http://schemas.openxmlformats.org/drawingml/2006/main">
              <a:ext uri="{FF2B5EF4-FFF2-40B4-BE49-F238E27FC236}">
                <a16:creationId xmlns:a16="http://schemas.microsoft.com/office/drawing/2014/main" id="{412B4F3B-0D9F-4CE8-A486-E5A8327E8A95}"/>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213–214  /  Original teaching explanation</a:t>
            </a:r>
          </a:p>
        </p:txBody>
      </p:sp>
      <p:sp>
        <p:nvSpPr>
          <p:cNvPr id="7" name="">
            <a:extLst xmlns:a="http://schemas.openxmlformats.org/drawingml/2006/main">
              <a:ext uri="{FF2B5EF4-FFF2-40B4-BE49-F238E27FC236}">
                <a16:creationId xmlns:a16="http://schemas.microsoft.com/office/drawing/2014/main" id="{FDE7EA1B-EA7F-460F-9AB0-8419C0E07FF1}"/>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03 / 19</a:t>
            </a:r>
          </a:p>
        </p:txBody>
      </p:sp>
    </p:spTree>
    <p:extLst>
      <p:ext uri="{BB962C8B-B14F-4D97-AF65-F5344CB8AC3E}">
        <p14:creationId xmlns:p14="http://schemas.microsoft.com/office/powerpoint/2010/main" val="191734435"/>
      </p:ext>
    </p:extLst>
  </p:cSld>
</p:sld>
</file>

<file path=ppt/slides/slide4.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45240B-2A9E-4F2D-9F8E-216D2820801C}"/>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70588B"/>
                </a:solidFill>
                <a:latin typeface="Helvetica Neue"/>
                <a:ea typeface="Helvetica Neue"/>
                <a:cs typeface="Helvetica Neue"/>
              </a:defRPr>
            </a:pPr>
            <a:r>
              <a:rPr sz="1275" b="1">
                <a:solidFill>
                  <a:srgbClr val="70588B"/>
                </a:solidFill>
                <a:latin typeface="Helvetica Neue"/>
                <a:ea typeface="Helvetica Neue"/>
                <a:cs typeface="Helvetica Neue"/>
              </a:rPr>
              <a:t>IB DIGITAL SOCIETY  /  4.2A and working-practice parts of 4.2B · pp. 213–219</a:t>
            </a:r>
          </a:p>
        </p:txBody>
      </p:sp>
      <p:sp>
        <p:nvSpPr>
          <p:cNvPr id="2" name="">
            <a:extLst xmlns:a="http://schemas.openxmlformats.org/drawingml/2006/main">
              <a:ext uri="{FF2B5EF4-FFF2-40B4-BE49-F238E27FC236}">
                <a16:creationId xmlns:a16="http://schemas.microsoft.com/office/drawing/2014/main" id="{94E04AEE-09AF-4E9D-94A0-A87CF66561AC}"/>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Transaction data becomes a decision</a:t>
            </a:r>
          </a:p>
        </p:txBody>
      </p:sp>
      <p:sp>
        <p:nvSpPr>
          <p:cNvPr id="3" name="">
            <a:extLst xmlns:a="http://schemas.openxmlformats.org/drawingml/2006/main">
              <a:ext uri="{FF2B5EF4-FFF2-40B4-BE49-F238E27FC236}">
                <a16:creationId xmlns:a16="http://schemas.microsoft.com/office/drawing/2014/main" id="{246C7E05-B251-4C45-ADBE-AF8D72B2EF8B}"/>
              </a:ext>
            </a:extLst>
          </p:cNvPr>
          <p:cNvSpPr>
            <a:spLocks xmlns:a="http://schemas.openxmlformats.org/drawingml/2006/main" noGrp="1"/>
          </p:cNvSpPr>
          <p:nvPr/>
        </p:nvSpPr>
        <p:spPr>
          <a:xfrm xmlns:a="http://schemas.openxmlformats.org/drawingml/2006/main">
            <a:off x="609600" y="1676400"/>
            <a:ext cx="4476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An invented event shop records 12 badge sales and 4 poster sales</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A stock decision can use those totals</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The decision also needs context: stock, price and who attended</a:t>
            </a:r>
          </a:p>
        </p:txBody>
      </p:sp>
      <p:graphicFrame>
        <p:nvGraphicFramePr>
          <p:cNvPr id="11" name=""/>
          <p:cNvGraphicFramePr/>
          <p:nvPr/>
        </p:nvGraphicFramePr>
        <p:xfrm>
          <a:off xmlns:a="http://schemas.openxmlformats.org/drawingml/2006/main" x="5429250" y="1752600"/>
          <a:ext xmlns:a="http://schemas.openxmlformats.org/drawingml/2006/main" cx="6153150" cy="2476500"/>
        </p:xfrm>
        <a:graphic xmlns:a="http://schemas.openxmlformats.org/drawingml/2006/main">
          <a:graphicData uri="http://schemas.openxmlformats.org/drawingml/2006/table">
            <a:tbl>
              <a:tblPr firstRow="1" bandRow="0"/>
              <a:tblGrid>
                <a:gridCol w="2051050"/>
                <a:gridCol w="2051050"/>
                <a:gridCol w="2051050"/>
              </a:tblGrid>
              <a:tr h="825500">
                <a:tc>
                  <a:txBody>
                    <a:bodyPr/>
                    <a:lstStyle/>
                    <a:p>
                      <a:r>
                        <a:rPr sz="1800" b="1">
                          <a:solidFill>
                            <a:srgbClr val="FFFFFF"/>
                          </a:solidFill>
                          <a:latin typeface="Helvetica Neue"/>
                          <a:ea typeface="Helvetica Neue"/>
                          <a:cs typeface="Helvetica Neue"/>
                        </a:rPr>
                        <a:t>Item</a:t>
                      </a:r>
                    </a:p>
                  </a:txBody>
                  <a:tcPr marL="91440" marR="91440" marT="45720" marB="45720">
                    <a:solidFill>
                      <a:srgbClr val="70588B"/>
                    </a:solidFill>
                  </a:tcPr>
                </a:tc>
                <a:tc>
                  <a:txBody>
                    <a:bodyPr/>
                    <a:lstStyle/>
                    <a:p>
                      <a:r>
                        <a:rPr sz="1800" b="1">
                          <a:solidFill>
                            <a:srgbClr val="FFFFFF"/>
                          </a:solidFill>
                          <a:latin typeface="Helvetica Neue"/>
                          <a:ea typeface="Helvetica Neue"/>
                          <a:cs typeface="Helvetica Neue"/>
                        </a:rPr>
                        <a:t>Recorded sales</a:t>
                      </a:r>
                    </a:p>
                  </a:txBody>
                  <a:tcPr marL="91440" marR="91440" marT="45720" marB="45720">
                    <a:solidFill>
                      <a:srgbClr val="70588B"/>
                    </a:solidFill>
                  </a:tcPr>
                </a:tc>
                <a:tc>
                  <a:txBody>
                    <a:bodyPr/>
                    <a:lstStyle/>
                    <a:p>
                      <a:r>
                        <a:rPr sz="1800" b="1">
                          <a:solidFill>
                            <a:srgbClr val="FFFFFF"/>
                          </a:solidFill>
                          <a:latin typeface="Helvetica Neue"/>
                          <a:ea typeface="Helvetica Neue"/>
                          <a:cs typeface="Helvetica Neue"/>
                        </a:rPr>
                        <a:t>Question before ordering</a:t>
                      </a:r>
                    </a:p>
                  </a:txBody>
                  <a:tcPr marL="91440" marR="91440" marT="45720" marB="45720">
                    <a:solidFill>
                      <a:srgbClr val="70588B"/>
                    </a:solidFill>
                  </a:tcPr>
                </a:tc>
              </a:tr>
              <a:tr h="825500">
                <a:tc>
                  <a:txBody>
                    <a:bodyPr/>
                    <a:lstStyle/>
                    <a:p>
                      <a:r>
                        <a:rPr sz="1800" b="0">
                          <a:solidFill>
                            <a:srgbClr val="16333E"/>
                          </a:solidFill>
                          <a:latin typeface="Helvetica Neue"/>
                          <a:ea typeface="Helvetica Neue"/>
                          <a:cs typeface="Helvetica Neue"/>
                        </a:rPr>
                        <a:t>Badge</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12</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Was stock available throughout?</a:t>
                      </a:r>
                    </a:p>
                  </a:txBody>
                  <a:tcPr marL="91440" marR="91440" marT="45720" marB="45720">
                    <a:solidFill>
                      <a:srgbClr val="FFFFFF"/>
                    </a:solidFill>
                  </a:tcPr>
                </a:tc>
              </a:tr>
              <a:tr h="825500">
                <a:tc>
                  <a:txBody>
                    <a:bodyPr/>
                    <a:lstStyle/>
                    <a:p>
                      <a:r>
                        <a:rPr sz="1800" b="0">
                          <a:solidFill>
                            <a:srgbClr val="16333E"/>
                          </a:solidFill>
                          <a:latin typeface="Helvetica Neue"/>
                          <a:ea typeface="Helvetica Neue"/>
                          <a:cs typeface="Helvetica Neue"/>
                        </a:rPr>
                        <a:t>Poster</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Did price or stock limit purchases?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97C3370-BA61-4F56-A59A-43385EE7ED97}"/>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588B"/>
                </a:solidFill>
                <a:latin typeface="Helvetica Neue"/>
                <a:ea typeface="Helvetica Neue"/>
                <a:cs typeface="Helvetica Neue"/>
              </a:defRPr>
            </a:pPr>
            <a:r>
              <a:rPr sz="1800" b="1">
                <a:solidFill>
                  <a:srgbClr val="70588B"/>
                </a:solidFill>
                <a:latin typeface="Helvetica Neue"/>
                <a:ea typeface="Helvetica Neue"/>
                <a:cs typeface="Helvetica Neue"/>
              </a:rPr>
              <a:t>Checkpoint: What does 12 badge sales establish?</a:t>
            </a:r>
          </a:p>
        </p:txBody>
      </p:sp>
      <p:sp>
        <p:nvSpPr>
          <p:cNvPr id="6" name="">
            <a:extLst xmlns:a="http://schemas.openxmlformats.org/drawingml/2006/main">
              <a:ext uri="{FF2B5EF4-FFF2-40B4-BE49-F238E27FC236}">
                <a16:creationId xmlns:a16="http://schemas.microsoft.com/office/drawing/2014/main" id="{0D33E27D-B12F-4504-8564-5E65EABB85CA}"/>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213–214  /  Original teaching explanation</a:t>
            </a:r>
          </a:p>
        </p:txBody>
      </p:sp>
      <p:sp>
        <p:nvSpPr>
          <p:cNvPr id="7" name="">
            <a:extLst xmlns:a="http://schemas.openxmlformats.org/drawingml/2006/main">
              <a:ext uri="{FF2B5EF4-FFF2-40B4-BE49-F238E27FC236}">
                <a16:creationId xmlns:a16="http://schemas.microsoft.com/office/drawing/2014/main" id="{3C5B7CEA-FD88-48B0-8780-A5EBBE074645}"/>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04 / 19</a:t>
            </a:r>
          </a:p>
        </p:txBody>
      </p:sp>
    </p:spTree>
    <p:extLst>
      <p:ext uri="{BB962C8B-B14F-4D97-AF65-F5344CB8AC3E}">
        <p14:creationId xmlns:p14="http://schemas.microsoft.com/office/powerpoint/2010/main" val="1869143539"/>
      </p:ext>
    </p:extLst>
  </p:cSld>
</p:sld>
</file>

<file path=ppt/slides/slide5.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9EB640-7FB1-433F-8196-50DF4FAA2B32}"/>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70588B"/>
                </a:solidFill>
                <a:latin typeface="Helvetica Neue"/>
                <a:ea typeface="Helvetica Neue"/>
                <a:cs typeface="Helvetica Neue"/>
              </a:defRPr>
            </a:pPr>
            <a:r>
              <a:rPr sz="1275" b="1">
                <a:solidFill>
                  <a:srgbClr val="70588B"/>
                </a:solidFill>
                <a:latin typeface="Helvetica Neue"/>
                <a:ea typeface="Helvetica Neue"/>
                <a:cs typeface="Helvetica Neue"/>
              </a:rPr>
              <a:t>IB DIGITAL SOCIETY  /  4.2A and working-practice parts of 4.2B · pp. 213–219</a:t>
            </a:r>
          </a:p>
        </p:txBody>
      </p:sp>
      <p:sp>
        <p:nvSpPr>
          <p:cNvPr id="2" name="">
            <a:extLst xmlns:a="http://schemas.openxmlformats.org/drawingml/2006/main">
              <a:ext uri="{FF2B5EF4-FFF2-40B4-BE49-F238E27FC236}">
                <a16:creationId xmlns:a16="http://schemas.microsoft.com/office/drawing/2014/main" id="{BBA12E40-C698-423C-965D-329AB62468D5}"/>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Diversification and workforce diversity</a:t>
            </a:r>
          </a:p>
        </p:txBody>
      </p:sp>
      <p:sp>
        <p:nvSpPr>
          <p:cNvPr id="3" name="">
            <a:extLst xmlns:a="http://schemas.openxmlformats.org/drawingml/2006/main">
              <a:ext uri="{FF2B5EF4-FFF2-40B4-BE49-F238E27FC236}">
                <a16:creationId xmlns:a16="http://schemas.microsoft.com/office/drawing/2014/main" id="{0DD5C721-5DC4-4741-9D4E-4ED877D49773}"/>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70588B"/>
                </a:solidFill>
                <a:latin typeface="Helvetica Neue"/>
                <a:ea typeface="Helvetica Neue"/>
                <a:cs typeface="Helvetica Neue"/>
              </a:defRPr>
            </a:pPr>
            <a:r>
              <a:rPr sz="2700" b="1">
                <a:solidFill>
                  <a:srgbClr val="70588B"/>
                </a:solidFill>
                <a:latin typeface="Helvetica Neue"/>
                <a:ea typeface="Helvetica Neue"/>
                <a:cs typeface="Helvetica Neue"/>
              </a:rPr>
              <a:t>Diversification changes products, markets or the supply chain</a:t>
            </a:r>
          </a:p>
        </p:txBody>
      </p:sp>
      <p:sp>
        <p:nvSpPr>
          <p:cNvPr id="4" name="">
            <a:extLst xmlns:a="http://schemas.openxmlformats.org/drawingml/2006/main">
              <a:ext uri="{FF2B5EF4-FFF2-40B4-BE49-F238E27FC236}">
                <a16:creationId xmlns:a16="http://schemas.microsoft.com/office/drawing/2014/main" id="{7FFBB3A7-35D0-4126-9477-8C51E013898A}"/>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Workforce diversity concerns the people in an organization</a:t>
            </a:r>
          </a:p>
        </p:txBody>
      </p:sp>
      <p:sp>
        <p:nvSpPr>
          <p:cNvPr id="5" name="">
            <a:extLst xmlns:a="http://schemas.openxmlformats.org/drawingml/2006/main">
              <a:ext uri="{FF2B5EF4-FFF2-40B4-BE49-F238E27FC236}">
                <a16:creationId xmlns:a16="http://schemas.microsoft.com/office/drawing/2014/main" id="{A730D661-B690-4C4A-A97E-3B2E7131D5FD}"/>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Inclusion concerns whether people can participate and feel respected</a:t>
            </a:r>
          </a:p>
        </p:txBody>
      </p:sp>
      <p:sp>
        <p:nvSpPr>
          <p:cNvPr id="6" name="">
            <a:extLst xmlns:a="http://schemas.openxmlformats.org/drawingml/2006/main">
              <a:ext uri="{FF2B5EF4-FFF2-40B4-BE49-F238E27FC236}">
                <a16:creationId xmlns:a16="http://schemas.microsoft.com/office/drawing/2014/main" id="{043FBDE5-A589-4586-A098-E89D6D36ED74}"/>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214–215  /  Original teaching explanation</a:t>
            </a:r>
          </a:p>
        </p:txBody>
      </p:sp>
      <p:sp>
        <p:nvSpPr>
          <p:cNvPr id="7" name="">
            <a:extLst xmlns:a="http://schemas.openxmlformats.org/drawingml/2006/main">
              <a:ext uri="{FF2B5EF4-FFF2-40B4-BE49-F238E27FC236}">
                <a16:creationId xmlns:a16="http://schemas.microsoft.com/office/drawing/2014/main" id="{BE2367D9-4342-4EB1-B357-1988D06FCBA8}"/>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05 / 19</a:t>
            </a:r>
          </a:p>
        </p:txBody>
      </p:sp>
    </p:spTree>
    <p:extLst>
      <p:ext uri="{BB962C8B-B14F-4D97-AF65-F5344CB8AC3E}">
        <p14:creationId xmlns:p14="http://schemas.microsoft.com/office/powerpoint/2010/main" val="4418760"/>
      </p:ext>
    </p:extLst>
  </p:cSld>
</p:sld>
</file>

<file path=ppt/slides/slide6.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A54F74-F6CC-4E3A-9B1B-2BC777C0C4F2}"/>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70588B"/>
                </a:solidFill>
                <a:latin typeface="Helvetica Neue"/>
                <a:ea typeface="Helvetica Neue"/>
                <a:cs typeface="Helvetica Neue"/>
              </a:defRPr>
            </a:pPr>
            <a:r>
              <a:rPr sz="1275" b="1">
                <a:solidFill>
                  <a:srgbClr val="70588B"/>
                </a:solidFill>
                <a:latin typeface="Helvetica Neue"/>
                <a:ea typeface="Helvetica Neue"/>
                <a:cs typeface="Helvetica Neue"/>
              </a:rPr>
              <a:t>IB DIGITAL SOCIETY  /  4.2A and working-practice parts of 4.2B · pp. 213–219</a:t>
            </a:r>
          </a:p>
        </p:txBody>
      </p:sp>
      <p:sp>
        <p:nvSpPr>
          <p:cNvPr id="2" name="">
            <a:extLst xmlns:a="http://schemas.openxmlformats.org/drawingml/2006/main">
              <a:ext uri="{FF2B5EF4-FFF2-40B4-BE49-F238E27FC236}">
                <a16:creationId xmlns:a16="http://schemas.microsoft.com/office/drawing/2014/main" id="{C083E02E-4D8F-4317-A0A7-26B8C6F5E5F4}"/>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Horizontal and vertical diversification</a:t>
            </a:r>
          </a:p>
        </p:txBody>
      </p:sp>
      <p:sp>
        <p:nvSpPr>
          <p:cNvPr id="3" name="">
            <a:extLst xmlns:a="http://schemas.openxmlformats.org/drawingml/2006/main">
              <a:ext uri="{FF2B5EF4-FFF2-40B4-BE49-F238E27FC236}">
                <a16:creationId xmlns:a16="http://schemas.microsoft.com/office/drawing/2014/main" id="{D4E06D36-8940-4F19-A95B-62E9D281B448}"/>
              </a:ext>
            </a:extLst>
          </p:cNvPr>
          <p:cNvSpPr>
            <a:spLocks xmlns:a="http://schemas.openxmlformats.org/drawingml/2006/main" noGrp="1"/>
          </p:cNvSpPr>
          <p:nvPr/>
        </p:nvSpPr>
        <p:spPr>
          <a:xfrm xmlns:a="http://schemas.openxmlformats.org/drawingml/2006/main">
            <a:off x="609600" y="1676400"/>
            <a:ext cx="4476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Horizontal: add a complementary product or service</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Vertical: take over another part of the supply or production chain</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Classify the relationship, not merely the fact that a company grows</a:t>
            </a:r>
          </a:p>
        </p:txBody>
      </p:sp>
      <p:graphicFrame>
        <p:nvGraphicFramePr>
          <p:cNvPr id="10" name=""/>
          <p:cNvGraphicFramePr/>
          <p:nvPr/>
        </p:nvGraphicFramePr>
        <p:xfrm>
          <a:off xmlns:a="http://schemas.openxmlformats.org/drawingml/2006/main" x="5429250" y="1752600"/>
          <a:ext xmlns:a="http://schemas.openxmlformats.org/drawingml/2006/main" cx="6153150" cy="2476500"/>
        </p:xfrm>
        <a:graphic xmlns:a="http://schemas.openxmlformats.org/drawingml/2006/main">
          <a:graphicData uri="http://schemas.openxmlformats.org/drawingml/2006/table">
            <a:tbl>
              <a:tblPr firstRow="1" bandRow="0"/>
              <a:tblGrid>
                <a:gridCol w="2051050"/>
                <a:gridCol w="2051050"/>
                <a:gridCol w="2051050"/>
              </a:tblGrid>
              <a:tr h="825500">
                <a:tc>
                  <a:txBody>
                    <a:bodyPr/>
                    <a:lstStyle/>
                    <a:p>
                      <a:r>
                        <a:rPr sz="1800" b="1">
                          <a:solidFill>
                            <a:srgbClr val="FFFFFF"/>
                          </a:solidFill>
                          <a:latin typeface="Helvetica Neue"/>
                          <a:ea typeface="Helvetica Neue"/>
                          <a:cs typeface="Helvetica Neue"/>
                        </a:rPr>
                        <a:t>Strategy</a:t>
                      </a:r>
                    </a:p>
                  </a:txBody>
                  <a:tcPr marL="91440" marR="91440" marT="45720" marB="45720">
                    <a:solidFill>
                      <a:srgbClr val="70588B"/>
                    </a:solidFill>
                  </a:tcPr>
                </a:tc>
                <a:tc>
                  <a:txBody>
                    <a:bodyPr/>
                    <a:lstStyle/>
                    <a:p>
                      <a:r>
                        <a:rPr sz="1800" b="1">
                          <a:solidFill>
                            <a:srgbClr val="FFFFFF"/>
                          </a:solidFill>
                          <a:latin typeface="Helvetica Neue"/>
                          <a:ea typeface="Helvetica Neue"/>
                          <a:cs typeface="Helvetica Neue"/>
                        </a:rPr>
                        <a:t>Invented action</a:t>
                      </a:r>
                    </a:p>
                  </a:txBody>
                  <a:tcPr marL="91440" marR="91440" marT="45720" marB="45720">
                    <a:solidFill>
                      <a:srgbClr val="70588B"/>
                    </a:solidFill>
                  </a:tcPr>
                </a:tc>
                <a:tc>
                  <a:txBody>
                    <a:bodyPr/>
                    <a:lstStyle/>
                    <a:p>
                      <a:r>
                        <a:rPr sz="1800" b="1">
                          <a:solidFill>
                            <a:srgbClr val="FFFFFF"/>
                          </a:solidFill>
                          <a:latin typeface="Helvetica Neue"/>
                          <a:ea typeface="Helvetica Neue"/>
                          <a:cs typeface="Helvetica Neue"/>
                        </a:rPr>
                        <a:t>Relationship</a:t>
                      </a:r>
                    </a:p>
                  </a:txBody>
                  <a:tcPr marL="91440" marR="91440" marT="45720" marB="45720">
                    <a:solidFill>
                      <a:srgbClr val="70588B"/>
                    </a:solidFill>
                  </a:tcPr>
                </a:tc>
              </a:tr>
              <a:tr h="825500">
                <a:tc>
                  <a:txBody>
                    <a:bodyPr/>
                    <a:lstStyle/>
                    <a:p>
                      <a:r>
                        <a:rPr sz="1800" b="0">
                          <a:solidFill>
                            <a:srgbClr val="16333E"/>
                          </a:solidFill>
                          <a:latin typeface="Helvetica Neue"/>
                          <a:ea typeface="Helvetica Neue"/>
                          <a:cs typeface="Helvetica Neue"/>
                        </a:rPr>
                        <a:t>Horizontal</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Video service adds messaging</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Complementary service</a:t>
                      </a:r>
                    </a:p>
                  </a:txBody>
                  <a:tcPr marL="91440" marR="91440" marT="45720" marB="45720">
                    <a:solidFill>
                      <a:srgbClr val="FFFFFF"/>
                    </a:solidFill>
                  </a:tcPr>
                </a:tc>
              </a:tr>
              <a:tr h="825500">
                <a:tc>
                  <a:txBody>
                    <a:bodyPr/>
                    <a:lstStyle/>
                    <a:p>
                      <a:r>
                        <a:rPr sz="1800" b="0">
                          <a:solidFill>
                            <a:srgbClr val="16333E"/>
                          </a:solidFill>
                          <a:latin typeface="Helvetica Neue"/>
                          <a:ea typeface="Helvetica Neue"/>
                          <a:cs typeface="Helvetica Neue"/>
                        </a:rPr>
                        <a:t>Vertical</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Online shop runs delivery fleet</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Another part of its chain</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17404B4-D1BC-4F66-82BF-C010B94DDC69}"/>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214  /  Original teaching explanation</a:t>
            </a:r>
          </a:p>
        </p:txBody>
      </p:sp>
      <p:sp>
        <p:nvSpPr>
          <p:cNvPr id="6" name="">
            <a:extLst xmlns:a="http://schemas.openxmlformats.org/drawingml/2006/main">
              <a:ext uri="{FF2B5EF4-FFF2-40B4-BE49-F238E27FC236}">
                <a16:creationId xmlns:a16="http://schemas.microsoft.com/office/drawing/2014/main" id="{E9A6946B-C40A-4968-B225-2BF919EAEE7D}"/>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06 / 19</a:t>
            </a:r>
          </a:p>
        </p:txBody>
      </p:sp>
    </p:spTree>
    <p:extLst>
      <p:ext uri="{BB962C8B-B14F-4D97-AF65-F5344CB8AC3E}">
        <p14:creationId xmlns:p14="http://schemas.microsoft.com/office/powerpoint/2010/main" val="1081230174"/>
      </p:ext>
    </p:extLst>
  </p:cSld>
</p:sld>
</file>

<file path=ppt/slides/slide7.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183EFAD-CDB8-441E-A7FA-50F4170C577A}"/>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70588B"/>
                </a:solidFill>
                <a:latin typeface="Helvetica Neue"/>
                <a:ea typeface="Helvetica Neue"/>
                <a:cs typeface="Helvetica Neue"/>
              </a:defRPr>
            </a:pPr>
            <a:r>
              <a:rPr sz="1275" b="1">
                <a:solidFill>
                  <a:srgbClr val="70588B"/>
                </a:solidFill>
                <a:latin typeface="Helvetica Neue"/>
                <a:ea typeface="Helvetica Neue"/>
                <a:cs typeface="Helvetica Neue"/>
              </a:rPr>
              <a:t>IB DIGITAL SOCIETY  /  4.2A and working-practice parts of 4.2B · pp. 213–219</a:t>
            </a:r>
          </a:p>
        </p:txBody>
      </p:sp>
      <p:sp>
        <p:nvSpPr>
          <p:cNvPr id="2" name="">
            <a:extLst xmlns:a="http://schemas.openxmlformats.org/drawingml/2006/main">
              <a:ext uri="{FF2B5EF4-FFF2-40B4-BE49-F238E27FC236}">
                <a16:creationId xmlns:a16="http://schemas.microsoft.com/office/drawing/2014/main" id="{A41AC562-A942-4E66-9601-B69E1F9FD0C3}"/>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Concentric and conglomerate diversification</a:t>
            </a:r>
          </a:p>
        </p:txBody>
      </p:sp>
      <p:sp>
        <p:nvSpPr>
          <p:cNvPr id="3" name="">
            <a:extLst xmlns:a="http://schemas.openxmlformats.org/drawingml/2006/main">
              <a:ext uri="{FF2B5EF4-FFF2-40B4-BE49-F238E27FC236}">
                <a16:creationId xmlns:a16="http://schemas.microsoft.com/office/drawing/2014/main" id="{B1A4A416-64CE-4A01-A7C0-8FAAA515A104}"/>
              </a:ext>
            </a:extLst>
          </p:cNvPr>
          <p:cNvSpPr>
            <a:spLocks xmlns:a="http://schemas.openxmlformats.org/drawingml/2006/main" noGrp="1"/>
          </p:cNvSpPr>
          <p:nvPr/>
        </p:nvSpPr>
        <p:spPr>
          <a:xfrm xmlns:a="http://schemas.openxmlformats.org/drawingml/2006/main">
            <a:off x="609600" y="1676400"/>
            <a:ext cx="4476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Concentric: adapt an existing line for a wider audience</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Conglomerate: enter an unrelated product or industry</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The distinction follows the textbook’s definitions</a:t>
            </a:r>
          </a:p>
        </p:txBody>
      </p:sp>
      <p:graphicFrame>
        <p:nvGraphicFramePr>
          <p:cNvPr id="10" name=""/>
          <p:cNvGraphicFramePr/>
          <p:nvPr/>
        </p:nvGraphicFramePr>
        <p:xfrm>
          <a:off xmlns:a="http://schemas.openxmlformats.org/drawingml/2006/main" x="5429250" y="1752600"/>
          <a:ext xmlns:a="http://schemas.openxmlformats.org/drawingml/2006/main" cx="6153150" cy="2476500"/>
        </p:xfrm>
        <a:graphic xmlns:a="http://schemas.openxmlformats.org/drawingml/2006/main">
          <a:graphicData uri="http://schemas.openxmlformats.org/drawingml/2006/table">
            <a:tbl>
              <a:tblPr firstRow="1" bandRow="0"/>
              <a:tblGrid>
                <a:gridCol w="2051050"/>
                <a:gridCol w="2051050"/>
                <a:gridCol w="2051050"/>
              </a:tblGrid>
              <a:tr h="825500">
                <a:tc>
                  <a:txBody>
                    <a:bodyPr/>
                    <a:lstStyle/>
                    <a:p>
                      <a:r>
                        <a:rPr sz="1800" b="1">
                          <a:solidFill>
                            <a:srgbClr val="FFFFFF"/>
                          </a:solidFill>
                          <a:latin typeface="Helvetica Neue"/>
                          <a:ea typeface="Helvetica Neue"/>
                          <a:cs typeface="Helvetica Neue"/>
                        </a:rPr>
                        <a:t>Strategy</a:t>
                      </a:r>
                    </a:p>
                  </a:txBody>
                  <a:tcPr marL="91440" marR="91440" marT="45720" marB="45720">
                    <a:solidFill>
                      <a:srgbClr val="70588B"/>
                    </a:solidFill>
                  </a:tcPr>
                </a:tc>
                <a:tc>
                  <a:txBody>
                    <a:bodyPr/>
                    <a:lstStyle/>
                    <a:p>
                      <a:r>
                        <a:rPr sz="1800" b="1">
                          <a:solidFill>
                            <a:srgbClr val="FFFFFF"/>
                          </a:solidFill>
                          <a:latin typeface="Helvetica Neue"/>
                          <a:ea typeface="Helvetica Neue"/>
                          <a:cs typeface="Helvetica Neue"/>
                        </a:rPr>
                        <a:t>Invented action</a:t>
                      </a:r>
                    </a:p>
                  </a:txBody>
                  <a:tcPr marL="91440" marR="91440" marT="45720" marB="45720">
                    <a:solidFill>
                      <a:srgbClr val="70588B"/>
                    </a:solidFill>
                  </a:tcPr>
                </a:tc>
                <a:tc>
                  <a:txBody>
                    <a:bodyPr/>
                    <a:lstStyle/>
                    <a:p>
                      <a:r>
                        <a:rPr sz="1800" b="1">
                          <a:solidFill>
                            <a:srgbClr val="FFFFFF"/>
                          </a:solidFill>
                          <a:latin typeface="Helvetica Neue"/>
                          <a:ea typeface="Helvetica Neue"/>
                          <a:cs typeface="Helvetica Neue"/>
                        </a:rPr>
                        <a:t>Relationship</a:t>
                      </a:r>
                    </a:p>
                  </a:txBody>
                  <a:tcPr marL="91440" marR="91440" marT="45720" marB="45720">
                    <a:solidFill>
                      <a:srgbClr val="70588B"/>
                    </a:solidFill>
                  </a:tcPr>
                </a:tc>
              </a:tr>
              <a:tr h="825500">
                <a:tc>
                  <a:txBody>
                    <a:bodyPr/>
                    <a:lstStyle/>
                    <a:p>
                      <a:r>
                        <a:rPr sz="1800" b="0">
                          <a:solidFill>
                            <a:srgbClr val="16333E"/>
                          </a:solidFill>
                          <a:latin typeface="Helvetica Neue"/>
                          <a:ea typeface="Helvetica Neue"/>
                          <a:cs typeface="Helvetica Neue"/>
                        </a:rPr>
                        <a:t>Concentric</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Existing service adapted for business users</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Wider audience</a:t>
                      </a:r>
                    </a:p>
                  </a:txBody>
                  <a:tcPr marL="91440" marR="91440" marT="45720" marB="45720">
                    <a:solidFill>
                      <a:srgbClr val="FFFFFF"/>
                    </a:solidFill>
                  </a:tcPr>
                </a:tc>
              </a:tr>
              <a:tr h="825500">
                <a:tc>
                  <a:txBody>
                    <a:bodyPr/>
                    <a:lstStyle/>
                    <a:p>
                      <a:r>
                        <a:rPr sz="1800" b="0">
                          <a:solidFill>
                            <a:srgbClr val="16333E"/>
                          </a:solidFill>
                          <a:latin typeface="Helvetica Neue"/>
                          <a:ea typeface="Helvetica Neue"/>
                          <a:cs typeface="Helvetica Neue"/>
                        </a:rPr>
                        <a:t>Conglomerate</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Game firm enters agriculture</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Unrelated activity</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EE115E4-F1AF-4CA0-9D49-E9C8247F215D}"/>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214–215  /  Original teaching explanation</a:t>
            </a:r>
          </a:p>
        </p:txBody>
      </p:sp>
      <p:sp>
        <p:nvSpPr>
          <p:cNvPr id="6" name="">
            <a:extLst xmlns:a="http://schemas.openxmlformats.org/drawingml/2006/main">
              <a:ext uri="{FF2B5EF4-FFF2-40B4-BE49-F238E27FC236}">
                <a16:creationId xmlns:a16="http://schemas.microsoft.com/office/drawing/2014/main" id="{7C058279-6691-4944-A9ED-331952158E86}"/>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07 / 19</a:t>
            </a:r>
          </a:p>
        </p:txBody>
      </p:sp>
    </p:spTree>
    <p:extLst>
      <p:ext uri="{BB962C8B-B14F-4D97-AF65-F5344CB8AC3E}">
        <p14:creationId xmlns:p14="http://schemas.microsoft.com/office/powerpoint/2010/main" val="1454965804"/>
      </p:ext>
    </p:extLst>
  </p:cSld>
</p:sld>
</file>

<file path=ppt/slides/slide8.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3C0B19-27A7-439A-9B32-E6318E3B3289}"/>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70588B"/>
                </a:solidFill>
                <a:latin typeface="Helvetica Neue"/>
                <a:ea typeface="Helvetica Neue"/>
                <a:cs typeface="Helvetica Neue"/>
              </a:defRPr>
            </a:pPr>
            <a:r>
              <a:rPr sz="1275" b="1">
                <a:solidFill>
                  <a:srgbClr val="70588B"/>
                </a:solidFill>
                <a:latin typeface="Helvetica Neue"/>
                <a:ea typeface="Helvetica Neue"/>
                <a:cs typeface="Helvetica Neue"/>
              </a:rPr>
              <a:t>IB DIGITAL SOCIETY  /  4.2A and working-practice parts of 4.2B · pp. 213–219</a:t>
            </a:r>
          </a:p>
        </p:txBody>
      </p:sp>
      <p:sp>
        <p:nvSpPr>
          <p:cNvPr id="2" name="">
            <a:extLst xmlns:a="http://schemas.openxmlformats.org/drawingml/2006/main">
              <a:ext uri="{FF2B5EF4-FFF2-40B4-BE49-F238E27FC236}">
                <a16:creationId xmlns:a16="http://schemas.microsoft.com/office/drawing/2014/main" id="{7F1D1355-0DE2-4A2C-99D5-8D5C4BA95479}"/>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Hiring systems affect opportunity</a:t>
            </a:r>
          </a:p>
        </p:txBody>
      </p:sp>
      <p:sp>
        <p:nvSpPr>
          <p:cNvPr id="3" name="">
            <a:extLst xmlns:a="http://schemas.openxmlformats.org/drawingml/2006/main">
              <a:ext uri="{FF2B5EF4-FFF2-40B4-BE49-F238E27FC236}">
                <a16:creationId xmlns:a16="http://schemas.microsoft.com/office/drawing/2014/main" id="{EA6F9BCF-FBD4-429C-B537-C1E1A476D5A5}"/>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70588B"/>
                </a:solidFill>
                <a:latin typeface="Helvetica Neue"/>
                <a:ea typeface="Helvetica Neue"/>
                <a:cs typeface="Helvetica Neue"/>
              </a:defRPr>
            </a:pPr>
            <a:r>
              <a:rPr sz="2700" b="1">
                <a:solidFill>
                  <a:srgbClr val="70588B"/>
                </a:solidFill>
                <a:latin typeface="Helvetica Neue"/>
                <a:ea typeface="Helvetica Neue"/>
                <a:cs typeface="Helvetica Neue"/>
              </a:rPr>
              <a:t>A system can screen applicants quickly</a:t>
            </a:r>
          </a:p>
        </p:txBody>
      </p:sp>
      <p:sp>
        <p:nvSpPr>
          <p:cNvPr id="4" name="">
            <a:extLst xmlns:a="http://schemas.openxmlformats.org/drawingml/2006/main">
              <a:ext uri="{FF2B5EF4-FFF2-40B4-BE49-F238E27FC236}">
                <a16:creationId xmlns:a16="http://schemas.microsoft.com/office/drawing/2014/main" id="{D968E481-9745-4F9D-92CE-248C325AAE5B}"/>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Historical labels can preserve past exclusion</a:t>
            </a:r>
          </a:p>
        </p:txBody>
      </p:sp>
      <p:sp>
        <p:nvSpPr>
          <p:cNvPr id="5" name="">
            <a:extLst xmlns:a="http://schemas.openxmlformats.org/drawingml/2006/main">
              <a:ext uri="{FF2B5EF4-FFF2-40B4-BE49-F238E27FC236}">
                <a16:creationId xmlns:a16="http://schemas.microsoft.com/office/drawing/2014/main" id="{9402CCFD-68F3-4FB2-A6EB-0C7D010AA4ED}"/>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A relevant measure and a challenge route need evaluation</a:t>
            </a:r>
          </a:p>
        </p:txBody>
      </p:sp>
      <p:sp>
        <p:nvSpPr>
          <p:cNvPr id="6" name="">
            <a:extLst xmlns:a="http://schemas.openxmlformats.org/drawingml/2006/main">
              <a:ext uri="{FF2B5EF4-FFF2-40B4-BE49-F238E27FC236}">
                <a16:creationId xmlns:a16="http://schemas.microsoft.com/office/drawing/2014/main" id="{B84DA4F1-654F-4E21-A6A1-9B469770652B}"/>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588B"/>
                </a:solidFill>
                <a:latin typeface="Helvetica Neue"/>
                <a:ea typeface="Helvetica Neue"/>
                <a:cs typeface="Helvetica Neue"/>
              </a:defRPr>
            </a:pPr>
            <a:r>
              <a:rPr sz="1800" b="1">
                <a:solidFill>
                  <a:srgbClr val="70588B"/>
                </a:solidFill>
                <a:latin typeface="Helvetica Neue"/>
                <a:ea typeface="Helvetica Neue"/>
                <a:cs typeface="Helvetica Neue"/>
              </a:rPr>
              <a:t>Checkpoint: What most directly links hiring to algorithmic dilemmas?</a:t>
            </a:r>
          </a:p>
        </p:txBody>
      </p:sp>
      <p:sp>
        <p:nvSpPr>
          <p:cNvPr id="7" name="">
            <a:extLst xmlns:a="http://schemas.openxmlformats.org/drawingml/2006/main">
              <a:ext uri="{FF2B5EF4-FFF2-40B4-BE49-F238E27FC236}">
                <a16:creationId xmlns:a16="http://schemas.microsoft.com/office/drawing/2014/main" id="{82D7E1B5-7E00-471F-A9D6-2F1C0BE8DB2B}"/>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215–217  /  Original teaching explanation</a:t>
            </a:r>
          </a:p>
        </p:txBody>
      </p:sp>
      <p:sp>
        <p:nvSpPr>
          <p:cNvPr id="8" name="">
            <a:extLst xmlns:a="http://schemas.openxmlformats.org/drawingml/2006/main">
              <a:ext uri="{FF2B5EF4-FFF2-40B4-BE49-F238E27FC236}">
                <a16:creationId xmlns:a16="http://schemas.microsoft.com/office/drawing/2014/main" id="{5EE5D3F5-3886-47DC-A16B-46E4A457FA9C}"/>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08 / 19</a:t>
            </a:r>
          </a:p>
        </p:txBody>
      </p:sp>
    </p:spTree>
    <p:extLst>
      <p:ext uri="{BB962C8B-B14F-4D97-AF65-F5344CB8AC3E}">
        <p14:creationId xmlns:p14="http://schemas.microsoft.com/office/powerpoint/2010/main" val="43663912"/>
      </p:ext>
    </p:extLst>
  </p:cSld>
</p:sld>
</file>

<file path=ppt/slides/slide9.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57338F-C72C-49B3-8ACD-EA9B9B32D611}"/>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70588B"/>
                </a:solidFill>
                <a:latin typeface="Helvetica Neue"/>
                <a:ea typeface="Helvetica Neue"/>
                <a:cs typeface="Helvetica Neue"/>
              </a:defRPr>
            </a:pPr>
            <a:r>
              <a:rPr sz="1275" b="1">
                <a:solidFill>
                  <a:srgbClr val="70588B"/>
                </a:solidFill>
                <a:latin typeface="Helvetica Neue"/>
                <a:ea typeface="Helvetica Neue"/>
                <a:cs typeface="Helvetica Neue"/>
              </a:rPr>
              <a:t>IB DIGITAL SOCIETY  /  4.2A and working-practice parts of 4.2B · pp. 213–219</a:t>
            </a:r>
          </a:p>
        </p:txBody>
      </p:sp>
      <p:sp>
        <p:nvSpPr>
          <p:cNvPr id="2" name="">
            <a:extLst xmlns:a="http://schemas.openxmlformats.org/drawingml/2006/main">
              <a:ext uri="{FF2B5EF4-FFF2-40B4-BE49-F238E27FC236}">
                <a16:creationId xmlns:a16="http://schemas.microsoft.com/office/drawing/2014/main" id="{565ADBE5-5F71-4775-97C1-4B3B9245D9E6}"/>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A historical case needs a current check</a:t>
            </a:r>
          </a:p>
        </p:txBody>
      </p:sp>
      <p:sp>
        <p:nvSpPr>
          <p:cNvPr id="3" name="">
            <a:extLst xmlns:a="http://schemas.openxmlformats.org/drawingml/2006/main">
              <a:ext uri="{FF2B5EF4-FFF2-40B4-BE49-F238E27FC236}">
                <a16:creationId xmlns:a16="http://schemas.microsoft.com/office/drawing/2014/main" id="{C173D2D5-2AF4-4B45-AA8E-92FC24579821}"/>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70588B"/>
                </a:solidFill>
                <a:latin typeface="Helvetica Neue"/>
                <a:ea typeface="Helvetica Neue"/>
                <a:cs typeface="Helvetica Neue"/>
              </a:defRPr>
            </a:pPr>
            <a:r>
              <a:rPr sz="2700" b="1">
                <a:solidFill>
                  <a:srgbClr val="70588B"/>
                </a:solidFill>
                <a:latin typeface="Helvetica Neue"/>
                <a:ea typeface="Helvetica Neue"/>
                <a:cs typeface="Helvetica Neue"/>
              </a:rPr>
              <a:t>Textbook examples establish the chapter’s original discussion</a:t>
            </a:r>
          </a:p>
        </p:txBody>
      </p:sp>
      <p:sp>
        <p:nvSpPr>
          <p:cNvPr id="4" name="">
            <a:extLst xmlns:a="http://schemas.openxmlformats.org/drawingml/2006/main">
              <a:ext uri="{FF2B5EF4-FFF2-40B4-BE49-F238E27FC236}">
                <a16:creationId xmlns:a16="http://schemas.microsoft.com/office/drawing/2014/main" id="{DBBE9A1A-B58E-402E-845D-2C5905FFB62B}"/>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Current product details need a current primary source</a:t>
            </a:r>
          </a:p>
        </p:txBody>
      </p:sp>
      <p:sp>
        <p:nvSpPr>
          <p:cNvPr id="5" name="">
            <a:extLst xmlns:a="http://schemas.openxmlformats.org/drawingml/2006/main">
              <a:ext uri="{FF2B5EF4-FFF2-40B4-BE49-F238E27FC236}">
                <a16:creationId xmlns:a16="http://schemas.microsoft.com/office/drawing/2014/main" id="{0C0832F4-B936-4FBC-A608-BF3E4EE9F79C}"/>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The underlying dilemma can remain relevant after a product changes</a:t>
            </a:r>
          </a:p>
        </p:txBody>
      </p:sp>
      <p:sp>
        <p:nvSpPr>
          <p:cNvPr id="6" name="">
            <a:extLst xmlns:a="http://schemas.openxmlformats.org/drawingml/2006/main">
              <a:ext uri="{FF2B5EF4-FFF2-40B4-BE49-F238E27FC236}">
                <a16:creationId xmlns:a16="http://schemas.microsoft.com/office/drawing/2014/main" id="{8455D408-821A-44FF-AB0C-01E352DC0A47}"/>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588B"/>
                </a:solidFill>
                <a:latin typeface="Helvetica Neue"/>
                <a:ea typeface="Helvetica Neue"/>
                <a:cs typeface="Helvetica Neue"/>
              </a:defRPr>
            </a:pPr>
            <a:r>
              <a:rPr sz="1800" b="1">
                <a:solidFill>
                  <a:srgbClr val="70588B"/>
                </a:solidFill>
                <a:latin typeface="Helvetica Neue"/>
                <a:ea typeface="Helvetica Neue"/>
                <a:cs typeface="Helvetica Neue"/>
              </a:rPr>
              <a:t>Rewrite a historical product claim so its date and limit remain clear.</a:t>
            </a:r>
          </a:p>
        </p:txBody>
      </p:sp>
      <p:sp>
        <p:nvSpPr>
          <p:cNvPr id="7" name="">
            <a:extLst xmlns:a="http://schemas.openxmlformats.org/drawingml/2006/main">
              <a:ext uri="{FF2B5EF4-FFF2-40B4-BE49-F238E27FC236}">
                <a16:creationId xmlns:a16="http://schemas.microsoft.com/office/drawing/2014/main" id="{3B961776-AF9F-4C61-B082-7177D5899A06}"/>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216–217  /  Original teaching explanation</a:t>
            </a:r>
          </a:p>
        </p:txBody>
      </p:sp>
      <p:sp>
        <p:nvSpPr>
          <p:cNvPr id="8" name="">
            <a:extLst xmlns:a="http://schemas.openxmlformats.org/drawingml/2006/main">
              <a:ext uri="{FF2B5EF4-FFF2-40B4-BE49-F238E27FC236}">
                <a16:creationId xmlns:a16="http://schemas.microsoft.com/office/drawing/2014/main" id="{79E39CDD-0FB0-481A-9792-F68CCF687EDF}"/>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09 / 19</a:t>
            </a:r>
          </a:p>
        </p:txBody>
      </p:sp>
    </p:spTree>
    <p:extLst>
      <p:ext uri="{BB962C8B-B14F-4D97-AF65-F5344CB8AC3E}">
        <p14:creationId xmlns:p14="http://schemas.microsoft.com/office/powerpoint/2010/main" val="620004577"/>
      </p:ext>
    </p:extLst>
  </p:cSld>
</p:sld>
</file>

<file path=ppt/slides/slide10.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0DFE5C1-0788-4B50-88B4-1B2BF75F2646}"/>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70588B"/>
                </a:solidFill>
                <a:latin typeface="Helvetica Neue"/>
                <a:ea typeface="Helvetica Neue"/>
                <a:cs typeface="Helvetica Neue"/>
              </a:defRPr>
            </a:pPr>
            <a:r>
              <a:rPr sz="1275" b="1">
                <a:solidFill>
                  <a:srgbClr val="70588B"/>
                </a:solidFill>
                <a:latin typeface="Helvetica Neue"/>
                <a:ea typeface="Helvetica Neue"/>
                <a:cs typeface="Helvetica Neue"/>
              </a:rPr>
              <a:t>IB DIGITAL SOCIETY  /  4.2A and working-practice parts of 4.2B · pp. 213–219</a:t>
            </a:r>
          </a:p>
        </p:txBody>
      </p:sp>
      <p:sp>
        <p:nvSpPr>
          <p:cNvPr id="2" name="">
            <a:extLst xmlns:a="http://schemas.openxmlformats.org/drawingml/2006/main">
              <a:ext uri="{FF2B5EF4-FFF2-40B4-BE49-F238E27FC236}">
                <a16:creationId xmlns:a16="http://schemas.microsoft.com/office/drawing/2014/main" id="{E48760EA-1741-4081-A5B3-FDCD815BA96F}"/>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Working practices and office design</a:t>
            </a:r>
          </a:p>
        </p:txBody>
      </p:sp>
      <p:sp>
        <p:nvSpPr>
          <p:cNvPr id="3" name="">
            <a:extLst xmlns:a="http://schemas.openxmlformats.org/drawingml/2006/main">
              <a:ext uri="{FF2B5EF4-FFF2-40B4-BE49-F238E27FC236}">
                <a16:creationId xmlns:a16="http://schemas.microsoft.com/office/drawing/2014/main" id="{6307A609-ABC3-4F2C-A3E5-236C5524865D}"/>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70588B"/>
                </a:solidFill>
                <a:latin typeface="Helvetica Neue"/>
                <a:ea typeface="Helvetica Neue"/>
                <a:cs typeface="Helvetica Neue"/>
              </a:defRPr>
            </a:pPr>
            <a:r>
              <a:rPr sz="2700" b="1">
                <a:solidFill>
                  <a:srgbClr val="70588B"/>
                </a:solidFill>
                <a:latin typeface="Helvetica Neue"/>
                <a:ea typeface="Helvetica Neue"/>
                <a:cs typeface="Helvetica Neue"/>
              </a:rPr>
              <a:t>Digital tasks can change where and how work happens</a:t>
            </a:r>
          </a:p>
        </p:txBody>
      </p:sp>
      <p:sp>
        <p:nvSpPr>
          <p:cNvPr id="4" name="">
            <a:extLst xmlns:a="http://schemas.openxmlformats.org/drawingml/2006/main">
              <a:ext uri="{FF2B5EF4-FFF2-40B4-BE49-F238E27FC236}">
                <a16:creationId xmlns:a16="http://schemas.microsoft.com/office/drawing/2014/main" id="{00158913-DBB1-4F50-887C-A45E4384523A}"/>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Office design can support collaboration or quiet work</a:t>
            </a:r>
          </a:p>
        </p:txBody>
      </p:sp>
      <p:sp>
        <p:nvSpPr>
          <p:cNvPr id="5" name="">
            <a:extLst xmlns:a="http://schemas.openxmlformats.org/drawingml/2006/main">
              <a:ext uri="{FF2B5EF4-FFF2-40B4-BE49-F238E27FC236}">
                <a16:creationId xmlns:a16="http://schemas.microsoft.com/office/drawing/2014/main" id="{29B7336F-61B6-4C5C-AD9D-1CAC61ED8587}"/>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A flexible environment does not guarantee good working conditions</a:t>
            </a:r>
          </a:p>
        </p:txBody>
      </p:sp>
      <p:sp>
        <p:nvSpPr>
          <p:cNvPr id="6" name="">
            <a:extLst xmlns:a="http://schemas.openxmlformats.org/drawingml/2006/main">
              <a:ext uri="{FF2B5EF4-FFF2-40B4-BE49-F238E27FC236}">
                <a16:creationId xmlns:a16="http://schemas.microsoft.com/office/drawing/2014/main" id="{432C9ADD-6D27-401B-9666-74DAF1AAFF5F}"/>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588B"/>
                </a:solidFill>
                <a:latin typeface="Helvetica Neue"/>
                <a:ea typeface="Helvetica Neue"/>
                <a:cs typeface="Helvetica Neue"/>
              </a:defRPr>
            </a:pPr>
            <a:r>
              <a:rPr sz="1800" b="1">
                <a:solidFill>
                  <a:srgbClr val="70588B"/>
                </a:solidFill>
                <a:latin typeface="Helvetica Neue"/>
                <a:ea typeface="Helvetica Neue"/>
                <a:cs typeface="Helvetica Neue"/>
              </a:rPr>
              <a:t>Which task benefits from a shared space? Which needs a quiet or private space?</a:t>
            </a:r>
          </a:p>
        </p:txBody>
      </p:sp>
      <p:sp>
        <p:nvSpPr>
          <p:cNvPr id="7" name="">
            <a:extLst xmlns:a="http://schemas.openxmlformats.org/drawingml/2006/main">
              <a:ext uri="{FF2B5EF4-FFF2-40B4-BE49-F238E27FC236}">
                <a16:creationId xmlns:a16="http://schemas.microsoft.com/office/drawing/2014/main" id="{AC1CC98C-6739-449D-823E-D10EF152B5EF}"/>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217  /  Original teaching explanation</a:t>
            </a:r>
          </a:p>
        </p:txBody>
      </p:sp>
      <p:sp>
        <p:nvSpPr>
          <p:cNvPr id="8" name="">
            <a:extLst xmlns:a="http://schemas.openxmlformats.org/drawingml/2006/main">
              <a:ext uri="{FF2B5EF4-FFF2-40B4-BE49-F238E27FC236}">
                <a16:creationId xmlns:a16="http://schemas.microsoft.com/office/drawing/2014/main" id="{14EBCE40-8E0E-428A-B734-4DA3EF1399CC}"/>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10 / 19</a:t>
            </a:r>
          </a:p>
        </p:txBody>
      </p:sp>
    </p:spTree>
    <p:extLst>
      <p:ext uri="{BB962C8B-B14F-4D97-AF65-F5344CB8AC3E}">
        <p14:creationId xmlns:p14="http://schemas.microsoft.com/office/powerpoint/2010/main" val="395943523"/>
      </p:ext>
    </p:extLst>
  </p:cSld>
</p:sld>
</file>

<file path=ppt/slides/slide11.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B13D88-ED7D-4756-BEAC-9A37F9E73BD5}"/>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70588B"/>
                </a:solidFill>
                <a:latin typeface="Helvetica Neue"/>
                <a:ea typeface="Helvetica Neue"/>
                <a:cs typeface="Helvetica Neue"/>
              </a:defRPr>
            </a:pPr>
            <a:r>
              <a:rPr sz="1275" b="1">
                <a:solidFill>
                  <a:srgbClr val="70588B"/>
                </a:solidFill>
                <a:latin typeface="Helvetica Neue"/>
                <a:ea typeface="Helvetica Neue"/>
                <a:cs typeface="Helvetica Neue"/>
              </a:rPr>
              <a:t>IB DIGITAL SOCIETY  /  4.2A and working-practice parts of 4.2B · pp. 213–219</a:t>
            </a:r>
          </a:p>
        </p:txBody>
      </p:sp>
      <p:sp>
        <p:nvSpPr>
          <p:cNvPr id="2" name="">
            <a:extLst xmlns:a="http://schemas.openxmlformats.org/drawingml/2006/main">
              <a:ext uri="{FF2B5EF4-FFF2-40B4-BE49-F238E27FC236}">
                <a16:creationId xmlns:a16="http://schemas.microsoft.com/office/drawing/2014/main" id="{89AE3D62-436B-431D-ACA1-D71D5A3B13AC}"/>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Remote work and digital nomadism</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0861cc2f3f84c0d"/>
          <a:stretch xmlns:a="http://schemas.openxmlformats.org/drawingml/2006/main"/>
        </p:blipFill>
        <p:spPr>
          <a:xfrm xmlns:a="http://schemas.openxmlformats.org/drawingml/2006/main">
            <a:off x="3032695" y="1657350"/>
            <a:ext cx="6126610" cy="3448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C8E1055-DED6-4F1F-8C88-42B9A10F20F0}"/>
              </a:ext>
            </a:extLst>
          </p:cNvPr>
          <p:cNvSpPr>
            <a:spLocks xmlns:a="http://schemas.openxmlformats.org/drawingml/2006/main" noGrp="1"/>
          </p:cNvSpPr>
          <p:nvPr/>
        </p:nvSpPr>
        <p:spPr>
          <a:xfrm xmlns:a="http://schemas.openxmlformats.org/drawingml/2006/main">
            <a:off x="609600" y="5229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0588B"/>
                </a:solidFill>
                <a:latin typeface="Helvetica Neue"/>
                <a:ea typeface="Helvetica Neue"/>
                <a:cs typeface="Helvetica Neue"/>
              </a:defRPr>
            </a:pPr>
            <a:r>
              <a:rPr sz="2025" b="1">
                <a:solidFill>
                  <a:srgbClr val="70588B"/>
                </a:solidFill>
                <a:latin typeface="Helvetica Neue"/>
                <a:ea typeface="Helvetica Neue"/>
                <a:cs typeface="Helvetica Neue"/>
              </a:rPr>
              <a:t>Remote work uses networks to complete work away from a central workplace</a:t>
            </a:r>
          </a:p>
        </p:txBody>
      </p:sp>
      <p:sp>
        <p:nvSpPr>
          <p:cNvPr id="5" name="">
            <a:extLst xmlns:a="http://schemas.openxmlformats.org/drawingml/2006/main">
              <a:ext uri="{FF2B5EF4-FFF2-40B4-BE49-F238E27FC236}">
                <a16:creationId xmlns:a16="http://schemas.microsoft.com/office/drawing/2014/main" id="{70C9C7E0-C626-4B5F-A835-7F086A032619}"/>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588B"/>
                </a:solidFill>
                <a:latin typeface="Helvetica Neue"/>
                <a:ea typeface="Helvetica Neue"/>
                <a:cs typeface="Helvetica Neue"/>
              </a:defRPr>
            </a:pPr>
            <a:r>
              <a:rPr sz="1800" b="1">
                <a:solidFill>
                  <a:srgbClr val="70588B"/>
                </a:solidFill>
                <a:latin typeface="Helvetica Neue"/>
                <a:ea typeface="Helvetica Neue"/>
                <a:cs typeface="Helvetica Neue"/>
              </a:rPr>
              <a:t>Both people work remotely. What makes the travel setting different? Explain one network dependency.</a:t>
            </a:r>
          </a:p>
        </p:txBody>
      </p:sp>
      <p:sp>
        <p:nvSpPr>
          <p:cNvPr id="6" name="">
            <a:extLst xmlns:a="http://schemas.openxmlformats.org/drawingml/2006/main">
              <a:ext uri="{FF2B5EF4-FFF2-40B4-BE49-F238E27FC236}">
                <a16:creationId xmlns:a16="http://schemas.microsoft.com/office/drawing/2014/main" id="{AC1F345C-C338-4E5B-98E8-1AB6EF6C21BF}"/>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217–218  /  Original teaching explanation</a:t>
            </a:r>
          </a:p>
        </p:txBody>
      </p:sp>
      <p:sp>
        <p:nvSpPr>
          <p:cNvPr id="7" name="">
            <a:extLst xmlns:a="http://schemas.openxmlformats.org/drawingml/2006/main">
              <a:ext uri="{FF2B5EF4-FFF2-40B4-BE49-F238E27FC236}">
                <a16:creationId xmlns:a16="http://schemas.microsoft.com/office/drawing/2014/main" id="{2825BA84-9B0E-4BF8-8550-5A156BB414F5}"/>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11 / 19</a:t>
            </a:r>
          </a:p>
        </p:txBody>
      </p:sp>
    </p:spTree>
    <p:extLst>
      <p:ext uri="{BB962C8B-B14F-4D97-AF65-F5344CB8AC3E}">
        <p14:creationId xmlns:p14="http://schemas.microsoft.com/office/powerpoint/2010/main" val="1506508756"/>
      </p:ext>
    </p:extLst>
  </p:cSld>
</p:sld>
</file>

<file path=ppt/slides/slide1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D848FC7-AA8C-426D-B775-CB74624075FD}"/>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70588B"/>
                </a:solidFill>
                <a:latin typeface="Helvetica Neue"/>
                <a:ea typeface="Helvetica Neue"/>
                <a:cs typeface="Helvetica Neue"/>
              </a:defRPr>
            </a:pPr>
            <a:r>
              <a:rPr sz="1275" b="1">
                <a:solidFill>
                  <a:srgbClr val="70588B"/>
                </a:solidFill>
                <a:latin typeface="Helvetica Neue"/>
                <a:ea typeface="Helvetica Neue"/>
                <a:cs typeface="Helvetica Neue"/>
              </a:rPr>
              <a:t>IB DIGITAL SOCIETY  /  4.2A and working-practice parts of 4.2B · pp. 213–219</a:t>
            </a:r>
          </a:p>
        </p:txBody>
      </p:sp>
      <p:sp>
        <p:nvSpPr>
          <p:cNvPr id="2" name="">
            <a:extLst xmlns:a="http://schemas.openxmlformats.org/drawingml/2006/main">
              <a:ext uri="{FF2B5EF4-FFF2-40B4-BE49-F238E27FC236}">
                <a16:creationId xmlns:a16="http://schemas.microsoft.com/office/drawing/2014/main" id="{6820014D-D18D-43A4-9187-1F188A9A9A22}"/>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Crowdsourcing and crowdfunding</a:t>
            </a:r>
          </a:p>
        </p:txBody>
      </p:sp>
      <p:sp>
        <p:nvSpPr>
          <p:cNvPr id="3" name="">
            <a:extLst xmlns:a="http://schemas.openxmlformats.org/drawingml/2006/main">
              <a:ext uri="{FF2B5EF4-FFF2-40B4-BE49-F238E27FC236}">
                <a16:creationId xmlns:a16="http://schemas.microsoft.com/office/drawing/2014/main" id="{CE738C1E-81A9-454F-8AD0-881DF5D83208}"/>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70588B"/>
                </a:solidFill>
                <a:latin typeface="Helvetica Neue"/>
                <a:ea typeface="Helvetica Neue"/>
                <a:cs typeface="Helvetica Neue"/>
              </a:defRPr>
            </a:pPr>
            <a:r>
              <a:rPr sz="2700" b="1">
                <a:solidFill>
                  <a:srgbClr val="70588B"/>
                </a:solidFill>
                <a:latin typeface="Helvetica Neue"/>
                <a:ea typeface="Helvetica Neue"/>
                <a:cs typeface="Helvetica Neue"/>
              </a:rPr>
              <a:t>Crowdsourcing gathers contributions, information or work</a:t>
            </a:r>
          </a:p>
        </p:txBody>
      </p:sp>
      <p:sp>
        <p:nvSpPr>
          <p:cNvPr id="4" name="">
            <a:extLst xmlns:a="http://schemas.openxmlformats.org/drawingml/2006/main">
              <a:ext uri="{FF2B5EF4-FFF2-40B4-BE49-F238E27FC236}">
                <a16:creationId xmlns:a16="http://schemas.microsoft.com/office/drawing/2014/main" id="{F8E9360C-C80D-48FC-A0C4-F9F0977EA7AB}"/>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Crowdfunding gathers money for a project or cause</a:t>
            </a:r>
          </a:p>
        </p:txBody>
      </p:sp>
      <p:sp>
        <p:nvSpPr>
          <p:cNvPr id="5" name="">
            <a:extLst xmlns:a="http://schemas.openxmlformats.org/drawingml/2006/main">
              <a:ext uri="{FF2B5EF4-FFF2-40B4-BE49-F238E27FC236}">
                <a16:creationId xmlns:a16="http://schemas.microsoft.com/office/drawing/2014/main" id="{9D1F9998-83FC-4A16-B22A-F019F98CFCAD}"/>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Both need decisions about participation and use</a:t>
            </a:r>
          </a:p>
        </p:txBody>
      </p:sp>
      <p:sp>
        <p:nvSpPr>
          <p:cNvPr id="6" name="">
            <a:extLst xmlns:a="http://schemas.openxmlformats.org/drawingml/2006/main">
              <a:ext uri="{FF2B5EF4-FFF2-40B4-BE49-F238E27FC236}">
                <a16:creationId xmlns:a16="http://schemas.microsoft.com/office/drawing/2014/main" id="{9A17C9F8-7188-4B35-86B0-7B769EF39E3E}"/>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588B"/>
                </a:solidFill>
                <a:latin typeface="Helvetica Neue"/>
                <a:ea typeface="Helvetica Neue"/>
                <a:cs typeface="Helvetica Neue"/>
              </a:defRPr>
            </a:pPr>
            <a:r>
              <a:rPr sz="1800" b="1">
                <a:solidFill>
                  <a:srgbClr val="70588B"/>
                </a:solidFill>
                <a:latin typeface="Helvetica Neue"/>
                <a:ea typeface="Helvetica Neue"/>
                <a:cs typeface="Helvetica Neue"/>
              </a:rPr>
              <a:t>Checkpoint: A class requests volunteer translations of its event guide. What is being gathered?</a:t>
            </a:r>
          </a:p>
        </p:txBody>
      </p:sp>
      <p:sp>
        <p:nvSpPr>
          <p:cNvPr id="7" name="">
            <a:extLst xmlns:a="http://schemas.openxmlformats.org/drawingml/2006/main">
              <a:ext uri="{FF2B5EF4-FFF2-40B4-BE49-F238E27FC236}">
                <a16:creationId xmlns:a16="http://schemas.microsoft.com/office/drawing/2014/main" id="{74A11991-DADF-4BD8-9B39-CD226779FB60}"/>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218–219  /  Original teaching explanation</a:t>
            </a:r>
          </a:p>
        </p:txBody>
      </p:sp>
      <p:sp>
        <p:nvSpPr>
          <p:cNvPr id="8" name="">
            <a:extLst xmlns:a="http://schemas.openxmlformats.org/drawingml/2006/main">
              <a:ext uri="{FF2B5EF4-FFF2-40B4-BE49-F238E27FC236}">
                <a16:creationId xmlns:a16="http://schemas.microsoft.com/office/drawing/2014/main" id="{5A50C259-4F95-4DBB-B1B4-05F7F01989DB}"/>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12 / 19</a:t>
            </a:r>
          </a:p>
        </p:txBody>
      </p:sp>
    </p:spTree>
    <p:extLst>
      <p:ext uri="{BB962C8B-B14F-4D97-AF65-F5344CB8AC3E}">
        <p14:creationId xmlns:p14="http://schemas.microsoft.com/office/powerpoint/2010/main" val="2043559022"/>
      </p:ext>
    </p:extLst>
  </p:cSld>
</p:sld>
</file>

<file path=ppt/slides/slide13.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E09B56A-0B1D-479B-B86A-A189E9D50355}"/>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70588B"/>
                </a:solidFill>
                <a:latin typeface="Helvetica Neue"/>
                <a:ea typeface="Helvetica Neue"/>
                <a:cs typeface="Helvetica Neue"/>
              </a:defRPr>
            </a:pPr>
            <a:r>
              <a:rPr sz="1275" b="1">
                <a:solidFill>
                  <a:srgbClr val="70588B"/>
                </a:solidFill>
                <a:latin typeface="Helvetica Neue"/>
                <a:ea typeface="Helvetica Neue"/>
                <a:cs typeface="Helvetica Neue"/>
              </a:rPr>
              <a:t>IB DIGITAL SOCIETY  /  4.2A and working-practice parts of 4.2B · pp. 213–219</a:t>
            </a:r>
          </a:p>
        </p:txBody>
      </p:sp>
      <p:sp>
        <p:nvSpPr>
          <p:cNvPr id="2" name="">
            <a:extLst xmlns:a="http://schemas.openxmlformats.org/drawingml/2006/main">
              <a:ext uri="{FF2B5EF4-FFF2-40B4-BE49-F238E27FC236}">
                <a16:creationId xmlns:a16="http://schemas.microsoft.com/office/drawing/2014/main" id="{E17A4685-C7BC-453B-8A20-74EA7979E576}"/>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Microwork, gig work and sharing</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5c1b4cb87944cd5"/>
          <a:stretch xmlns:a="http://schemas.openxmlformats.org/drawingml/2006/main"/>
        </p:blipFill>
        <p:spPr>
          <a:xfrm xmlns:a="http://schemas.openxmlformats.org/drawingml/2006/main">
            <a:off x="3054721" y="1657350"/>
            <a:ext cx="6082558" cy="3448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D7B7A45-C262-4397-8C31-8F7EA383FB11}"/>
              </a:ext>
            </a:extLst>
          </p:cNvPr>
          <p:cNvSpPr>
            <a:spLocks xmlns:a="http://schemas.openxmlformats.org/drawingml/2006/main" noGrp="1"/>
          </p:cNvSpPr>
          <p:nvPr/>
        </p:nvSpPr>
        <p:spPr>
          <a:xfrm xmlns:a="http://schemas.openxmlformats.org/drawingml/2006/main">
            <a:off x="609600" y="5229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0588B"/>
                </a:solidFill>
                <a:latin typeface="Helvetica Neue"/>
                <a:ea typeface="Helvetica Neue"/>
                <a:cs typeface="Helvetica Neue"/>
              </a:defRPr>
            </a:pPr>
            <a:r>
              <a:rPr sz="2025" b="1">
                <a:solidFill>
                  <a:srgbClr val="70588B"/>
                </a:solidFill>
                <a:latin typeface="Helvetica Neue"/>
                <a:ea typeface="Helvetica Neue"/>
                <a:cs typeface="Helvetica Neue"/>
              </a:rPr>
              <a:t>Microwork consists of small tasks completed for payment</a:t>
            </a:r>
          </a:p>
        </p:txBody>
      </p:sp>
      <p:sp>
        <p:nvSpPr>
          <p:cNvPr id="5" name="">
            <a:extLst xmlns:a="http://schemas.openxmlformats.org/drawingml/2006/main">
              <a:ext uri="{FF2B5EF4-FFF2-40B4-BE49-F238E27FC236}">
                <a16:creationId xmlns:a16="http://schemas.microsoft.com/office/drawing/2014/main" id="{F37E89CC-383F-4CC7-8A57-C4CC611C5ADE}"/>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588B"/>
                </a:solidFill>
                <a:latin typeface="Helvetica Neue"/>
                <a:ea typeface="Helvetica Neue"/>
                <a:cs typeface="Helvetica Neue"/>
              </a:defRPr>
            </a:pPr>
            <a:r>
              <a:rPr sz="1800" b="1">
                <a:solidFill>
                  <a:srgbClr val="70588B"/>
                </a:solidFill>
                <a:latin typeface="Helvetica Neue"/>
                <a:ea typeface="Helvetica Neue"/>
                <a:cs typeface="Helvetica Neue"/>
              </a:rPr>
              <a:t>Classify an invented paid image-labelling task and an equipment rental. Explain the distinction.</a:t>
            </a:r>
          </a:p>
        </p:txBody>
      </p:sp>
      <p:sp>
        <p:nvSpPr>
          <p:cNvPr id="6" name="">
            <a:extLst xmlns:a="http://schemas.openxmlformats.org/drawingml/2006/main">
              <a:ext uri="{FF2B5EF4-FFF2-40B4-BE49-F238E27FC236}">
                <a16:creationId xmlns:a16="http://schemas.microsoft.com/office/drawing/2014/main" id="{70C9CF0C-2B8C-4CAB-A867-2CF6C370245F}"/>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219  /  Original teaching explanation</a:t>
            </a:r>
          </a:p>
        </p:txBody>
      </p:sp>
      <p:sp>
        <p:nvSpPr>
          <p:cNvPr id="7" name="">
            <a:extLst xmlns:a="http://schemas.openxmlformats.org/drawingml/2006/main">
              <a:ext uri="{FF2B5EF4-FFF2-40B4-BE49-F238E27FC236}">
                <a16:creationId xmlns:a16="http://schemas.microsoft.com/office/drawing/2014/main" id="{6C3413A6-1A50-4351-BE9F-3CC407CABF65}"/>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13 / 19</a:t>
            </a:r>
          </a:p>
        </p:txBody>
      </p:sp>
    </p:spTree>
    <p:extLst>
      <p:ext uri="{BB962C8B-B14F-4D97-AF65-F5344CB8AC3E}">
        <p14:creationId xmlns:p14="http://schemas.microsoft.com/office/powerpoint/2010/main" val="1631280001"/>
      </p:ext>
    </p:extLst>
  </p:cSld>
</p:sld>
</file>

<file path=ppt/slides/slide14.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A921017-DFBA-40E4-AA31-C2004FB4395F}"/>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70588B"/>
                </a:solidFill>
                <a:latin typeface="Helvetica Neue"/>
                <a:ea typeface="Helvetica Neue"/>
                <a:cs typeface="Helvetica Neue"/>
              </a:defRPr>
            </a:pPr>
            <a:r>
              <a:rPr sz="1275" b="1">
                <a:solidFill>
                  <a:srgbClr val="70588B"/>
                </a:solidFill>
                <a:latin typeface="Helvetica Neue"/>
                <a:ea typeface="Helvetica Neue"/>
                <a:cs typeface="Helvetica Neue"/>
              </a:rPr>
              <a:t>IB DIGITAL SOCIETY  /  4.2A and working-practice parts of 4.2B · pp. 213–219</a:t>
            </a:r>
          </a:p>
        </p:txBody>
      </p:sp>
      <p:sp>
        <p:nvSpPr>
          <p:cNvPr id="2" name="">
            <a:extLst xmlns:a="http://schemas.openxmlformats.org/drawingml/2006/main">
              <a:ext uri="{FF2B5EF4-FFF2-40B4-BE49-F238E27FC236}">
                <a16:creationId xmlns:a16="http://schemas.microsoft.com/office/drawing/2014/main" id="{2BD320A8-6DEA-4638-81E3-B45D2C9966D2}"/>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Platforms can mediate access to work</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22487c3ab6341cb"/>
          <a:stretch xmlns:a="http://schemas.openxmlformats.org/drawingml/2006/main"/>
        </p:blipFill>
        <p:spPr>
          <a:xfrm xmlns:a="http://schemas.openxmlformats.org/drawingml/2006/main">
            <a:off x="1738275" y="1657350"/>
            <a:ext cx="8715450" cy="3448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BE05D79-8838-4540-A27A-63B7F15A1EA9}"/>
              </a:ext>
            </a:extLst>
          </p:cNvPr>
          <p:cNvSpPr>
            <a:spLocks xmlns:a="http://schemas.openxmlformats.org/drawingml/2006/main" noGrp="1"/>
          </p:cNvSpPr>
          <p:nvPr/>
        </p:nvSpPr>
        <p:spPr>
          <a:xfrm xmlns:a="http://schemas.openxmlformats.org/drawingml/2006/main">
            <a:off x="609600" y="5229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0588B"/>
                </a:solidFill>
                <a:latin typeface="Helvetica Neue"/>
                <a:ea typeface="Helvetica Neue"/>
                <a:cs typeface="Helvetica Neue"/>
              </a:defRPr>
            </a:pPr>
            <a:r>
              <a:rPr sz="2025" b="1">
                <a:solidFill>
                  <a:srgbClr val="70588B"/>
                </a:solidFill>
                <a:latin typeface="Helvetica Neue"/>
                <a:ea typeface="Helvetica Neue"/>
                <a:cs typeface="Helvetica Neue"/>
              </a:rPr>
              <a:t>A platform can match a worker and a customer</a:t>
            </a:r>
          </a:p>
        </p:txBody>
      </p:sp>
      <p:sp>
        <p:nvSpPr>
          <p:cNvPr id="5" name="">
            <a:extLst xmlns:a="http://schemas.openxmlformats.org/drawingml/2006/main">
              <a:ext uri="{FF2B5EF4-FFF2-40B4-BE49-F238E27FC236}">
                <a16:creationId xmlns:a16="http://schemas.microsoft.com/office/drawing/2014/main" id="{A5F62AB0-626A-4043-8CE2-229F4EB13313}"/>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588B"/>
                </a:solidFill>
                <a:latin typeface="Helvetica Neue"/>
                <a:ea typeface="Helvetica Neue"/>
                <a:cs typeface="Helvetica Neue"/>
              </a:defRPr>
            </a:pPr>
            <a:r>
              <a:rPr sz="1800" b="1">
                <a:solidFill>
                  <a:srgbClr val="70588B"/>
                </a:solidFill>
                <a:latin typeface="Helvetica Neue"/>
                <a:ea typeface="Helvetica Neue"/>
                <a:cs typeface="Helvetica Neue"/>
              </a:rPr>
              <a:t>Identify an opportunity for the worker and a point where the platform exercises power.</a:t>
            </a:r>
          </a:p>
        </p:txBody>
      </p:sp>
      <p:sp>
        <p:nvSpPr>
          <p:cNvPr id="6" name="">
            <a:extLst xmlns:a="http://schemas.openxmlformats.org/drawingml/2006/main">
              <a:ext uri="{FF2B5EF4-FFF2-40B4-BE49-F238E27FC236}">
                <a16:creationId xmlns:a16="http://schemas.microsoft.com/office/drawing/2014/main" id="{0ACA6E5A-A1A3-4FC5-9ED9-46D857900C07}"/>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217–219  /  Original teaching explanation</a:t>
            </a:r>
          </a:p>
        </p:txBody>
      </p:sp>
      <p:sp>
        <p:nvSpPr>
          <p:cNvPr id="7" name="">
            <a:extLst xmlns:a="http://schemas.openxmlformats.org/drawingml/2006/main">
              <a:ext uri="{FF2B5EF4-FFF2-40B4-BE49-F238E27FC236}">
                <a16:creationId xmlns:a16="http://schemas.microsoft.com/office/drawing/2014/main" id="{265996EC-5AAC-48B3-933F-6F51A4F3DA41}"/>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14 / 19</a:t>
            </a:r>
          </a:p>
        </p:txBody>
      </p:sp>
    </p:spTree>
    <p:extLst>
      <p:ext uri="{BB962C8B-B14F-4D97-AF65-F5344CB8AC3E}">
        <p14:creationId xmlns:p14="http://schemas.microsoft.com/office/powerpoint/2010/main" val="1912598993"/>
      </p:ext>
    </p:extLst>
  </p:cSld>
</p:sld>
</file>

<file path=ppt/slides/slide15.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D9A723-A25B-40DD-B68F-DDCF2A111D03}"/>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70588B"/>
                </a:solidFill>
                <a:latin typeface="Helvetica Neue"/>
                <a:ea typeface="Helvetica Neue"/>
                <a:cs typeface="Helvetica Neue"/>
              </a:defRPr>
            </a:pPr>
            <a:r>
              <a:rPr sz="1275" b="1">
                <a:solidFill>
                  <a:srgbClr val="70588B"/>
                </a:solidFill>
                <a:latin typeface="Helvetica Neue"/>
                <a:ea typeface="Helvetica Neue"/>
                <a:cs typeface="Helvetica Neue"/>
              </a:rPr>
              <a:t>IB DIGITAL SOCIETY  /  4.2A and working-practice parts of 4.2B · pp. 213–219</a:t>
            </a:r>
          </a:p>
        </p:txBody>
      </p:sp>
      <p:sp>
        <p:nvSpPr>
          <p:cNvPr id="2" name="">
            <a:extLst xmlns:a="http://schemas.openxmlformats.org/drawingml/2006/main">
              <a:ext uri="{FF2B5EF4-FFF2-40B4-BE49-F238E27FC236}">
                <a16:creationId xmlns:a16="http://schemas.microsoft.com/office/drawing/2014/main" id="{3EE86EEA-0535-4F4F-B65B-DC9134723EF7}"/>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Employee organizations and bargaining power</a:t>
            </a:r>
          </a:p>
        </p:txBody>
      </p:sp>
      <p:sp>
        <p:nvSpPr>
          <p:cNvPr id="3" name="">
            <a:extLst xmlns:a="http://schemas.openxmlformats.org/drawingml/2006/main">
              <a:ext uri="{FF2B5EF4-FFF2-40B4-BE49-F238E27FC236}">
                <a16:creationId xmlns:a16="http://schemas.microsoft.com/office/drawing/2014/main" id="{F26D28F6-10AC-4E71-9D63-211E0021308B}"/>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70588B"/>
                </a:solidFill>
                <a:latin typeface="Helvetica Neue"/>
                <a:ea typeface="Helvetica Neue"/>
                <a:cs typeface="Helvetica Neue"/>
              </a:defRPr>
            </a:pPr>
            <a:r>
              <a:rPr sz="2700" b="1">
                <a:solidFill>
                  <a:srgbClr val="70588B"/>
                </a:solidFill>
                <a:latin typeface="Helvetica Neue"/>
                <a:ea typeface="Helvetica Neue"/>
                <a:cs typeface="Helvetica Neue"/>
              </a:rPr>
              <a:t>Workers can organize to seek better conditions</a:t>
            </a:r>
          </a:p>
        </p:txBody>
      </p:sp>
      <p:sp>
        <p:nvSpPr>
          <p:cNvPr id="4" name="">
            <a:extLst xmlns:a="http://schemas.openxmlformats.org/drawingml/2006/main">
              <a:ext uri="{FF2B5EF4-FFF2-40B4-BE49-F238E27FC236}">
                <a16:creationId xmlns:a16="http://schemas.microsoft.com/office/drawing/2014/main" id="{91CEEA62-FCB3-426B-8073-6295F2ACE40F}"/>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Collective bargaining represents a group in negotiation</a:t>
            </a:r>
          </a:p>
        </p:txBody>
      </p:sp>
      <p:sp>
        <p:nvSpPr>
          <p:cNvPr id="5" name="">
            <a:extLst xmlns:a="http://schemas.openxmlformats.org/drawingml/2006/main">
              <a:ext uri="{FF2B5EF4-FFF2-40B4-BE49-F238E27FC236}">
                <a16:creationId xmlns:a16="http://schemas.microsoft.com/office/drawing/2014/main" id="{EBB6C736-7425-427A-AC47-DA393D71A6C3}"/>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A worker’s status and rights depend on the actual arrangement</a:t>
            </a:r>
          </a:p>
        </p:txBody>
      </p:sp>
      <p:sp>
        <p:nvSpPr>
          <p:cNvPr id="6" name="">
            <a:extLst xmlns:a="http://schemas.openxmlformats.org/drawingml/2006/main">
              <a:ext uri="{FF2B5EF4-FFF2-40B4-BE49-F238E27FC236}">
                <a16:creationId xmlns:a16="http://schemas.microsoft.com/office/drawing/2014/main" id="{6B17AB96-83DD-4820-A82D-962BC551809C}"/>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588B"/>
                </a:solidFill>
                <a:latin typeface="Helvetica Neue"/>
                <a:ea typeface="Helvetica Neue"/>
                <a:cs typeface="Helvetica Neue"/>
              </a:defRPr>
            </a:pPr>
            <a:r>
              <a:rPr sz="1800" b="1">
                <a:solidFill>
                  <a:srgbClr val="70588B"/>
                </a:solidFill>
                <a:latin typeface="Helvetica Neue"/>
                <a:ea typeface="Helvetica Neue"/>
                <a:cs typeface="Helvetica Neue"/>
              </a:rPr>
              <a:t>What evidence would you need before comparing a platform employee with a contracted worker?</a:t>
            </a:r>
          </a:p>
        </p:txBody>
      </p:sp>
      <p:sp>
        <p:nvSpPr>
          <p:cNvPr id="7" name="">
            <a:extLst xmlns:a="http://schemas.openxmlformats.org/drawingml/2006/main">
              <a:ext uri="{FF2B5EF4-FFF2-40B4-BE49-F238E27FC236}">
                <a16:creationId xmlns:a16="http://schemas.microsoft.com/office/drawing/2014/main" id="{E344E252-1C02-4CF9-AD21-B08D6CC4AD18}"/>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219  /  Original teaching explanation</a:t>
            </a:r>
          </a:p>
        </p:txBody>
      </p:sp>
      <p:sp>
        <p:nvSpPr>
          <p:cNvPr id="8" name="">
            <a:extLst xmlns:a="http://schemas.openxmlformats.org/drawingml/2006/main">
              <a:ext uri="{FF2B5EF4-FFF2-40B4-BE49-F238E27FC236}">
                <a16:creationId xmlns:a16="http://schemas.microsoft.com/office/drawing/2014/main" id="{5F361EFC-FAAC-4C69-943F-3460FE649346}"/>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15 / 19</a:t>
            </a:r>
          </a:p>
        </p:txBody>
      </p:sp>
    </p:spTree>
    <p:extLst>
      <p:ext uri="{BB962C8B-B14F-4D97-AF65-F5344CB8AC3E}">
        <p14:creationId xmlns:p14="http://schemas.microsoft.com/office/powerpoint/2010/main" val="1854121467"/>
      </p:ext>
    </p:extLst>
  </p:cSld>
</p:sld>
</file>

<file path=ppt/slides/slide16.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18D7D9-E6F3-44B9-9012-EB376B58FB08}"/>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70588B"/>
                </a:solidFill>
                <a:latin typeface="Helvetica Neue"/>
                <a:ea typeface="Helvetica Neue"/>
                <a:cs typeface="Helvetica Neue"/>
              </a:defRPr>
            </a:pPr>
            <a:r>
              <a:rPr sz="1275" b="1">
                <a:solidFill>
                  <a:srgbClr val="70588B"/>
                </a:solidFill>
                <a:latin typeface="Helvetica Neue"/>
                <a:ea typeface="Helvetica Neue"/>
                <a:cs typeface="Helvetica Neue"/>
              </a:rPr>
              <a:t>IB DIGITAL SOCIETY  /  4.2A and working-practice parts of 4.2B · pp. 213–219</a:t>
            </a:r>
          </a:p>
        </p:txBody>
      </p:sp>
      <p:sp>
        <p:nvSpPr>
          <p:cNvPr id="2" name="">
            <a:extLst xmlns:a="http://schemas.openxmlformats.org/drawingml/2006/main">
              <a:ext uri="{FF2B5EF4-FFF2-40B4-BE49-F238E27FC236}">
                <a16:creationId xmlns:a16="http://schemas.microsoft.com/office/drawing/2014/main" id="{DA13DF26-8D58-43BE-A763-0FBEB0DD7FD5}"/>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Real source Y: revenue share and creator income</a:t>
            </a:r>
          </a:p>
        </p:txBody>
      </p:sp>
      <p:sp>
        <p:nvSpPr>
          <p:cNvPr id="3" name="">
            <a:extLst xmlns:a="http://schemas.openxmlformats.org/drawingml/2006/main">
              <a:ext uri="{FF2B5EF4-FFF2-40B4-BE49-F238E27FC236}">
                <a16:creationId xmlns:a16="http://schemas.microsoft.com/office/drawing/2014/main" id="{4B90B567-90E3-4145-BCE3-2E8B57AA1B69}"/>
              </a:ext>
            </a:extLst>
          </p:cNvPr>
          <p:cNvSpPr>
            <a:spLocks xmlns:a="http://schemas.openxmlformats.org/drawingml/2006/main" noGrp="1"/>
          </p:cNvSpPr>
          <p:nvPr/>
        </p:nvSpPr>
        <p:spPr>
          <a:xfrm xmlns:a="http://schemas.openxmlformats.org/drawingml/2006/main">
            <a:off x="609600" y="1676400"/>
            <a:ext cx="4476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YouTube describes different payment bases for Watch Page and Shorts</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A revenue-share rate needs its denominator</a:t>
            </a:r>
          </a:p>
          <a:p xmlns:a="http://schemas.openxmlformats.org/drawingml/2006/main">
            <a:pPr>
              <a:defRPr sz="2250" b="0">
                <a:solidFill>
                  <a:srgbClr val="16333E"/>
                </a:solidFill>
                <a:latin typeface="Helvetica Neue"/>
                <a:ea typeface="Helvetica Neue"/>
                <a:cs typeface="Helvetica Neue"/>
              </a:defRPr>
            </a:pPr>
            <a:r>
              <a:rPr sz="2250" b="0">
                <a:solidFill>
                  <a:srgbClr val="16333E"/>
                </a:solidFill>
                <a:latin typeface="Helvetica Neue"/>
                <a:ea typeface="Helvetica Neue"/>
                <a:cs typeface="Helvetica Neue"/>
              </a:rPr>
              <a:t>A share rate alone does not establish a creator’s income</a:t>
            </a:r>
          </a:p>
        </p:txBody>
      </p:sp>
      <p:graphicFrame>
        <p:nvGraphicFramePr>
          <p:cNvPr id="11" name=""/>
          <p:cNvGraphicFramePr/>
          <p:nvPr/>
        </p:nvGraphicFramePr>
        <p:xfrm>
          <a:off xmlns:a="http://schemas.openxmlformats.org/drawingml/2006/main" x="5429250" y="1752600"/>
          <a:ext xmlns:a="http://schemas.openxmlformats.org/drawingml/2006/main" cx="6153150" cy="2476500"/>
        </p:xfrm>
        <a:graphic xmlns:a="http://schemas.openxmlformats.org/drawingml/2006/main">
          <a:graphicData uri="http://schemas.openxmlformats.org/drawingml/2006/table">
            <a:tbl>
              <a:tblPr firstRow="1" bandRow="0"/>
              <a:tblGrid>
                <a:gridCol w="2051050"/>
                <a:gridCol w="2051050"/>
                <a:gridCol w="2051050"/>
              </a:tblGrid>
              <a:tr h="825500">
                <a:tc>
                  <a:txBody>
                    <a:bodyPr/>
                    <a:lstStyle/>
                    <a:p>
                      <a:r>
                        <a:rPr sz="1800" b="1">
                          <a:solidFill>
                            <a:srgbClr val="FFFFFF"/>
                          </a:solidFill>
                          <a:latin typeface="Helvetica Neue"/>
                          <a:ea typeface="Helvetica Neue"/>
                          <a:cs typeface="Helvetica Neue"/>
                        </a:rPr>
                        <a:t>Module</a:t>
                      </a:r>
                    </a:p>
                  </a:txBody>
                  <a:tcPr marL="91440" marR="91440" marT="45720" marB="45720">
                    <a:solidFill>
                      <a:srgbClr val="70588B"/>
                    </a:solidFill>
                  </a:tcPr>
                </a:tc>
                <a:tc>
                  <a:txBody>
                    <a:bodyPr/>
                    <a:lstStyle/>
                    <a:p>
                      <a:r>
                        <a:rPr sz="1800" b="1">
                          <a:solidFill>
                            <a:srgbClr val="FFFFFF"/>
                          </a:solidFill>
                          <a:latin typeface="Helvetica Neue"/>
                          <a:ea typeface="Helvetica Neue"/>
                          <a:cs typeface="Helvetica Neue"/>
                        </a:rPr>
                        <a:t>Stated share</a:t>
                      </a:r>
                    </a:p>
                  </a:txBody>
                  <a:tcPr marL="91440" marR="91440" marT="45720" marB="45720">
                    <a:solidFill>
                      <a:srgbClr val="70588B"/>
                    </a:solidFill>
                  </a:tcPr>
                </a:tc>
                <a:tc>
                  <a:txBody>
                    <a:bodyPr/>
                    <a:lstStyle/>
                    <a:p>
                      <a:r>
                        <a:rPr sz="1800" b="1">
                          <a:solidFill>
                            <a:srgbClr val="FFFFFF"/>
                          </a:solidFill>
                          <a:latin typeface="Helvetica Neue"/>
                          <a:ea typeface="Helvetica Neue"/>
                          <a:cs typeface="Helvetica Neue"/>
                        </a:rPr>
                        <a:t>Base</a:t>
                      </a:r>
                    </a:p>
                  </a:txBody>
                  <a:tcPr marL="91440" marR="91440" marT="45720" marB="45720">
                    <a:solidFill>
                      <a:srgbClr val="70588B"/>
                    </a:solidFill>
                  </a:tcPr>
                </a:tc>
              </a:tr>
              <a:tr h="825500">
                <a:tc>
                  <a:txBody>
                    <a:bodyPr/>
                    <a:lstStyle/>
                    <a:p>
                      <a:r>
                        <a:rPr sz="1800" b="0">
                          <a:solidFill>
                            <a:srgbClr val="16333E"/>
                          </a:solidFill>
                          <a:latin typeface="Helvetica Neue"/>
                          <a:ea typeface="Helvetica Neue"/>
                          <a:cs typeface="Helvetica Neue"/>
                        </a:rPr>
                        <a:t>Watch Page ads</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55%</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Net advertising revenue</a:t>
                      </a:r>
                    </a:p>
                  </a:txBody>
                  <a:tcPr marL="91440" marR="91440" marT="45720" marB="45720">
                    <a:solidFill>
                      <a:srgbClr val="FFFFFF"/>
                    </a:solidFill>
                  </a:tcPr>
                </a:tc>
              </a:tr>
              <a:tr h="825500">
                <a:tc>
                  <a:txBody>
                    <a:bodyPr/>
                    <a:lstStyle/>
                    <a:p>
                      <a:r>
                        <a:rPr sz="1800" b="0">
                          <a:solidFill>
                            <a:srgbClr val="16333E"/>
                          </a:solidFill>
                          <a:latin typeface="Helvetica Neue"/>
                          <a:ea typeface="Helvetica Neue"/>
                          <a:cs typeface="Helvetica Neue"/>
                        </a:rPr>
                        <a:t>Shorts</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45%</a:t>
                      </a:r>
                    </a:p>
                  </a:txBody>
                  <a:tcPr marL="91440" marR="91440" marT="45720" marB="45720">
                    <a:solidFill>
                      <a:srgbClr val="FFFFFF"/>
                    </a:solidFill>
                  </a:tcPr>
                </a:tc>
                <a:tc>
                  <a:txBody>
                    <a:bodyPr/>
                    <a:lstStyle/>
                    <a:p>
                      <a:r>
                        <a:rPr sz="1800" b="0">
                          <a:solidFill>
                            <a:srgbClr val="16333E"/>
                          </a:solidFill>
                          <a:latin typeface="Helvetica Neue"/>
                          <a:ea typeface="Helvetica Neue"/>
                          <a:cs typeface="Helvetica Neue"/>
                        </a:rPr>
                        <a:t>Allocated Creator Pool share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7FC3726-9230-4B3B-BBD8-5E4A72747122}"/>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588B"/>
                </a:solidFill>
                <a:latin typeface="Helvetica Neue"/>
                <a:ea typeface="Helvetica Neue"/>
                <a:cs typeface="Helvetica Neue"/>
              </a:defRPr>
            </a:pPr>
            <a:r>
              <a:rPr sz="1800" b="1">
                <a:solidFill>
                  <a:srgbClr val="70588B"/>
                </a:solidFill>
                <a:latin typeface="Helvetica Neue"/>
                <a:ea typeface="Helvetica Neue"/>
                <a:cs typeface="Helvetica Neue"/>
              </a:rPr>
              <a:t>Checkpoint: Why can’t we compare 55% and 45% as if they were the same payment?</a:t>
            </a:r>
          </a:p>
        </p:txBody>
      </p:sp>
      <p:sp>
        <p:nvSpPr>
          <p:cNvPr id="6" name="">
            <a:extLst xmlns:a="http://schemas.openxmlformats.org/drawingml/2006/main">
              <a:ext uri="{FF2B5EF4-FFF2-40B4-BE49-F238E27FC236}">
                <a16:creationId xmlns:a16="http://schemas.microsoft.com/office/drawing/2014/main" id="{81C0DC59-C9B5-4DA6-9A8A-022F46787308}"/>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213–219  /  Source Y — see notes</a:t>
            </a:r>
          </a:p>
        </p:txBody>
      </p:sp>
      <p:sp>
        <p:nvSpPr>
          <p:cNvPr id="7" name="">
            <a:extLst xmlns:a="http://schemas.openxmlformats.org/drawingml/2006/main">
              <a:ext uri="{FF2B5EF4-FFF2-40B4-BE49-F238E27FC236}">
                <a16:creationId xmlns:a16="http://schemas.microsoft.com/office/drawing/2014/main" id="{5CB8B279-D16A-4E62-A2A0-5CBCF667169C}"/>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16 / 19</a:t>
            </a:r>
          </a:p>
        </p:txBody>
      </p:sp>
    </p:spTree>
    <p:extLst>
      <p:ext uri="{BB962C8B-B14F-4D97-AF65-F5344CB8AC3E}">
        <p14:creationId xmlns:p14="http://schemas.microsoft.com/office/powerpoint/2010/main" val="541872254"/>
      </p:ext>
    </p:extLst>
  </p:cSld>
</p:sld>
</file>

<file path=ppt/slides/slide17.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BAB8A9D-12D3-4DC2-AF0F-9A006B1C611B}"/>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70588B"/>
                </a:solidFill>
                <a:latin typeface="Helvetica Neue"/>
                <a:ea typeface="Helvetica Neue"/>
                <a:cs typeface="Helvetica Neue"/>
              </a:defRPr>
            </a:pPr>
            <a:r>
              <a:rPr sz="1275" b="1">
                <a:solidFill>
                  <a:srgbClr val="70588B"/>
                </a:solidFill>
                <a:latin typeface="Helvetica Neue"/>
                <a:ea typeface="Helvetica Neue"/>
                <a:cs typeface="Helvetica Neue"/>
              </a:rPr>
              <a:t>IB DIGITAL SOCIETY  /  4.2A and working-practice parts of 4.2B · pp. 213–219</a:t>
            </a:r>
          </a:p>
        </p:txBody>
      </p:sp>
      <p:sp>
        <p:nvSpPr>
          <p:cNvPr id="2" name="">
            <a:extLst xmlns:a="http://schemas.openxmlformats.org/drawingml/2006/main">
              <a:ext uri="{FF2B5EF4-FFF2-40B4-BE49-F238E27FC236}">
                <a16:creationId xmlns:a16="http://schemas.microsoft.com/office/drawing/2014/main" id="{8F07E45E-8A27-4682-B3E5-62081734D68A}"/>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Real source L: opportunities and working conditions</a:t>
            </a:r>
          </a:p>
        </p:txBody>
      </p:sp>
      <p:sp>
        <p:nvSpPr>
          <p:cNvPr id="3" name="">
            <a:extLst xmlns:a="http://schemas.openxmlformats.org/drawingml/2006/main">
              <a:ext uri="{FF2B5EF4-FFF2-40B4-BE49-F238E27FC236}">
                <a16:creationId xmlns:a16="http://schemas.microsoft.com/office/drawing/2014/main" id="{1510249E-C259-428E-B133-892AC13E2D3C}"/>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70588B"/>
                </a:solidFill>
                <a:latin typeface="Helvetica Neue"/>
                <a:ea typeface="Helvetica Neue"/>
                <a:cs typeface="Helvetica Neue"/>
              </a:defRPr>
            </a:pPr>
            <a:r>
              <a:rPr sz="2700" b="1">
                <a:solidFill>
                  <a:srgbClr val="70588B"/>
                </a:solidFill>
                <a:latin typeface="Helvetica Neue"/>
                <a:ea typeface="Helvetica Neue"/>
                <a:cs typeface="Helvetica Neue"/>
              </a:rPr>
              <a:t>The ILO examines different forms of platform work</a:t>
            </a:r>
          </a:p>
        </p:txBody>
      </p:sp>
      <p:sp>
        <p:nvSpPr>
          <p:cNvPr id="4" name="">
            <a:extLst xmlns:a="http://schemas.openxmlformats.org/drawingml/2006/main">
              <a:ext uri="{FF2B5EF4-FFF2-40B4-BE49-F238E27FC236}">
                <a16:creationId xmlns:a16="http://schemas.microsoft.com/office/drawing/2014/main" id="{4BF109AA-0869-4AA4-BA5E-19205A181F56}"/>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Its 2021 evidence is useful for historical context</a:t>
            </a:r>
          </a:p>
        </p:txBody>
      </p:sp>
      <p:sp>
        <p:nvSpPr>
          <p:cNvPr id="5" name="">
            <a:extLst xmlns:a="http://schemas.openxmlformats.org/drawingml/2006/main">
              <a:ext uri="{FF2B5EF4-FFF2-40B4-BE49-F238E27FC236}">
                <a16:creationId xmlns:a16="http://schemas.microsoft.com/office/drawing/2014/main" id="{62F999E6-DD37-47F3-8CFF-93770D226E93}"/>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It cannot establish a current TikTok creator’s earnings</a:t>
            </a:r>
          </a:p>
        </p:txBody>
      </p:sp>
      <p:sp>
        <p:nvSpPr>
          <p:cNvPr id="6" name="">
            <a:extLst xmlns:a="http://schemas.openxmlformats.org/drawingml/2006/main">
              <a:ext uri="{FF2B5EF4-FFF2-40B4-BE49-F238E27FC236}">
                <a16:creationId xmlns:a16="http://schemas.microsoft.com/office/drawing/2014/main" id="{E26719B9-3D81-43D7-8D2E-7DD34C9C27C6}"/>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588B"/>
                </a:solidFill>
                <a:latin typeface="Helvetica Neue"/>
                <a:ea typeface="Helvetica Neue"/>
                <a:cs typeface="Helvetica Neue"/>
              </a:defRPr>
            </a:pPr>
            <a:r>
              <a:rPr sz="1800" b="1">
                <a:solidFill>
                  <a:srgbClr val="70588B"/>
                </a:solidFill>
                <a:latin typeface="Helvetica Neue"/>
                <a:ea typeface="Helvetica Neue"/>
                <a:cs typeface="Helvetica Neue"/>
              </a:rPr>
              <a:t>Which part of a creator-income inquiry could this source inform? What evidence is still needed?</a:t>
            </a:r>
          </a:p>
        </p:txBody>
      </p:sp>
      <p:sp>
        <p:nvSpPr>
          <p:cNvPr id="7" name="">
            <a:extLst xmlns:a="http://schemas.openxmlformats.org/drawingml/2006/main">
              <a:ext uri="{FF2B5EF4-FFF2-40B4-BE49-F238E27FC236}">
                <a16:creationId xmlns:a16="http://schemas.microsoft.com/office/drawing/2014/main" id="{1C2930C9-C74F-42C0-A639-4DB430C9ADBB}"/>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217–219  /  Source L — see notes</a:t>
            </a:r>
          </a:p>
        </p:txBody>
      </p:sp>
      <p:sp>
        <p:nvSpPr>
          <p:cNvPr id="8" name="">
            <a:extLst xmlns:a="http://schemas.openxmlformats.org/drawingml/2006/main">
              <a:ext uri="{FF2B5EF4-FFF2-40B4-BE49-F238E27FC236}">
                <a16:creationId xmlns:a16="http://schemas.microsoft.com/office/drawing/2014/main" id="{F33E77A9-0950-4DD7-A447-2F3F831637D4}"/>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17 / 19</a:t>
            </a:r>
          </a:p>
        </p:txBody>
      </p:sp>
    </p:spTree>
    <p:extLst>
      <p:ext uri="{BB962C8B-B14F-4D97-AF65-F5344CB8AC3E}">
        <p14:creationId xmlns:p14="http://schemas.microsoft.com/office/powerpoint/2010/main" val="250826624"/>
      </p:ext>
    </p:extLst>
  </p:cSld>
</p:sld>
</file>

<file path=ppt/slides/slide18.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F314BE-DE6B-49F5-A0B3-7A40FE384C74}"/>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70588B"/>
                </a:solidFill>
                <a:latin typeface="Helvetica Neue"/>
                <a:ea typeface="Helvetica Neue"/>
                <a:cs typeface="Helvetica Neue"/>
              </a:defRPr>
            </a:pPr>
            <a:r>
              <a:rPr sz="1275" b="1">
                <a:solidFill>
                  <a:srgbClr val="70588B"/>
                </a:solidFill>
                <a:latin typeface="Helvetica Neue"/>
                <a:ea typeface="Helvetica Neue"/>
                <a:cs typeface="Helvetica Neue"/>
              </a:rPr>
              <a:t>IB DIGITAL SOCIETY  /  4.2A and working-practice parts of 4.2B · pp. 213–219</a:t>
            </a:r>
          </a:p>
        </p:txBody>
      </p:sp>
      <p:sp>
        <p:nvSpPr>
          <p:cNvPr id="2" name="">
            <a:extLst xmlns:a="http://schemas.openxmlformats.org/drawingml/2006/main">
              <a:ext uri="{FF2B5EF4-FFF2-40B4-BE49-F238E27FC236}">
                <a16:creationId xmlns:a16="http://schemas.microsoft.com/office/drawing/2014/main" id="{D090BA00-2274-4768-A2C7-96CC57898502}"/>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An impact becomes an implication through a reasoned link</a:t>
            </a:r>
          </a:p>
        </p:txBody>
      </p:sp>
      <p:sp>
        <p:nvSpPr>
          <p:cNvPr id="3" name="">
            <a:extLst xmlns:a="http://schemas.openxmlformats.org/drawingml/2006/main">
              <a:ext uri="{FF2B5EF4-FFF2-40B4-BE49-F238E27FC236}">
                <a16:creationId xmlns:a16="http://schemas.microsoft.com/office/drawing/2014/main" id="{0C501DA1-CD0B-41D9-8C15-F3CB85E8E956}"/>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70588B"/>
                </a:solidFill>
                <a:latin typeface="Helvetica Neue"/>
                <a:ea typeface="Helvetica Neue"/>
                <a:cs typeface="Helvetica Neue"/>
              </a:defRPr>
            </a:pPr>
            <a:r>
              <a:rPr sz="2700" b="1">
                <a:solidFill>
                  <a:srgbClr val="70588B"/>
                </a:solidFill>
                <a:latin typeface="Helvetica Neue"/>
                <a:ea typeface="Helvetica Neue"/>
                <a:cs typeface="Helvetica Neue"/>
              </a:rPr>
              <a:t>Mechanism: a rule changes visibility</a:t>
            </a:r>
          </a:p>
        </p:txBody>
      </p:sp>
      <p:sp>
        <p:nvSpPr>
          <p:cNvPr id="4" name="">
            <a:extLst xmlns:a="http://schemas.openxmlformats.org/drawingml/2006/main">
              <a:ext uri="{FF2B5EF4-FFF2-40B4-BE49-F238E27FC236}">
                <a16:creationId xmlns:a16="http://schemas.microsoft.com/office/drawing/2014/main" id="{3B6E6817-FC2E-42AF-84B3-195970247A5B}"/>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Impact: a named group receives a changed opportunity</a:t>
            </a:r>
          </a:p>
        </p:txBody>
      </p:sp>
      <p:sp>
        <p:nvSpPr>
          <p:cNvPr id="5" name="">
            <a:extLst xmlns:a="http://schemas.openxmlformats.org/drawingml/2006/main">
              <a:ext uri="{FF2B5EF4-FFF2-40B4-BE49-F238E27FC236}">
                <a16:creationId xmlns:a16="http://schemas.microsoft.com/office/drawing/2014/main" id="{3F0E8954-9D91-47E0-A909-AD36A76E858F}"/>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Implication: the longer-term significance depends on evidence and conditions</a:t>
            </a:r>
          </a:p>
        </p:txBody>
      </p:sp>
      <p:sp>
        <p:nvSpPr>
          <p:cNvPr id="6" name="">
            <a:extLst xmlns:a="http://schemas.openxmlformats.org/drawingml/2006/main">
              <a:ext uri="{FF2B5EF4-FFF2-40B4-BE49-F238E27FC236}">
                <a16:creationId xmlns:a16="http://schemas.microsoft.com/office/drawing/2014/main" id="{D8389A4B-9BD6-4A40-947B-B2BDDF6CF4FA}"/>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588B"/>
                </a:solidFill>
                <a:latin typeface="Helvetica Neue"/>
                <a:ea typeface="Helvetica Neue"/>
                <a:cs typeface="Helvetica Neue"/>
              </a:defRPr>
            </a:pPr>
            <a:r>
              <a:rPr sz="1800" b="1">
                <a:solidFill>
                  <a:srgbClr val="70588B"/>
                </a:solidFill>
                <a:latin typeface="Helvetica Neue"/>
                <a:ea typeface="Helvetica Neue"/>
                <a:cs typeface="Helvetica Neue"/>
              </a:rPr>
              <a:t>Build a different chain for a worker allocated fewer paid tasks. State one condition.</a:t>
            </a:r>
          </a:p>
        </p:txBody>
      </p:sp>
      <p:sp>
        <p:nvSpPr>
          <p:cNvPr id="7" name="">
            <a:extLst xmlns:a="http://schemas.openxmlformats.org/drawingml/2006/main">
              <a:ext uri="{FF2B5EF4-FFF2-40B4-BE49-F238E27FC236}">
                <a16:creationId xmlns:a16="http://schemas.microsoft.com/office/drawing/2014/main" id="{780C15FB-D85E-44FD-B201-BFEE0AE39D74}"/>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213–219  /  Original teaching explanation</a:t>
            </a:r>
          </a:p>
        </p:txBody>
      </p:sp>
      <p:sp>
        <p:nvSpPr>
          <p:cNvPr id="8" name="">
            <a:extLst xmlns:a="http://schemas.openxmlformats.org/drawingml/2006/main">
              <a:ext uri="{FF2B5EF4-FFF2-40B4-BE49-F238E27FC236}">
                <a16:creationId xmlns:a16="http://schemas.microsoft.com/office/drawing/2014/main" id="{B886DA3B-5A2E-4AC6-988C-F4A091CC4B22}"/>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18 / 19</a:t>
            </a:r>
          </a:p>
        </p:txBody>
      </p:sp>
    </p:spTree>
    <p:extLst>
      <p:ext uri="{BB962C8B-B14F-4D97-AF65-F5344CB8AC3E}">
        <p14:creationId xmlns:p14="http://schemas.microsoft.com/office/powerpoint/2010/main" val="261103426"/>
      </p:ext>
    </p:extLst>
  </p:cSld>
</p:sld>
</file>

<file path=ppt/slides/slide19.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D00E11-8C4A-4AEF-957C-11EF43C9E855}"/>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70588B"/>
                </a:solidFill>
                <a:latin typeface="Helvetica Neue"/>
                <a:ea typeface="Helvetica Neue"/>
                <a:cs typeface="Helvetica Neue"/>
              </a:defRPr>
            </a:pPr>
            <a:r>
              <a:rPr sz="1275" b="1">
                <a:solidFill>
                  <a:srgbClr val="70588B"/>
                </a:solidFill>
                <a:latin typeface="Helvetica Neue"/>
                <a:ea typeface="Helvetica Neue"/>
                <a:cs typeface="Helvetica Neue"/>
              </a:rPr>
              <a:t>IB DIGITAL SOCIETY  /  4.2A and working-practice parts of 4.2B · pp. 213–219</a:t>
            </a:r>
          </a:p>
        </p:txBody>
      </p:sp>
      <p:sp>
        <p:nvSpPr>
          <p:cNvPr id="2" name="">
            <a:extLst xmlns:a="http://schemas.openxmlformats.org/drawingml/2006/main">
              <a:ext uri="{FF2B5EF4-FFF2-40B4-BE49-F238E27FC236}">
                <a16:creationId xmlns:a16="http://schemas.microsoft.com/office/drawing/2014/main" id="{3AC72486-CA8E-4431-9102-E90322ACDB22}"/>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The rest of chapter 4.2 returns after this week</a:t>
            </a:r>
          </a:p>
        </p:txBody>
      </p:sp>
      <p:sp>
        <p:nvSpPr>
          <p:cNvPr id="3" name="">
            <a:extLst xmlns:a="http://schemas.openxmlformats.org/drawingml/2006/main">
              <a:ext uri="{FF2B5EF4-FFF2-40B4-BE49-F238E27FC236}">
                <a16:creationId xmlns:a16="http://schemas.microsoft.com/office/drawing/2014/main" id="{5A788151-BDFB-4466-AC4E-19E732BAA981}"/>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70588B"/>
                </a:solidFill>
                <a:latin typeface="Helvetica Neue"/>
                <a:ea typeface="Helvetica Neue"/>
                <a:cs typeface="Helvetica Neue"/>
              </a:defRPr>
            </a:pPr>
            <a:r>
              <a:rPr sz="2700" b="1">
                <a:solidFill>
                  <a:srgbClr val="70588B"/>
                </a:solidFill>
                <a:latin typeface="Helvetica Neue"/>
                <a:ea typeface="Helvetica Neue"/>
                <a:cs typeface="Helvetica Neue"/>
              </a:rPr>
              <a:t>pp. 220–221: automation and employment</a:t>
            </a:r>
          </a:p>
        </p:txBody>
      </p:sp>
      <p:sp>
        <p:nvSpPr>
          <p:cNvPr id="4" name="">
            <a:extLst xmlns:a="http://schemas.openxmlformats.org/drawingml/2006/main">
              <a:ext uri="{FF2B5EF4-FFF2-40B4-BE49-F238E27FC236}">
                <a16:creationId xmlns:a16="http://schemas.microsoft.com/office/drawing/2014/main" id="{418827A6-9916-40EA-8B1A-6AA6C8D536DF}"/>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pp. 221–225: goods, services, currencies and additive manufacturing</a:t>
            </a:r>
          </a:p>
        </p:txBody>
      </p:sp>
      <p:sp>
        <p:nvSpPr>
          <p:cNvPr id="5" name="">
            <a:extLst xmlns:a="http://schemas.openxmlformats.org/drawingml/2006/main">
              <a:ext uri="{FF2B5EF4-FFF2-40B4-BE49-F238E27FC236}">
                <a16:creationId xmlns:a16="http://schemas.microsoft.com/office/drawing/2014/main" id="{B8E1B760-D927-45A0-9252-48219C421B5D}"/>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pp. 225–227: globalization and chapter reflection</a:t>
            </a:r>
          </a:p>
        </p:txBody>
      </p:sp>
      <p:sp>
        <p:nvSpPr>
          <p:cNvPr id="6" name="">
            <a:extLst xmlns:a="http://schemas.openxmlformats.org/drawingml/2006/main">
              <a:ext uri="{FF2B5EF4-FFF2-40B4-BE49-F238E27FC236}">
                <a16:creationId xmlns:a16="http://schemas.microsoft.com/office/drawing/2014/main" id="{50117A46-150C-4C4D-87AB-5B523CE819AA}"/>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588B"/>
                </a:solidFill>
                <a:latin typeface="Helvetica Neue"/>
                <a:ea typeface="Helvetica Neue"/>
                <a:cs typeface="Helvetica Neue"/>
              </a:defRPr>
            </a:pPr>
            <a:r>
              <a:rPr sz="1800" b="1">
                <a:solidFill>
                  <a:srgbClr val="70588B"/>
                </a:solidFill>
                <a:latin typeface="Helvetica Neue"/>
                <a:ea typeface="Helvetica Neue"/>
                <a:cs typeface="Helvetica Neue"/>
              </a:rPr>
              <a:t>Checkpoint: Which route supports durable understanding?</a:t>
            </a:r>
          </a:p>
        </p:txBody>
      </p:sp>
      <p:sp>
        <p:nvSpPr>
          <p:cNvPr id="7" name="">
            <a:extLst xmlns:a="http://schemas.openxmlformats.org/drawingml/2006/main">
              <a:ext uri="{FF2B5EF4-FFF2-40B4-BE49-F238E27FC236}">
                <a16:creationId xmlns:a16="http://schemas.microsoft.com/office/drawing/2014/main" id="{64969963-1290-41EE-8210-4F79FF77CE88}"/>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213–227  /  Original teaching explanation</a:t>
            </a:r>
          </a:p>
        </p:txBody>
      </p:sp>
      <p:sp>
        <p:nvSpPr>
          <p:cNvPr id="8" name="">
            <a:extLst xmlns:a="http://schemas.openxmlformats.org/drawingml/2006/main">
              <a:ext uri="{FF2B5EF4-FFF2-40B4-BE49-F238E27FC236}">
                <a16:creationId xmlns:a16="http://schemas.microsoft.com/office/drawing/2014/main" id="{DAD0B084-965C-4E70-AD3C-BB3274C538C9}"/>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19 / 19</a:t>
            </a:r>
          </a:p>
        </p:txBody>
      </p:sp>
    </p:spTree>
    <p:extLst>
      <p:ext uri="{BB962C8B-B14F-4D97-AF65-F5344CB8AC3E}">
        <p14:creationId xmlns:p14="http://schemas.microsoft.com/office/powerpoint/2010/main" val="1110848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2026-10-05T10:36:04.0930000Z</dcterms:created>
  <dcterms:modified xsi:type="dcterms:W3CDTF">2026-10-05T10:36:04.0930000Z</dcterms:modified>
</coreProperties>
</file>